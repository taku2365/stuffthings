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34402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334402"/>
          </a:xfrm>
          <a:prstGeom prst="rect">
            <a:avLst/>
          </a:prstGeom>
          <a:solidFill>
            <a:srgbClr val="76B90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73344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513686" y="276149"/>
            <a:ext cx="751545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3644798" y="933602"/>
            <a:ext cx="51627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Ampere、Hopper、Blackwell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3914546" y="1514246"/>
            <a:ext cx="4506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LLM時代の行列演算を極めるための設計思想と実践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40603" y="2095805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2025年10月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7" r="7" t="0" b="0"/>
          <a:stretch/>
        </p:blipFill>
        <p:spPr>
          <a:xfrm>
            <a:off x="2881274" y="2476195"/>
            <a:ext cx="6429146" cy="4286707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277502" y="6762902"/>
            <a:ext cx="2634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※図を差し替え・編集することができます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3398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イントロダクション：なぜアーキテクチャ進化が重要か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0532" y="2085746"/>
            <a:ext cx="1524305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0532" y="2657246"/>
            <a:ext cx="1524305" cy="590702"/>
          </a:xfrm>
          <a:prstGeom prst="roundRect">
            <a:avLst>
              <a:gd name="adj" fmla="val 19974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03934" y="3228746"/>
            <a:ext cx="1429207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28239" y="3228746"/>
            <a:ext cx="1429207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28393" y="2180844"/>
            <a:ext cx="11100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 (80-192GB)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065630" y="2752344"/>
            <a:ext cx="143377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L2 キャッシュ (40-192MB)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690726" y="3323844"/>
            <a:ext cx="7580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L1 + SMEM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275381" y="3323844"/>
            <a:ext cx="6336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レジスタ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61642" y="3800246"/>
            <a:ext cx="1143000" cy="390449"/>
          </a:xfrm>
          <a:prstGeom prst="roundRect">
            <a:avLst>
              <a:gd name="adj" fmla="val 45696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31720" y="3895344"/>
            <a:ext cx="9098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Cores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33142" y="23719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33142" y="29434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780337" y="35149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304642" y="3514954"/>
            <a:ext cx="38130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47342" y="4914900"/>
            <a:ext cx="1834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データ移動と計算の分業構造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99378" y="2885846"/>
            <a:ext cx="4591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LLM/生成AIの80%+は各種MatMul（線形/Attention/MLP）に滞在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99378" y="3286354"/>
            <a:ext cx="48390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GPUはデータ移動×計算の分業構造（HBM/L2/L1+SMEM/レジスタ）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999378" y="3685946"/>
            <a:ext cx="5686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世代進化の本質: Tensor Coresの拡張、メモリ帯域の増加、データ移動の非同期化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99378" y="4086454"/>
            <a:ext cx="5619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ねらい: Ampere→Hopper→Blackwellで最適化パラダイムがどう変わるかを掴む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77149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8277149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8277149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86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914400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514600" y="1028700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85593" y="109545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181198" y="1110082"/>
            <a:ext cx="163403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イントロと背景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9477756" y="1175918"/>
            <a:ext cx="219456" cy="19019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286000" y="1857146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286000" y="1857146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514600" y="1971446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685593" y="2038198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181198" y="2052828"/>
            <a:ext cx="23865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Ampere（A100, 2020）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77756" y="2119579"/>
            <a:ext cx="190195" cy="190195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2286000" y="2800807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2286000" y="2800807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2514600" y="2915107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2685593" y="298094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18"/>
          <p:cNvSpPr txBox="1"/>
          <p:nvPr/>
        </p:nvSpPr>
        <p:spPr>
          <a:xfrm>
            <a:off x="3181198" y="2995574"/>
            <a:ext cx="238658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Hopper（H100, 2022）</a:t>
            </a:r>
            <a:endParaRPr lang="en-US" sz="1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477756" y="3062326"/>
            <a:ext cx="190195" cy="190195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286000" y="3743554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2286000" y="3743554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2514600" y="3857854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2685593" y="3924605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3181198" y="3938321"/>
            <a:ext cx="257677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Blackwell（B200, 2024）</a:t>
            </a:r>
            <a:endParaRPr lang="en-US" sz="16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477756" y="4005072"/>
            <a:ext cx="190195" cy="190195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2286000" y="4686300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2286000" y="4686300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2" name="Shape 26"/>
          <p:cNvSpPr/>
          <p:nvPr/>
        </p:nvSpPr>
        <p:spPr>
          <a:xfrm>
            <a:off x="2514600" y="4800600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33" name="Text 27"/>
          <p:cNvSpPr txBox="1"/>
          <p:nvPr/>
        </p:nvSpPr>
        <p:spPr>
          <a:xfrm>
            <a:off x="2685593" y="4867351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3181198" y="4881982"/>
            <a:ext cx="121523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世代間比較</a:t>
            </a:r>
            <a:endParaRPr lang="en-US" sz="16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77756" y="4947818"/>
            <a:ext cx="190195" cy="190195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2286000" y="5629046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2286000" y="5629046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2514600" y="5743346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2685593" y="5810098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3"/>
          <p:cNvSpPr txBox="1"/>
          <p:nvPr/>
        </p:nvSpPr>
        <p:spPr>
          <a:xfrm>
            <a:off x="3181198" y="5824728"/>
            <a:ext cx="20528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実用的な使いこなし</a:t>
            </a:r>
            <a:endParaRPr lang="en-US" sz="16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477756" y="5891479"/>
            <a:ext cx="237744" cy="190195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2286000" y="6572707"/>
            <a:ext cx="7619695" cy="705002"/>
          </a:xfrm>
          <a:prstGeom prst="roundRect">
            <a:avLst>
              <a:gd name="adj" fmla="val 14022"/>
            </a:avLst>
          </a:prstGeom>
          <a:solidFill>
            <a:srgbClr val="76B900">
              <a:alpha val="5000"/>
            </a:srgbClr>
          </a:solidFill>
          <a:ln/>
        </p:spPr>
      </p:sp>
      <p:sp>
        <p:nvSpPr>
          <p:cNvPr id="43" name="Shape 35"/>
          <p:cNvSpPr/>
          <p:nvPr/>
        </p:nvSpPr>
        <p:spPr>
          <a:xfrm>
            <a:off x="2286000" y="6572707"/>
            <a:ext cx="38405" cy="70500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4" name="Shape 36"/>
          <p:cNvSpPr/>
          <p:nvPr/>
        </p:nvSpPr>
        <p:spPr>
          <a:xfrm>
            <a:off x="2514600" y="6687007"/>
            <a:ext cx="476402" cy="476402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45" name="Text 37"/>
          <p:cNvSpPr txBox="1"/>
          <p:nvPr/>
        </p:nvSpPr>
        <p:spPr>
          <a:xfrm>
            <a:off x="2685593" y="6752844"/>
            <a:ext cx="31455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38"/>
          <p:cNvSpPr txBox="1"/>
          <p:nvPr/>
        </p:nvSpPr>
        <p:spPr>
          <a:xfrm>
            <a:off x="3181198" y="6767474"/>
            <a:ext cx="1424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まとめ・展望</a:t>
            </a:r>
            <a:endParaRPr lang="en-US" sz="16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477756" y="6834226"/>
            <a:ext cx="142646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381305" y="7705649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49" name="Text 40"/>
          <p:cNvSpPr txBox="1"/>
          <p:nvPr/>
        </p:nvSpPr>
        <p:spPr>
          <a:xfrm>
            <a:off x="11737238" y="7705649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2444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Ampere（A100, 2020）：アーキテクチャ概要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6802" r="6802" t="0" b="0"/>
          <a:stretch/>
        </p:blipFill>
        <p:spPr>
          <a:xfrm>
            <a:off x="827532" y="1990649"/>
            <a:ext cx="4172407" cy="32196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99378" y="2542946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第3世代Tensor Cores（TF32/BF16対応） 行列演算を加速する16×16×16サイズのタイル処理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99378" y="3172054"/>
            <a:ext cx="5496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主要仕様: ~108 SM, 各SM 4 Tensor Cores 80GB HBM2, ~2.0 TB/s メモリ帯域 L2 40MB, L1+SMEM ~192KB/SM 65,536 registers/SM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99378" y="3800246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cp.asyncによるメモリ最適化 グローバルメモリからシェアードメモリへの非同期コピーを実現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99378" y="4429354"/>
            <a:ext cx="5239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重要機能: 非同期バリア、CUDAグラフサポート、Multi-Instance GPU (MIG)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8342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Ampereの使いこなし：cp.asyncとダブルバッファ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0337" y="2648102"/>
            <a:ext cx="3238805" cy="9144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780337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3304642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t2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066337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t3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2409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070762" y="2838298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バッファA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64362" y="3219602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バッファB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70762" y="3600907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バッファA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0337" y="2790749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0085C8"/>
          </a:solidFill>
          <a:ln/>
        </p:spPr>
      </p:sp>
      <p:sp>
        <p:nvSpPr>
          <p:cNvPr id="17" name="Shape 15"/>
          <p:cNvSpPr/>
          <p:nvPr/>
        </p:nvSpPr>
        <p:spPr>
          <a:xfrm>
            <a:off x="2542032" y="317205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0085C8"/>
          </a:solidFill>
          <a:ln/>
        </p:spPr>
      </p:sp>
      <p:sp>
        <p:nvSpPr>
          <p:cNvPr id="18" name="Shape 16"/>
          <p:cNvSpPr/>
          <p:nvPr/>
        </p:nvSpPr>
        <p:spPr>
          <a:xfrm>
            <a:off x="3304642" y="355244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0085C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913839" y="2833726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675534" y="3215030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437230" y="3595421"/>
            <a:ext cx="5001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ロード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42032" y="2790749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FF9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3304642" y="317205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FF9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4066337" y="3552444"/>
            <a:ext cx="666598" cy="286207"/>
          </a:xfrm>
          <a:prstGeom prst="roundRect">
            <a:avLst>
              <a:gd name="adj" fmla="val 42599"/>
            </a:avLst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42286" y="2833726"/>
            <a:ext cx="367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503981" y="3215030"/>
            <a:ext cx="367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266590" y="3595421"/>
            <a:ext cx="3675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計算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542032" y="3981298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3494837" y="3981298"/>
            <a:ext cx="324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同期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4066337" y="3981298"/>
            <a:ext cx="667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非同期重複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75918" y="4405579"/>
            <a:ext cx="35698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cp.asyncを使ったダブルバッファリングのパイプライン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704442" y="4647895"/>
            <a:ext cx="2520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GMEMからロード中にMMAで計算を実行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999378" y="2542946"/>
            <a:ext cx="58009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パターン: （GMEM→SMEM）cp.asyncでタイルt+1をロード中に、タイルtをMMAで計算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99378" y="3172054"/>
            <a:ext cx="4420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典型構成: 1CTA内で2バッファ（ping-pong）＋スレッド間同期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99378" y="3571646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実装Tips: GMemアクセスは128Bコアレス化を優先（32スレッド×4B） SMEMバンクコンフリクトをレイアウト/パディングで回避 4 warp以上/CTAでスケジューラを飢えさせない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999378" y="4429354"/>
            <a:ext cx="38203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効果: メモリ待ちを計算で隠蔽、単一CTAでも高効率化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23437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Hopper（H100, 2022）：アーキテクチャ概要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0532" y="2085746"/>
            <a:ext cx="2286000" cy="629107"/>
          </a:xfrm>
          <a:prstGeom prst="roundRect">
            <a:avLst>
              <a:gd name="adj" fmla="val 17618"/>
            </a:avLst>
          </a:prstGeom>
          <a:solidFill>
            <a:srgbClr val="76B900">
              <a:alpha val="1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0532" y="2752344"/>
            <a:ext cx="2286000" cy="428854"/>
          </a:xfrm>
          <a:prstGeom prst="roundRect">
            <a:avLst>
              <a:gd name="adj" fmla="val 37906"/>
            </a:avLst>
          </a:prstGeom>
          <a:solidFill>
            <a:srgbClr val="76B900">
              <a:alpha val="1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231136" y="2200046"/>
            <a:ext cx="187177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HBM3 メモリ (80-94GB, 3.35-3.9TB/s)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460650" y="2866644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L2 キャッシュ (50MB)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08837" y="3419856"/>
            <a:ext cx="1524305" cy="571500"/>
          </a:xfrm>
          <a:prstGeom prst="roundRect">
            <a:avLst>
              <a:gd name="adj" fmla="val 21333"/>
            </a:avLst>
          </a:prstGeom>
          <a:solidFill>
            <a:srgbClr val="00A6ED">
              <a:alpha val="10000"/>
            </a:srgbClr>
          </a:solidFill>
          <a:ln w="25400">
            <a:solidFill>
              <a:srgbClr val="00A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94837" y="3419856"/>
            <a:ext cx="1524305" cy="571500"/>
          </a:xfrm>
          <a:prstGeom prst="roundRect">
            <a:avLst>
              <a:gd name="adj" fmla="val 21333"/>
            </a:avLst>
          </a:prstGeom>
          <a:solidFill>
            <a:srgbClr val="00A6ED">
              <a:alpha val="10000"/>
            </a:srgbClr>
          </a:solidFill>
          <a:ln w="25400">
            <a:solidFill>
              <a:srgbClr val="00A6E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36115" y="3405226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90472" y="3605479"/>
            <a:ext cx="10625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 Accelerator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847795" y="350489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Thread Block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007815" y="3705149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Clusters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51837" y="4276649"/>
            <a:ext cx="1524305" cy="571500"/>
          </a:xfrm>
          <a:prstGeom prst="roundRect">
            <a:avLst>
              <a:gd name="adj" fmla="val 21333"/>
            </a:avLst>
          </a:prstGeom>
          <a:solidFill>
            <a:srgbClr val="FF9900">
              <a:alpha val="1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876702" y="4262018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第4世代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713025" y="4462272"/>
            <a:ext cx="909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Cores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2816352" y="4662526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(WGMMA)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113532" y="2467051"/>
            <a:ext cx="286207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70532" y="3086100"/>
            <a:ext cx="286207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256532" y="3086100"/>
            <a:ext cx="286207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70532" y="3991356"/>
            <a:ext cx="76169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256532" y="3991356"/>
            <a:ext cx="761695" cy="1920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664915" y="2371954"/>
            <a:ext cx="866851" cy="247802"/>
          </a:xfrm>
          <a:prstGeom prst="roundRect">
            <a:avLst>
              <a:gd name="adj" fmla="val 56770"/>
            </a:avLst>
          </a:prstGeom>
          <a:solidFill>
            <a:srgbClr val="76B900">
              <a:alpha val="8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303934" y="4581144"/>
            <a:ext cx="666598" cy="247802"/>
          </a:xfrm>
          <a:prstGeom prst="roundRect">
            <a:avLst>
              <a:gd name="adj" fmla="val 56770"/>
            </a:avLst>
          </a:prstGeom>
          <a:solidFill>
            <a:srgbClr val="76B900">
              <a:alpha val="8000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740810" y="2409444"/>
            <a:ext cx="8001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3.35-3.9 TB/s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379830" y="4619549"/>
            <a:ext cx="6007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~132 SMs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936699" y="4962449"/>
            <a:ext cx="2062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 アーキテクチャ (GH100)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999378" y="2115007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第4世代Tensor Cores＋Transformer Engine搭載 FP8/BF16精度強化、大規模言語モデル向け最適化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99378" y="2743200"/>
            <a:ext cx="51627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主要仕様: ~132 SM, 80–94GB HBM3, ~3.35–3.9 TB/s, L2 ~50MB, L1+SMEM ~256KB/SM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99378" y="3372307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WGMMA（Warpgroup MMA）: 64×256×16タイルの行列演算 4 warp協調で非同期実行、レジスタ最適化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99378" y="4000500"/>
            <a:ext cx="51727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TMA（Tensor Memory Accelerator）: 多次元データ転送専用ハードウェア Global↔Shared間の非同期転送、スウィズル対応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99378" y="4629607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Thread Block Clusters: 複数CTAをクラスタ化 分散共有メモリ（DSMEM）でSM間通信効率化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9969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Hopperの使いこなし：WGMMA×TMA×Persistent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32181" y="1695298"/>
            <a:ext cx="4762195" cy="3810305"/>
          </a:xfrm>
          <a:prstGeom prst="roundRect">
            <a:avLst>
              <a:gd name="adj" fmla="val 600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290" y="1895551"/>
            <a:ext cx="4381805" cy="847649"/>
          </a:xfrm>
          <a:prstGeom prst="roundRect">
            <a:avLst>
              <a:gd name="adj" fmla="val 9697"/>
            </a:avLst>
          </a:prstGeom>
          <a:solidFill>
            <a:srgbClr val="0F0F0F">
              <a:alpha val="80000"/>
            </a:srgbClr>
          </a:solidFill>
          <a:ln w="254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290" y="2930652"/>
            <a:ext cx="4381805" cy="847649"/>
          </a:xfrm>
          <a:prstGeom prst="roundRect">
            <a:avLst>
              <a:gd name="adj" fmla="val 9697"/>
            </a:avLst>
          </a:prstGeom>
          <a:solidFill>
            <a:srgbClr val="0F0F0F">
              <a:alpha val="80000"/>
            </a:srgbClr>
          </a:solidFill>
          <a:ln w="254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3290" y="3965753"/>
            <a:ext cx="4381805" cy="847649"/>
          </a:xfrm>
          <a:prstGeom prst="roundRect">
            <a:avLst>
              <a:gd name="adj" fmla="val 9697"/>
            </a:avLst>
          </a:prstGeom>
          <a:solidFill>
            <a:srgbClr val="0F0F0F">
              <a:alpha val="80000"/>
            </a:srgbClr>
          </a:solidFill>
          <a:ln w="254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" y="2203704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922" y="3238805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" y="4273906"/>
            <a:ext cx="7050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32688" y="2247595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4A6BDF"/>
          </a:solidFill>
          <a:ln/>
        </p:spPr>
      </p:sp>
      <p:sp>
        <p:nvSpPr>
          <p:cNvPr id="14" name="Shape 12"/>
          <p:cNvSpPr/>
          <p:nvPr/>
        </p:nvSpPr>
        <p:spPr>
          <a:xfrm>
            <a:off x="932688" y="3282696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4A6BDF"/>
          </a:solidFill>
          <a:ln/>
        </p:spPr>
      </p:sp>
      <p:sp>
        <p:nvSpPr>
          <p:cNvPr id="15" name="Shape 13"/>
          <p:cNvSpPr/>
          <p:nvPr/>
        </p:nvSpPr>
        <p:spPr>
          <a:xfrm>
            <a:off x="932688" y="4317797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4A6BD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568196" y="2290572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 Load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568196" y="3325673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 Load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75688" y="3282696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E67E2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447849" y="3325673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 Compute</a:t>
            </a:r>
            <a:endParaRPr lang="en-US" sz="10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-133" r="-133" t="0" b="0"/>
          <a:stretch/>
        </p:blipFill>
        <p:spPr>
          <a:xfrm>
            <a:off x="2828239" y="3622853"/>
            <a:ext cx="171907" cy="2286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68196" y="4360774"/>
            <a:ext cx="7388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 Load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5688" y="4317797"/>
            <a:ext cx="1904695" cy="286207"/>
          </a:xfrm>
          <a:prstGeom prst="roundRect">
            <a:avLst>
              <a:gd name="adj" fmla="val 53248"/>
            </a:avLst>
          </a:prstGeom>
          <a:solidFill>
            <a:srgbClr val="E67E2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447849" y="4360774"/>
            <a:ext cx="12627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 Compute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028493" y="4317797"/>
            <a:ext cx="1524305" cy="286207"/>
          </a:xfrm>
          <a:prstGeom prst="roundRect">
            <a:avLst>
              <a:gd name="adj" fmla="val 53248"/>
            </a:avLst>
          </a:prstGeom>
          <a:solidFill>
            <a:srgbClr val="9B59B6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615538" y="4360774"/>
            <a:ext cx="45262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Store</a:t>
            </a:r>
            <a:endParaRPr lang="en-US" sz="1000" dirty="0"/>
          </a:p>
        </p:txBody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rcRect l="-133" r="-133" t="0" b="0"/>
          <a:stretch/>
        </p:blipFill>
        <p:spPr>
          <a:xfrm>
            <a:off x="2828239" y="4657954"/>
            <a:ext cx="171907" cy="228600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910742" y="5076749"/>
            <a:ext cx="4124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Kernel：複数タイル間の重畳実行とSMへの常駐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732374" y="1785823"/>
            <a:ext cx="1295705" cy="256946"/>
          </a:xfrm>
          <a:prstGeom prst="roundRect">
            <a:avLst>
              <a:gd name="adj" fmla="val 52722"/>
            </a:avLst>
          </a:prstGeom>
          <a:solidFill>
            <a:srgbClr val="4A6BDF">
              <a:alpha val="20000"/>
            </a:srgbClr>
          </a:solidFill>
          <a:ln w="12700">
            <a:solidFill>
              <a:srgbClr val="4A6BD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5818327" y="1814170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6BD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Kernel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5732374" y="2042770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CTAをSMに常駐させタイルを連続処理→カーネル起動オーバヘッド削減</a:t>
            </a:r>
            <a:endParaRPr lang="en-US" sz="1200" dirty="0"/>
          </a:p>
        </p:txBody>
      </p:sp>
      <p:sp>
        <p:nvSpPr>
          <p:cNvPr id="31" name="Text 27"/>
          <p:cNvSpPr txBox="1"/>
          <p:nvPr/>
        </p:nvSpPr>
        <p:spPr>
          <a:xfrm>
            <a:off x="5732374" y="2605126"/>
            <a:ext cx="58009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多次元タイルをハード支援でG↔S非同期転送（スウィズル対応、マルチキャスト）</a:t>
            </a:r>
            <a:endParaRPr lang="en-US" sz="1200" dirty="0"/>
          </a:p>
        </p:txBody>
      </p:sp>
      <p:sp>
        <p:nvSpPr>
          <p:cNvPr id="32" name="Text 28"/>
          <p:cNvSpPr txBox="1"/>
          <p:nvPr/>
        </p:nvSpPr>
        <p:spPr>
          <a:xfrm>
            <a:off x="5732374" y="3167482"/>
            <a:ext cx="5039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warp（warpgroup）で非同期MMA→ロード/計算/ストアの重畳が容易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5732374" y="2348179"/>
            <a:ext cx="457200" cy="256946"/>
          </a:xfrm>
          <a:prstGeom prst="roundRect">
            <a:avLst>
              <a:gd name="adj" fmla="val 52722"/>
            </a:avLst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818327" y="2376526"/>
            <a:ext cx="385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67E2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5732374" y="2909621"/>
            <a:ext cx="705002" cy="256946"/>
          </a:xfrm>
          <a:prstGeom prst="roundRect">
            <a:avLst>
              <a:gd name="adj" fmla="val 52722"/>
            </a:avLst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5818327" y="293888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59B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</a:t>
            </a:r>
            <a:endParaRPr lang="en-US" sz="1000" dirty="0"/>
          </a:p>
        </p:txBody>
      </p:sp>
      <p:sp>
        <p:nvSpPr>
          <p:cNvPr id="37" name="Text 33"/>
          <p:cNvSpPr txBox="1"/>
          <p:nvPr/>
        </p:nvSpPr>
        <p:spPr>
          <a:xfrm>
            <a:off x="5999378" y="3700577"/>
            <a:ext cx="58393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レジスタ圧とWGMMA消費のバランス：WGMMAの結果はレジスタに蓄積、各スレッドのレジスタ使用量とSM占有率の最適化が必要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5999378" y="4328770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mbarrierでタイル間進行を制御：非同期実行の同期点としてハードウェア支援のバリアを活用</a:t>
            </a:r>
            <a:endParaRPr lang="en-US" sz="1200" dirty="0"/>
          </a:p>
        </p:txBody>
      </p:sp>
      <p:sp>
        <p:nvSpPr>
          <p:cNvPr id="39" name="Text 35"/>
          <p:cNvSpPr txBox="1"/>
          <p:nvPr/>
        </p:nvSpPr>
        <p:spPr>
          <a:xfrm>
            <a:off x="5999378" y="4957877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ClusterでSMEMを跨ぐデータ共有（DSMEM）：物理的に近接するSM間でのSMEM直接アクセスが可能</a:t>
            </a:r>
            <a:endParaRPr lang="en-US" sz="1200" dirty="0"/>
          </a:p>
        </p:txBody>
      </p:sp>
      <p:sp>
        <p:nvSpPr>
          <p:cNvPr id="40" name="Text 36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41" name="Text 37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5297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Blackwell（B200, 2024）：アーキテクチャ概要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" y="2076602"/>
            <a:ext cx="4172407" cy="27816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81658" y="4934102"/>
            <a:ext cx="3167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Blackwellアーキテクチャ（第5世代Tensor Cores）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999378" y="2572207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第5世代Tensor Cores（UMMA/tcgen05.mma）：最大256×256×16相当タイル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999378" y="2971800"/>
            <a:ext cx="53346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代表仕様: ~148 SM, HBM3e ~192GB, ~8.0 TB/s級帯域, L2 ~192MB, L1+SMEM ~228KB/SM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99378" y="3600907"/>
            <a:ext cx="5639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目玉機能: Tensor Memory（TMEM, 256KB/SM）に累積、CTA Pairs（2 SM協調）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99378" y="4000500"/>
            <a:ext cx="4981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データ型: FP4/FP6/FP8/BF16/TF32（NVFP4等ブロックスケーリング）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999378" y="4401007"/>
            <a:ext cx="5667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効果: 演算密度増加、レジスタ圧軽減、パイプライン深化、AI特化精度で性能倍増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4825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Blackwellのコア：UMMAとTensor Memory（TMEM）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18565" y="1981505"/>
            <a:ext cx="33339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 (TMEM) 256KB/SM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0025" y="2257654"/>
            <a:ext cx="2796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2次元アドレス構造 (128レーン × 512カラム)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3486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64946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6406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66951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18411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9871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041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187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333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74797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2534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680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2826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79722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30268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2714854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3486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64946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16406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951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8411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69871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42041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7187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2333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74797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2534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7680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92826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79722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30268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81728" y="2986430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3486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64946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416406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66951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18411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69871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42041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67187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92333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4797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42534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7680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92826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79722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30268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81728" y="3258007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3486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64946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416406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666951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18411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169871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42041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67187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92333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174797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42534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7680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92826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79722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430268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81728" y="3528670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3486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64946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416406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666951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918411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169871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2041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67187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92333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74797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2534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67680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392826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79722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430268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81728" y="3800246"/>
            <a:ext cx="237744" cy="256946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13486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4946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416406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666951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918411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169871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42041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7187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92333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174797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2534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67680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92826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179722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430268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681728" y="4071823"/>
            <a:ext cx="237744" cy="256946"/>
          </a:xfrm>
          <a:prstGeom prst="rect">
            <a:avLst/>
          </a:prstGeom>
          <a:solidFill>
            <a:srgbClr val="76B900">
              <a:alpha val="2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13486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1164946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416406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1666951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918411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169871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42041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267187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92333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174797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42534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367680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392826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179722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430268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81728" y="4343400"/>
            <a:ext cx="237744" cy="256946"/>
          </a:xfrm>
          <a:prstGeom prst="rect">
            <a:avLst/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913486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164946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1416406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666951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918411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169871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242041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67187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92333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74797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42534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67680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92826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179722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430268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681728" y="4614977"/>
            <a:ext cx="237744" cy="256946"/>
          </a:xfrm>
          <a:prstGeom prst="rect">
            <a:avLst/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827532" y="2943454"/>
            <a:ext cx="12243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レーン (bits 31-16)</a:t>
            </a:r>
            <a:endParaRPr lang="en-US" sz="1000" dirty="0"/>
          </a:p>
        </p:txBody>
      </p:sp>
      <p:sp>
        <p:nvSpPr>
          <p:cNvPr id="138" name="Text 136"/>
          <p:cNvSpPr txBox="1"/>
          <p:nvPr/>
        </p:nvSpPr>
        <p:spPr>
          <a:xfrm>
            <a:off x="2542032" y="4276649"/>
            <a:ext cx="1148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カラム (bits 15-0)</a:t>
            </a:r>
            <a:endParaRPr lang="en-US" sz="1000" dirty="0"/>
          </a:p>
        </p:txBody>
      </p:sp>
      <p:sp>
        <p:nvSpPr>
          <p:cNvPr id="139" name="Shape 137"/>
          <p:cNvSpPr/>
          <p:nvPr/>
        </p:nvSpPr>
        <p:spPr>
          <a:xfrm>
            <a:off x="1590142" y="3133649"/>
            <a:ext cx="1133856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1590142" y="3419856"/>
            <a:ext cx="1200607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1590142" y="3705149"/>
            <a:ext cx="1200607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1590142" y="3991356"/>
            <a:ext cx="1266444" cy="228600"/>
          </a:xfrm>
          <a:prstGeom prst="roundRect">
            <a:avLst>
              <a:gd name="adj" fmla="val 66667"/>
            </a:avLst>
          </a:prstGeom>
          <a:solidFill>
            <a:srgbClr val="000000">
              <a:alpha val="70000"/>
            </a:srgbClr>
          </a:solidFill>
          <a:ln/>
        </p:spPr>
      </p:sp>
      <p:sp>
        <p:nvSpPr>
          <p:cNvPr id="143" name="Text 141"/>
          <p:cNvSpPr txBox="1"/>
          <p:nvPr/>
        </p:nvSpPr>
        <p:spPr>
          <a:xfrm>
            <a:off x="1646834" y="3161995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0: レーン 0-31</a:t>
            </a:r>
            <a:endParaRPr lang="en-US" sz="900" dirty="0"/>
          </a:p>
        </p:txBody>
      </p:sp>
      <p:sp>
        <p:nvSpPr>
          <p:cNvPr id="144" name="Text 142"/>
          <p:cNvSpPr txBox="1"/>
          <p:nvPr/>
        </p:nvSpPr>
        <p:spPr>
          <a:xfrm>
            <a:off x="1646834" y="3448202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1: レーン 32-63</a:t>
            </a:r>
            <a:endParaRPr lang="en-US" sz="900" dirty="0"/>
          </a:p>
        </p:txBody>
      </p:sp>
      <p:sp>
        <p:nvSpPr>
          <p:cNvPr id="145" name="Text 143"/>
          <p:cNvSpPr txBox="1"/>
          <p:nvPr/>
        </p:nvSpPr>
        <p:spPr>
          <a:xfrm>
            <a:off x="1646834" y="3733495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2: レーン 64-95</a:t>
            </a:r>
            <a:endParaRPr lang="en-US" sz="900" dirty="0"/>
          </a:p>
        </p:txBody>
      </p:sp>
      <p:sp>
        <p:nvSpPr>
          <p:cNvPr id="146" name="Text 144"/>
          <p:cNvSpPr txBox="1"/>
          <p:nvPr/>
        </p:nvSpPr>
        <p:spPr>
          <a:xfrm>
            <a:off x="1646834" y="4019702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 3: レーン 96-127</a:t>
            </a:r>
            <a:endParaRPr lang="en-US" sz="900" dirty="0"/>
          </a:p>
        </p:txBody>
      </p:sp>
      <p:sp>
        <p:nvSpPr>
          <p:cNvPr id="147" name="Text 145"/>
          <p:cNvSpPr txBox="1"/>
          <p:nvPr/>
        </p:nvSpPr>
        <p:spPr>
          <a:xfrm>
            <a:off x="1909267" y="5020056"/>
            <a:ext cx="21104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32ビットアドレス：0xLLLL.CCCC</a:t>
            </a:r>
            <a:endParaRPr lang="en-US" sz="1000" dirty="0"/>
          </a:p>
        </p:txBody>
      </p:sp>
      <p:sp>
        <p:nvSpPr>
          <p:cNvPr id="148" name="Text 146"/>
          <p:cNvSpPr txBox="1"/>
          <p:nvPr/>
        </p:nvSpPr>
        <p:spPr>
          <a:xfrm>
            <a:off x="5999378" y="2457907"/>
            <a:ext cx="55632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UMMA: 単一スレッド発行の非同期MMA。A: SMEM/TMEM, B: SMEM, Acc: TMEM</a:t>
            </a:r>
            <a:endParaRPr lang="en-US" sz="1200" dirty="0"/>
          </a:p>
        </p:txBody>
      </p:sp>
      <p:sp>
        <p:nvSpPr>
          <p:cNvPr id="149" name="Text 147"/>
          <p:cNvSpPr txBox="1"/>
          <p:nvPr/>
        </p:nvSpPr>
        <p:spPr>
          <a:xfrm>
            <a:off x="5999378" y="2857500"/>
            <a:ext cx="585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TMEM: 256KB/SM, 2Dアドレス（lane×column）。累積をレジスタではなくTMEMで保持→レジスタ圧低減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5999378" y="3486607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データ搬送: tcgen05.ld/st/cpでTMEM↔RMEM/SMEM間を移動（warp/warpgroup制約あり）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5999378" y="4114800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3段パイプ: TMA入力→UMMA計算(TMEM)→TMEM→RMEM→出力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5999378" y="4515307"/>
            <a:ext cx="4353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CTA Pairs: 隣接2SMで1つのUMMAを協調（1スレッドが発行）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11737238" y="6286500"/>
            <a:ext cx="176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7391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Blackwellの使いこなし：高効率GEMM設計の実践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7532" y="2371954"/>
            <a:ext cx="4000500" cy="761695"/>
          </a:xfrm>
          <a:prstGeom prst="roundRect">
            <a:avLst>
              <a:gd name="adj" fmla="val 12005"/>
            </a:avLst>
          </a:prstGeom>
          <a:solidFill>
            <a:srgbClr val="00A6ED">
              <a:alpha val="10000"/>
            </a:srgbClr>
          </a:solidFill>
          <a:ln w="25400">
            <a:solidFill>
              <a:srgbClr val="00A6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7532" y="3514954"/>
            <a:ext cx="4000500" cy="761695"/>
          </a:xfrm>
          <a:prstGeom prst="roundRect">
            <a:avLst>
              <a:gd name="adj" fmla="val 12005"/>
            </a:avLst>
          </a:prstGeom>
          <a:solidFill>
            <a:srgbClr val="76B900">
              <a:alpha val="1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7532" y="4657954"/>
            <a:ext cx="4000500" cy="761695"/>
          </a:xfrm>
          <a:prstGeom prst="roundRect">
            <a:avLst>
              <a:gd name="adj" fmla="val 12005"/>
            </a:avLst>
          </a:prstGeom>
          <a:solidFill>
            <a:srgbClr val="FF9900">
              <a:alpha val="1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87475" y="263804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A6E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TMAでタイルN+1をSMEMへ非同期ロード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226210" y="3781044"/>
            <a:ext cx="3324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UMMAでタイルNをTMEMに累積（非同期）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60374" y="4924044"/>
            <a:ext cx="3458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タイルN-1をTMEM→RMEMでエピローグ処理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28239" y="3133649"/>
            <a:ext cx="19202" cy="38130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828239" y="4276649"/>
            <a:ext cx="19202" cy="38130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702613" y="4914900"/>
            <a:ext cx="2529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Blackwellの3段パイプライン GEMM実装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99378" y="2628900"/>
            <a:ext cx="58393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典型メインループ： for (int k_tile = 0; k_tile &lt; K; k_tile++) {   tma.copy(gmem, smem[N+1]); // ①   umma.compute(smem[N], tmem); // ②   epilogue(tmem[N-1], gmem); // ③ }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99378" y="3486607"/>
            <a:ext cx="57918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TMEMチューニング： tcgen05.ld形状選択（32x32b.x{num}）で命令/レジスタ数を最適化 warpgroup単位でアクセス範囲が割当→4 warpでのエピローグ設計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99378" y="4114800"/>
            <a:ext cx="59061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CUTLASS活用： SM100_MMA_F16BF16_SSやUMMA::tmem_frg_1sm抽象でPTXを隠蔽 UMMA発行は1スレッドだが、バリア・warpgroup制約を理解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56253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世代間比較①：スペックと理論性能の目安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1305" y="1790395"/>
            <a:ext cx="5067605" cy="3619195"/>
          </a:xfrm>
          <a:prstGeom prst="roundRect">
            <a:avLst>
              <a:gd name="adj" fmla="val 665"/>
            </a:avLst>
          </a:prstGeom>
          <a:solidFill>
            <a:srgbClr val="0F0F0F">
              <a:alpha val="7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" b="-4"/>
          <a:stretch/>
        </p:blipFill>
        <p:spPr>
          <a:xfrm>
            <a:off x="580644" y="1990649"/>
            <a:ext cx="4667098" cy="32196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38774" y="1410005"/>
            <a:ext cx="1514246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5738774" y="1867205"/>
            <a:ext cx="1514246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7248449" y="1410005"/>
            <a:ext cx="1343254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248449" y="1867205"/>
            <a:ext cx="1343254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588045" y="1410005"/>
            <a:ext cx="1666951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588045" y="1867205"/>
            <a:ext cx="1666951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245852" y="1410005"/>
            <a:ext cx="1561795" cy="466344"/>
          </a:xfrm>
          <a:prstGeom prst="rect">
            <a:avLst/>
          </a:prstGeom>
          <a:solidFill>
            <a:srgbClr val="76B900">
              <a:alpha val="20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10245852" y="1867205"/>
            <a:ext cx="1561795" cy="9144"/>
          </a:xfrm>
          <a:prstGeom prst="rect">
            <a:avLst/>
          </a:prstGeom>
          <a:solidFill>
            <a:srgbClr val="76B900">
              <a:alpha val="3000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857646" y="1528877"/>
            <a:ext cx="428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362749" y="1528877"/>
            <a:ext cx="476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A100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702345" y="1528877"/>
            <a:ext cx="495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H100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0360152" y="1528877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B200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738774" y="2333549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7248449" y="2333549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8588045" y="2333549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245852" y="2333549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5738774" y="2800807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248449" y="2800807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8588045" y="2800807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10245852" y="2800807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5738774" y="3267151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248449" y="3267151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8588045" y="3267151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5738774" y="3733495"/>
            <a:ext cx="1514246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248449" y="3733495"/>
            <a:ext cx="1343254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8588045" y="3733495"/>
            <a:ext cx="1666951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10245852" y="3733495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5857646" y="1995221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SM数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7362749" y="199522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~108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8702345" y="199522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~132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10360152" y="1995221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~148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5857646" y="2462479"/>
            <a:ext cx="581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7362749" y="2462479"/>
            <a:ext cx="943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80GB HBM2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8702345" y="2462479"/>
            <a:ext cx="1200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80–94GB HBM3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10360152" y="2462479"/>
            <a:ext cx="1114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192GB HBM3e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5857646" y="2928823"/>
            <a:ext cx="8860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メモリ帯域</a:t>
            </a:r>
            <a:endParaRPr lang="en-US" sz="1200" dirty="0"/>
          </a:p>
        </p:txBody>
      </p:sp>
      <p:sp>
        <p:nvSpPr>
          <p:cNvPr id="44" name="Text 41"/>
          <p:cNvSpPr txBox="1"/>
          <p:nvPr/>
        </p:nvSpPr>
        <p:spPr>
          <a:xfrm>
            <a:off x="7362749" y="2928823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2.0 TB/s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702345" y="2928823"/>
            <a:ext cx="771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3.35 TB/s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857646" y="3396082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NVLink帯域比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7362749" y="3396082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1.0×</a:t>
            </a:r>
            <a:endParaRPr lang="en-US" sz="1200" dirty="0"/>
          </a:p>
        </p:txBody>
      </p:sp>
      <p:sp>
        <p:nvSpPr>
          <p:cNvPr id="48" name="Text 45"/>
          <p:cNvSpPr txBox="1"/>
          <p:nvPr/>
        </p:nvSpPr>
        <p:spPr>
          <a:xfrm>
            <a:off x="8702345" y="3396082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1.5×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10360152" y="3396082"/>
            <a:ext cx="486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3.0×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5857646" y="3862426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L2キャッシュ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7362749" y="3862426"/>
            <a:ext cx="514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40MB</a:t>
            </a:r>
            <a:endParaRPr lang="en-US" sz="1200" dirty="0"/>
          </a:p>
        </p:txBody>
      </p:sp>
      <p:sp>
        <p:nvSpPr>
          <p:cNvPr id="52" name="Text 49"/>
          <p:cNvSpPr txBox="1"/>
          <p:nvPr/>
        </p:nvSpPr>
        <p:spPr>
          <a:xfrm>
            <a:off x="8702345" y="3862426"/>
            <a:ext cx="514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50MB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10245852" y="3267151"/>
            <a:ext cx="1561795" cy="9144"/>
          </a:xfrm>
          <a:prstGeom prst="rect">
            <a:avLst/>
          </a:prstGeom>
          <a:solidFill>
            <a:srgbClr val="3C3C3C">
              <a:alpha val="50000"/>
            </a:srgbClr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10360152" y="2928823"/>
            <a:ext cx="6958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8.0 TB/s</a:t>
            </a:r>
            <a:endParaRPr lang="en-US" sz="12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3862426"/>
            <a:ext cx="609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192MB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6001207" y="436717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帯域（対A100比の目安）: H100 ≈1.6×, B200 ≈3.9×</a:t>
            </a:r>
            <a:endParaRPr lang="en-US" sz="1200" dirty="0"/>
          </a:p>
        </p:txBody>
      </p:sp>
      <p:sp>
        <p:nvSpPr>
          <p:cNvPr id="57" name="Text 54"/>
          <p:cNvSpPr txBox="1"/>
          <p:nvPr/>
        </p:nvSpPr>
        <p:spPr>
          <a:xfrm>
            <a:off x="6001207" y="4767682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BF16ピーク（対A100比）: H100 ≈3.2×, B200 ≈7.2×</a:t>
            </a:r>
            <a:endParaRPr lang="en-US" sz="1200" dirty="0"/>
          </a:p>
        </p:txBody>
      </p:sp>
      <p:sp>
        <p:nvSpPr>
          <p:cNvPr id="58" name="Text 55"/>
          <p:cNvSpPr txBox="1"/>
          <p:nvPr/>
        </p:nvSpPr>
        <p:spPr>
          <a:xfrm>
            <a:off x="6001207" y="5167274"/>
            <a:ext cx="28008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FP8ピーク（対H100比）: B200 ≈2.3×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6001207" y="5567782"/>
            <a:ext cx="5791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備考: 実効性能は電力/クロック制御とカーネル品質に依存（SoL&lt;電力制御で変動）</a:t>
            </a:r>
            <a:endParaRPr lang="en-US" sz="1200" dirty="0"/>
          </a:p>
        </p:txBody>
      </p:sp>
      <p:sp>
        <p:nvSpPr>
          <p:cNvPr id="60" name="Text 57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5013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世代間比較②：プログラミングパラダイムの変化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2630" y="2085746"/>
            <a:ext cx="890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AAAA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Pre-Ampere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22630" y="3038551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22630" y="3991356"/>
            <a:ext cx="596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2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922630" y="4943246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7532" y="2276856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505050">
              <a:alpha val="50000"/>
            </a:srgbClr>
          </a:solidFill>
          <a:ln w="12700">
            <a:solidFill>
              <a:srgbClr val="646464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7532" y="3228746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76B900">
              <a:alpha val="15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7532" y="4181551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00A2FF">
              <a:alpha val="15000"/>
            </a:srgbClr>
          </a:solidFill>
          <a:ln w="12700">
            <a:solidFill>
              <a:srgbClr val="00A2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" y="5134356"/>
            <a:ext cx="4172407" cy="666598"/>
          </a:xfrm>
          <a:prstGeom prst="roundRect">
            <a:avLst>
              <a:gd name="adj" fmla="val 15677"/>
            </a:avLst>
          </a:prstGeom>
          <a:solidFill>
            <a:srgbClr val="FF9900">
              <a:alpha val="15000"/>
            </a:srgbClr>
          </a:solidFill>
          <a:ln w="12700">
            <a:solidFill>
              <a:srgbClr val="FF9900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991563" y="2395728"/>
            <a:ext cx="1955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同期ロード → 計算 → ストア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291486" y="2609698"/>
            <a:ext cx="135514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(逐次実行パターン)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93899" y="3347618"/>
            <a:ext cx="11558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cp.asyncによる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96542" y="3562502"/>
            <a:ext cx="27459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1CTA内パイプライン（ダブルバッファ）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750162" y="4300423"/>
            <a:ext cx="24414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TMA+WGMMA+Persistent+Cluster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129638" y="4515307"/>
            <a:ext cx="1678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によるタイル間重畳処理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826057" y="5253228"/>
            <a:ext cx="228874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UMMA+TMEMの3段パイプライン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156155" y="5467198"/>
            <a:ext cx="16312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+ CTA Pairs (2 SM協調)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14193" y="2943454"/>
            <a:ext cx="19202" cy="19019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14193" y="3895344"/>
            <a:ext cx="19202" cy="19019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914193" y="4848149"/>
            <a:ext cx="19202" cy="190195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999378" y="2115007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Pre-Ampere: メモリ操作と計算が同期的。メモリアクセスで計算パイプラインがブロック。複数CTAで重畳を試みるが、メモリリソース競合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99378" y="2743200"/>
            <a:ext cx="57534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Ampere: cp.async命令導入でロードと計算の非同期化。単一CTA内でデータ転送とMMA命令の重畳が可能に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99378" y="3372307"/>
            <a:ext cx="58677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Hopper: TMAによるG→S高速転送とWGMMAによる非同期計算。Persistentカーネルで複数タイル処理を効率化。Clusterでクロスブロック最適化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99378" y="4000500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Blackwell: TMEMがMMAとレジスタの関係を解放。レジスタ圧軽減と単一スレッド発行の高効率化。ロード/計算/書出しの3段パイプライン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99378" y="4629607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進化のトレンド: メモリ操作と計算処理の分離→専用ハードウェアによる自動化→スレッドとレジスタからの解放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45006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実用テク①：世代別の最適化戦略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1305" y="914400"/>
            <a:ext cx="3685946" cy="5372100"/>
          </a:xfrm>
          <a:prstGeom prst="roundRect">
            <a:avLst>
              <a:gd name="adj" fmla="val 641"/>
            </a:avLst>
          </a:prstGeom>
          <a:solidFill>
            <a:srgbClr val="191919">
              <a:alpha val="70000"/>
            </a:srgbClr>
          </a:solidFill>
          <a:ln w="50800">
            <a:solidFill>
              <a:srgbClr val="76B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0644" y="1619402"/>
            <a:ext cx="32863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0644" y="1143000"/>
            <a:ext cx="381305" cy="381305"/>
          </a:xfrm>
          <a:prstGeom prst="ellipse">
            <a:avLst/>
          </a:prstGeom>
          <a:solidFill>
            <a:srgbClr val="76B900">
              <a:alpha val="20000"/>
            </a:srgbClr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" y="1257300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7046" y="1190549"/>
            <a:ext cx="876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9244" y="1772107"/>
            <a:ext cx="27843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cp.asyncの段数をKタイルに合わせて設計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09244" y="2119579"/>
            <a:ext cx="31363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SMEMバンク回避（行パディング/スウィズル）で読み書き競合を軽減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681021"/>
            <a:ext cx="31171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ダブルバッファリングでメモリ待ちを計算で隠蔽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3243377"/>
            <a:ext cx="30028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 warp以上/CTAでスケジューラの効率を維持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3590849"/>
            <a:ext cx="30028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GMemアクセスは128Bコアレス化を優先してDRAM行効率を向上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4703" y="914400"/>
            <a:ext cx="3685946" cy="5372100"/>
          </a:xfrm>
          <a:prstGeom prst="roundRect">
            <a:avLst>
              <a:gd name="adj" fmla="val 641"/>
            </a:avLst>
          </a:prstGeom>
          <a:solidFill>
            <a:srgbClr val="191919">
              <a:alpha val="70000"/>
            </a:srgbClr>
          </a:solidFill>
          <a:ln w="50800">
            <a:solidFill>
              <a:srgbClr val="00A3E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454957" y="1619402"/>
            <a:ext cx="32863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4454957" y="1143000"/>
            <a:ext cx="381305" cy="381305"/>
          </a:xfrm>
          <a:prstGeom prst="ellipse">
            <a:avLst/>
          </a:prstGeom>
          <a:solidFill>
            <a:srgbClr val="00A3E0">
              <a:alpha val="20000"/>
            </a:srgbClr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4578401" y="1257300"/>
            <a:ext cx="133502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930445" y="1190549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683557" y="1772107"/>
            <a:ext cx="310804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TMAマルチキャストでクラスタ共有メモリに効率転送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4683557" y="2333549"/>
            <a:ext cx="29361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WGMMAレジスタ使用量と占有率を両立するwarpgroup設計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683557" y="2895905"/>
            <a:ext cx="31555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Persistent Kernelで起動回数とwave量子化を抑制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4683557" y="3457346"/>
            <a:ext cx="25557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mbarrierでタイル間進行を正確に制御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4683557" y="3804818"/>
            <a:ext cx="255574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Cluster機能でSMEMを跨ぐデータ共有（DSMEM）を活用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128102" y="914400"/>
            <a:ext cx="3685946" cy="5372100"/>
          </a:xfrm>
          <a:prstGeom prst="roundRect">
            <a:avLst>
              <a:gd name="adj" fmla="val 641"/>
            </a:avLst>
          </a:prstGeom>
          <a:solidFill>
            <a:srgbClr val="191919">
              <a:alpha val="70000"/>
            </a:srgbClr>
          </a:solidFill>
          <a:ln w="50800">
            <a:solidFill>
              <a:srgbClr val="FF880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28355" y="1619402"/>
            <a:ext cx="328635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4"/>
          <p:cNvSpPr/>
          <p:nvPr/>
        </p:nvSpPr>
        <p:spPr>
          <a:xfrm>
            <a:off x="8328355" y="1143000"/>
            <a:ext cx="381305" cy="381305"/>
          </a:xfrm>
          <a:prstGeom prst="ellipse">
            <a:avLst/>
          </a:prstGeom>
          <a:solidFill>
            <a:srgbClr val="FF8800">
              <a:alpha val="20000"/>
            </a:srgbClr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42655" y="1257300"/>
            <a:ext cx="152705" cy="15270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804758" y="1190549"/>
            <a:ext cx="10579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556955" y="1772107"/>
            <a:ext cx="27934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TMEMでレジスタ圧を下げ、エピローグをwarpgroupで並列化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8556955" y="2333549"/>
            <a:ext cx="301294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tcgen05.ldの.numとベクトル化で命令数削減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556955" y="2681021"/>
            <a:ext cx="3136392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CTA Pairs活用で大タイルUMMAを効率化（2SM協調）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8556955" y="3243377"/>
            <a:ext cx="311719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3段パイプライン（TMA→UMMA→エピローグ）で完全重畳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556955" y="3804818"/>
            <a:ext cx="28218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FP4/FP6/FP8のブロックスケーリング活用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59298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実用テク②：移行・最大化のチェックリスト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7532" y="2018995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51230" y="1990649"/>
            <a:ext cx="185806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移行チェックリスト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827532" y="2404872"/>
            <a:ext cx="200254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2086" y="2391156"/>
            <a:ext cx="24341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 → UMMA 互換性確認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-57" r="-57" t="0" b="0"/>
          <a:stretch/>
        </p:blipFill>
        <p:spPr>
          <a:xfrm>
            <a:off x="827532" y="2814523"/>
            <a:ext cx="200254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2086" y="2800807"/>
            <a:ext cx="31766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Blackwell対応CUTLASSライブラリ使用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827532" y="3224174"/>
            <a:ext cx="200254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2086" y="3209544"/>
            <a:ext cx="3024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低精度データ型（FP4/FP8）サポート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27532" y="3838651"/>
            <a:ext cx="228600" cy="22860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51230" y="3810305"/>
            <a:ext cx="20482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パフォーマンス最大化</a:t>
            </a:r>
            <a:endParaRPr lang="en-US" sz="15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827532" y="4224528"/>
            <a:ext cx="200254" cy="22860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1142086" y="4209898"/>
            <a:ext cx="39108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メモリ最適化（コアレス、バンクコンフリクト）</a:t>
            </a:r>
            <a:endParaRPr lang="en-US" sz="13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827532" y="4634179"/>
            <a:ext cx="200254" cy="2286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142086" y="4619549"/>
            <a:ext cx="26051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SM占有率とタイル設計の最適化</a:t>
            </a:r>
            <a:endParaRPr lang="en-US" sz="13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-57" r="-57" t="0" b="0"/>
          <a:stretch/>
        </p:blipFill>
        <p:spPr>
          <a:xfrm>
            <a:off x="827532" y="5043830"/>
            <a:ext cx="200254" cy="228600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1142086" y="5029200"/>
            <a:ext cx="2967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0F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Nsight Computeでボトルネック分析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5732374" y="213329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移行時考慮事項</a:t>
            </a:r>
            <a:endParaRPr lang="en-US" sz="1200" dirty="0"/>
          </a:p>
        </p:txBody>
      </p:sp>
      <p:sp>
        <p:nvSpPr>
          <p:cNvPr id="24" name="Text 14"/>
          <p:cNvSpPr txBox="1"/>
          <p:nvPr/>
        </p:nvSpPr>
        <p:spPr>
          <a:xfrm>
            <a:off x="5732374" y="3715207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計測/チューニング</a:t>
            </a:r>
            <a:endParaRPr lang="en-US" sz="1200" dirty="0"/>
          </a:p>
        </p:txBody>
      </p:sp>
      <p:sp>
        <p:nvSpPr>
          <p:cNvPr id="25" name="Text 15"/>
          <p:cNvSpPr txBox="1"/>
          <p:nvPr/>
        </p:nvSpPr>
        <p:spPr>
          <a:xfrm>
            <a:off x="5999378" y="2457907"/>
            <a:ext cx="4867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PTX互換性: WGMMA→UMMA, 新tcgen05系命令へのマイグレーション</a:t>
            </a:r>
            <a:endParaRPr lang="en-US" sz="1200" dirty="0"/>
          </a:p>
        </p:txBody>
      </p:sp>
      <p:sp>
        <p:nvSpPr>
          <p:cNvPr id="26" name="Text 16"/>
          <p:cNvSpPr txBox="1"/>
          <p:nvPr/>
        </p:nvSpPr>
        <p:spPr>
          <a:xfrm>
            <a:off x="5999378" y="2857500"/>
            <a:ext cx="4372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CUTLASS/CuTe対応: Blackwell対応ブランチの活用とAPIs理解</a:t>
            </a:r>
            <a:endParaRPr lang="en-US" sz="1200" dirty="0"/>
          </a:p>
        </p:txBody>
      </p:sp>
      <p:sp>
        <p:nvSpPr>
          <p:cNvPr id="27" name="Text 17"/>
          <p:cNvSpPr txBox="1"/>
          <p:nvPr/>
        </p:nvSpPr>
        <p:spPr>
          <a:xfrm>
            <a:off x="5999378" y="3258007"/>
            <a:ext cx="37819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データ型: BF16/FP8/FP4のブロックスケーリング活用</a:t>
            </a:r>
            <a:endParaRPr lang="en-US" sz="1200" dirty="0"/>
          </a:p>
        </p:txBody>
      </p:sp>
      <p:sp>
        <p:nvSpPr>
          <p:cNvPr id="28" name="Text 18"/>
          <p:cNvSpPr txBox="1"/>
          <p:nvPr/>
        </p:nvSpPr>
        <p:spPr>
          <a:xfrm>
            <a:off x="5999378" y="4038905"/>
            <a:ext cx="4582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Nsight Compute: メモリコアレス/バンク/占有率/指令混雑度分析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5999378" y="4438498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ルーフライン: 帯域律速/計算律速を判別し対策立案</a:t>
            </a:r>
            <a:endParaRPr lang="en-US" sz="1200" dirty="0"/>
          </a:p>
        </p:txBody>
      </p:sp>
      <p:sp>
        <p:nvSpPr>
          <p:cNvPr id="30" name="Text 20"/>
          <p:cNvSpPr txBox="1"/>
          <p:nvPr/>
        </p:nvSpPr>
        <p:spPr>
          <a:xfrm>
            <a:off x="5999378" y="4839005"/>
            <a:ext cx="4153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自動探索: タイルサイズとスレッド配置の最適化スクリプト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61055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610551"/>
          </a:xfrm>
          <a:prstGeom prst="rect">
            <a:avLst/>
          </a:prstGeom>
          <a:solidFill>
            <a:srgbClr val="76B900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52705" cy="7610551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038905" y="276149"/>
            <a:ext cx="44677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まとめと今後の展望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333695" y="990295"/>
            <a:ext cx="1524305" cy="75895"/>
          </a:xfrm>
          <a:prstGeom prst="roundRect">
            <a:avLst>
              <a:gd name="adj" fmla="val 1204822"/>
            </a:avLst>
          </a:prstGeom>
          <a:solidFill>
            <a:srgbClr val="76B900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352398"/>
            <a:ext cx="11048695" cy="1591056"/>
          </a:xfrm>
          <a:prstGeom prst="roundRect">
            <a:avLst>
              <a:gd name="adj" fmla="val 2753"/>
            </a:avLst>
          </a:prstGeom>
          <a:solidFill>
            <a:srgbClr val="191919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352398"/>
            <a:ext cx="38405" cy="1591056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9" name="Shape 7"/>
          <p:cNvSpPr/>
          <p:nvPr/>
        </p:nvSpPr>
        <p:spPr>
          <a:xfrm>
            <a:off x="847649" y="1543507"/>
            <a:ext cx="381305" cy="381305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2746" y="1638605"/>
            <a:ext cx="190195" cy="190195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1500" y="3133649"/>
            <a:ext cx="11048695" cy="1591056"/>
          </a:xfrm>
          <a:prstGeom prst="roundRect">
            <a:avLst>
              <a:gd name="adj" fmla="val 2753"/>
            </a:avLst>
          </a:prstGeom>
          <a:solidFill>
            <a:srgbClr val="191919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3133649"/>
            <a:ext cx="38405" cy="1591056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4914900"/>
            <a:ext cx="11048695" cy="1933956"/>
          </a:xfrm>
          <a:prstGeom prst="roundRect">
            <a:avLst>
              <a:gd name="adj" fmla="val 1863"/>
            </a:avLst>
          </a:prstGeom>
          <a:solidFill>
            <a:srgbClr val="191919">
              <a:alpha val="7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" y="4914900"/>
            <a:ext cx="38405" cy="1933956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15" name="Shape 12"/>
          <p:cNvSpPr/>
          <p:nvPr/>
        </p:nvSpPr>
        <p:spPr>
          <a:xfrm>
            <a:off x="847649" y="3323844"/>
            <a:ext cx="381305" cy="381305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847649" y="5105095"/>
            <a:ext cx="381305" cy="381305"/>
          </a:xfrm>
          <a:prstGeom prst="ellipse">
            <a:avLst/>
          </a:prstGeom>
          <a:solidFill>
            <a:srgbClr val="76B900">
              <a:alpha val="1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371600" y="1561795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371600" y="3343046"/>
            <a:ext cx="6291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展望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" y="2066544"/>
            <a:ext cx="5210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Ampere→Hopper→Blackwellで「ロード/計算/書き出し」の重畳度が進化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" y="2409444"/>
            <a:ext cx="6658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BlackwellではTensor Memoryによりレジスタ圧力を大幅に軽減、MMAとレジスタの結合を解放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6521" y="3419856"/>
            <a:ext cx="142646" cy="19019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371600" y="5124298"/>
            <a:ext cx="15343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次アクション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1133856" y="3847795"/>
            <a:ext cx="5382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 Ultra/次世代（Rubin）でのさらなる並列性・精度/圧縮技術の進化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133856" y="4190695"/>
            <a:ext cx="3648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NVLink/NVSwitch世代更新とマルチGPU分散の深化</a:t>
            </a:r>
            <a:endParaRPr lang="en-US" sz="12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952805" y="5201107"/>
            <a:ext cx="171907" cy="1901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133856" y="5629046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既存カーネルの世代別最適化パターン適用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1133856" y="5971946"/>
            <a:ext cx="4077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CUTLASS UMMAサンプル/Modular記事/Colfax解説の追試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1133856" y="6314846"/>
            <a:ext cx="3010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0E0E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重要図版は編集可能なレイヤー構成で管理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571500" y="7039051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0" name="Text 25"/>
          <p:cNvSpPr txBox="1"/>
          <p:nvPr/>
        </p:nvSpPr>
        <p:spPr>
          <a:xfrm>
            <a:off x="11472062" y="7039051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68726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FlashAttention概要：GPUアーキテクチャとの関係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741018" y="2038198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標準Attention vs FlashAttention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50238" y="4914900"/>
            <a:ext cx="3033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CCC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IOアクセス最適化によるメモリボトルネック解決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208837" y="237195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04134" y="237195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08837" y="3133649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4134" y="3133649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59382" y="2462479"/>
            <a:ext cx="1319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 (高容量・低速)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154680" y="2462479"/>
            <a:ext cx="13194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 (高容量・低速)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429207" y="3224174"/>
            <a:ext cx="1377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SRAM (低容量・高速)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125419" y="3224174"/>
            <a:ext cx="13770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SRAM (低容量・高速)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208837" y="389534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55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8837" y="4562856"/>
            <a:ext cx="1714500" cy="571500"/>
          </a:xfrm>
          <a:prstGeom prst="roundRect">
            <a:avLst>
              <a:gd name="adj" fmla="val 21333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555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644091" y="3985870"/>
            <a:ext cx="94823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標準Attention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303934" y="4677156"/>
            <a:ext cx="943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全中間行列をHBMに保存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2157984" y="4677156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555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O(N²) メモリ使用量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904134" y="3895344"/>
            <a:ext cx="1714500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4134" y="4562856"/>
            <a:ext cx="1714500" cy="571500"/>
          </a:xfrm>
          <a:prstGeom prst="roundRect">
            <a:avLst>
              <a:gd name="adj" fmla="val 21333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307385" y="3985870"/>
            <a:ext cx="101498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2999232" y="4677156"/>
            <a:ext cx="9436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中間行列をSRAMに保存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853282" y="4677156"/>
            <a:ext cx="76261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B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O(N) メモリ使用量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2639" y="2848356"/>
            <a:ext cx="19202" cy="286207"/>
          </a:xfrm>
          <a:prstGeom prst="rect">
            <a:avLst/>
          </a:prstGeom>
          <a:solidFill>
            <a:srgbClr val="76B900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742639" y="3610051"/>
            <a:ext cx="19202" cy="286207"/>
          </a:xfrm>
          <a:prstGeom prst="rect">
            <a:avLst/>
          </a:prstGeom>
          <a:solidFill>
            <a:srgbClr val="76B900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744114" y="3895344"/>
            <a:ext cx="342900" cy="267005"/>
          </a:xfrm>
          <a:prstGeom prst="roundRect">
            <a:avLst>
              <a:gd name="adj" fmla="val 48924"/>
            </a:avLst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820010" y="3914546"/>
            <a:ext cx="3054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99378" y="2115007"/>
            <a:ext cx="54388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IOボトルネックの解決：GPUでの計算よりもメモリアクセスがボトルネック。FlashAttentionはHBMへの読み書き回数を最小化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5999378" y="2743200"/>
            <a:ext cx="56775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数学的革新：O(N²) → O(N²d²/M) のIO複雑度削減（N=シーケンス長、d=ヘッド次元、M=SRAM容量）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999378" y="3372307"/>
            <a:ext cx="59152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Transformerのロングコンテキストを実現：2年間で2K→128K→1M tokenへコンテキスト長が拡大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999378" y="4000500"/>
            <a:ext cx="46012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アーキテクチャに特化した最適化：各GPUアーキテクチャ（Ampere/Hopper/Blackwell）の特性を活かした実装で性能向上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999378" y="4629607"/>
            <a:ext cx="589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全ての主要ライブラリで採用：PyTorchのscaled_dot_product_attentionなど、デファクトスタンダードに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065630" y="2848356"/>
            <a:ext cx="19202" cy="286207"/>
          </a:xfrm>
          <a:prstGeom prst="rect">
            <a:avLst/>
          </a:prstGeom>
          <a:solidFill>
            <a:srgbClr val="FF5555">
              <a:alpha val="5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2065630" y="3610051"/>
            <a:ext cx="19202" cy="286207"/>
          </a:xfrm>
          <a:prstGeom prst="rect">
            <a:avLst/>
          </a:prstGeom>
          <a:solidFill>
            <a:srgbClr val="FF5555">
              <a:alpha val="5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065630" y="4181551"/>
            <a:ext cx="19202" cy="286207"/>
          </a:xfrm>
          <a:prstGeom prst="rect">
            <a:avLst/>
          </a:prstGeom>
          <a:solidFill>
            <a:srgbClr val="FF5555">
              <a:alpha val="50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Shape 3"/>
          <p:cNvSpPr/>
          <p:nvPr/>
        </p:nvSpPr>
        <p:spPr>
          <a:xfrm>
            <a:off x="1113739" y="2276856"/>
            <a:ext cx="952805" cy="952805"/>
          </a:xfrm>
          <a:prstGeom prst="roundRect">
            <a:avLst>
              <a:gd name="adj" fmla="val 3839"/>
            </a:avLst>
          </a:prstGeom>
          <a:noFill/>
          <a:ln w="25400">
            <a:solidFill>
              <a:srgbClr val="76B9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56739" y="2276856"/>
            <a:ext cx="952805" cy="952805"/>
          </a:xfrm>
          <a:prstGeom prst="roundRect">
            <a:avLst>
              <a:gd name="adj" fmla="val 3839"/>
            </a:avLst>
          </a:prstGeom>
          <a:solidFill>
            <a:srgbClr val="76B900">
              <a:alpha val="2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81305" y="342900"/>
            <a:ext cx="80540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1（2022）：IOコンプレキシティ削減の革新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84986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64131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444191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923337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402482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881628" y="2171700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484986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964131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444191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923337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402482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881628" y="2631643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484986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964131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444191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23337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402482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881628" y="3092501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484986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64131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444191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923337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02482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881628" y="3552444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484986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64131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44191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923337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02482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81628" y="4013302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484986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964131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444191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923337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402482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881628" y="4473245"/>
            <a:ext cx="466344" cy="448056"/>
          </a:xfrm>
          <a:prstGeom prst="roundRect">
            <a:avLst>
              <a:gd name="adj" fmla="val 8684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484986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1964131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444191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2923337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402482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881628" y="5029200"/>
            <a:ext cx="466344" cy="9144"/>
          </a:xfrm>
          <a:prstGeom prst="roundRect">
            <a:avLst>
              <a:gd name="adj" fmla="val 1000000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3952037" y="1895551"/>
            <a:ext cx="1143000" cy="286207"/>
          </a:xfrm>
          <a:prstGeom prst="roundRect">
            <a:avLst>
              <a:gd name="adj" fmla="val 42599"/>
            </a:avLst>
          </a:prstGeom>
          <a:solidFill>
            <a:srgbClr val="FF0000">
              <a:alpha val="20000"/>
            </a:srgbClr>
          </a:solidFill>
          <a:ln w="12700">
            <a:solidFill>
              <a:srgbClr val="FF0000">
                <a:alpha val="5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98264" y="1952244"/>
            <a:ext cx="342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952037" y="2229307"/>
            <a:ext cx="1143000" cy="286207"/>
          </a:xfrm>
          <a:prstGeom prst="roundRect">
            <a:avLst>
              <a:gd name="adj" fmla="val 42599"/>
            </a:avLst>
          </a:prstGeom>
          <a:solidFill>
            <a:srgbClr val="76B900">
              <a:alpha val="2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72661" y="2286000"/>
            <a:ext cx="391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SRAM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952037" y="2562149"/>
            <a:ext cx="1143000" cy="286207"/>
          </a:xfrm>
          <a:prstGeom prst="roundRect">
            <a:avLst>
              <a:gd name="adj" fmla="val 42599"/>
            </a:avLst>
          </a:prstGeom>
          <a:solidFill>
            <a:srgbClr val="00AAFF">
              <a:alpha val="20000"/>
            </a:srgbClr>
          </a:solidFill>
          <a:ln w="12700">
            <a:solidFill>
              <a:srgbClr val="00AAFF">
                <a:alpha val="5000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294937" y="2619756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レジスタ</a:t>
            </a:r>
            <a:endParaRPr lang="en-US" sz="900" dirty="0"/>
          </a:p>
        </p:txBody>
      </p:sp>
      <p:sp>
        <p:nvSpPr>
          <p:cNvPr id="57" name="Text 55"/>
          <p:cNvSpPr txBox="1"/>
          <p:nvPr/>
        </p:nvSpPr>
        <p:spPr>
          <a:xfrm>
            <a:off x="1920240" y="5105095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タイル2: HBMからSRAMにロード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732374" y="1738274"/>
            <a:ext cx="6086246" cy="609905"/>
          </a:xfrm>
          <a:prstGeom prst="roundRect">
            <a:avLst>
              <a:gd name="adj" fmla="val 14055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946136" y="1833372"/>
            <a:ext cx="17721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IO複雑度: O(N²d²/M)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6832397" y="2061972"/>
            <a:ext cx="40005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シーケンス長, d: 埋め込み次元, M: SRAMサイズ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5999378" y="2490826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タイリング戦略: 行列をブロック単位で処理し、全体をSRAMに収める必要なし。各タイルをHBMから一度だけ読み出し、中間結果はSRAMで保持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5999378" y="3119018"/>
            <a:ext cx="57817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HBMアクセス削減: 中間行列S = QK^Tの明示的な書き込み/読み込みを回避。従来方式のO(N²)からIO複雑度を大幅に削減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5999378" y="3748126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オンラインSoftmax: タイル単位でのmaxとsumの統計量を逐次更新。適応的再スケーリングで数値安定性を確保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5999378" y="4376318"/>
            <a:ext cx="5667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メモリ階層の徹底活用: GPUメモリ階層（HBM→SRAM→レジスタ）の特性を考慮し、高速なSRAM/レジスタ上での演算を最大化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5999378" y="5005426"/>
            <a:ext cx="589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実装効果: 従来のAttention比で最大2～4倍の高速化。長いシーケンス長での線形メモリ使用量でより長いコンテキストをサポート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77678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2（2023）：並列化とワーク分散の最適化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70532" y="2085746"/>
            <a:ext cx="2286000" cy="286207"/>
          </a:xfrm>
          <a:prstGeom prst="roundRect">
            <a:avLst>
              <a:gd name="adj" fmla="val 85197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03934" y="2562149"/>
            <a:ext cx="1524305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13532" y="2562149"/>
            <a:ext cx="1524305" cy="381305"/>
          </a:xfrm>
          <a:prstGeom prst="roundRect">
            <a:avLst>
              <a:gd name="adj" fmla="val 47962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8642" y="3133649"/>
            <a:ext cx="952805" cy="1333195"/>
          </a:xfrm>
          <a:prstGeom prst="roundRect">
            <a:avLst>
              <a:gd name="adj" fmla="val 7678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76B9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3337" y="3133649"/>
            <a:ext cx="1904695" cy="1333195"/>
          </a:xfrm>
          <a:prstGeom prst="roundRect">
            <a:avLst>
              <a:gd name="adj" fmla="val 3919"/>
            </a:avLst>
          </a:prstGeom>
          <a:solidFill>
            <a:srgbClr val="0F0F0F">
              <a:alpha val="70000"/>
            </a:srgbClr>
          </a:solidFill>
          <a:ln w="25400">
            <a:solidFill>
              <a:srgbClr val="FF99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53666" y="2128723"/>
            <a:ext cx="1624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入力シーケンス（N×N）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559966" y="265267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69564" y="2652674"/>
            <a:ext cx="1119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2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6009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タイル処理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228039" y="380024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（逐次）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42386" y="36009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タイル処理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09137" y="3800246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（並列）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018642" y="3800246"/>
            <a:ext cx="95280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2923337" y="3372307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2923337" y="3657600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2" name="Shape 20"/>
          <p:cNvSpPr/>
          <p:nvPr/>
        </p:nvSpPr>
        <p:spPr>
          <a:xfrm>
            <a:off x="2923337" y="3943807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3" name="Shape 21"/>
          <p:cNvSpPr/>
          <p:nvPr/>
        </p:nvSpPr>
        <p:spPr>
          <a:xfrm>
            <a:off x="2923337" y="4229100"/>
            <a:ext cx="1904695" cy="19202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8837" y="3276295"/>
            <a:ext cx="571500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8434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99739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80130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61434" y="3181198"/>
            <a:ext cx="286207" cy="190195"/>
          </a:xfrm>
          <a:prstGeom prst="roundRect">
            <a:avLst>
              <a:gd name="adj" fmla="val 96154"/>
            </a:avLst>
          </a:prstGeom>
          <a:solidFill>
            <a:srgbClr val="FF9900">
              <a:alpha val="2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78915" y="3300070"/>
            <a:ext cx="3145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</a:t>
            </a:r>
            <a:endParaRPr lang="en-US" sz="800" dirty="0"/>
          </a:p>
        </p:txBody>
      </p:sp>
      <p:sp>
        <p:nvSpPr>
          <p:cNvPr id="30" name="Text 28"/>
          <p:cNvSpPr txBox="1"/>
          <p:nvPr/>
        </p:nvSpPr>
        <p:spPr>
          <a:xfrm>
            <a:off x="3093415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W1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3473806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W2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3855110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W3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4236415" y="3204972"/>
            <a:ext cx="2194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FF99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W4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237183" y="4562856"/>
            <a:ext cx="8961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シングルスレッド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239926" y="4905756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シーケンス処理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3475634" y="4562856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マルチスレッド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364078" y="4733849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シーケンス並列処理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2427732" y="4848149"/>
            <a:ext cx="14676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効率的なワークロード分散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5999378" y="2257654"/>
            <a:ext cx="58777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シーケンス次元の並列化：複数ワープが独立して異なるシーケンス領域を同時処理→スループット向上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999378" y="2885846"/>
            <a:ext cx="58960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ワープレベル作業分配最適化：非効率なスレッド割り当てを解消し、作業負荷を均等化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5999378" y="3514954"/>
            <a:ext cx="5429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非MatMul FLOP削減：softmax計算の最適化により余分な演算を最大50%削減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999378" y="3914546"/>
            <a:ext cx="5649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行列乗算効率の向上：Ampere GPU（A100）でMatMul FLOPの約70%活用を実現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5999378" y="4315054"/>
            <a:ext cx="4248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速度向上：FlashAttention 1と比較して約2倍の高速化を達成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5999378" y="4714646"/>
            <a:ext cx="5324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メモリ効率：HBMアクセス最小化のコア概念を維持しながら処理効率を向上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88257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3（2024）：Hopper最適化と非同期パイプライン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3681" y="2457907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76B900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295705" y="2495398"/>
            <a:ext cx="672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Producer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387145" y="2695651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70986" y="2457907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FF9900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927348" y="2495398"/>
            <a:ext cx="7479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Consumer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054450" y="2695651"/>
            <a:ext cx="491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Warps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51583" y="2695651"/>
            <a:ext cx="1429207" cy="28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103681" y="3314700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0099FF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327709" y="3452774"/>
            <a:ext cx="614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70986" y="3314700"/>
            <a:ext cx="952805" cy="476402"/>
          </a:xfrm>
          <a:prstGeom prst="roundRect">
            <a:avLst>
              <a:gd name="adj" fmla="val 30710"/>
            </a:avLst>
          </a:prstGeom>
          <a:solidFill>
            <a:srgbClr val="9932CC">
              <a:alpha val="70000"/>
            </a:srgbClr>
          </a:solidFill>
          <a:ln/>
          <a:effectLst>
            <a:outerShdw sx="100000" sy="100000" kx="0" ky="0" algn="bl" rotWithShape="0" blurRad="63500" dist="25400" dir="54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112971" y="3452774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04034" y="2885846"/>
            <a:ext cx="1238098" cy="28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532888" y="3314700"/>
            <a:ext cx="1238098" cy="2834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246681" y="4076395"/>
            <a:ext cx="1333195" cy="761695"/>
          </a:xfrm>
          <a:prstGeom prst="roundRect">
            <a:avLst>
              <a:gd name="adj" fmla="val 12005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76B900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265883" y="4238244"/>
            <a:ext cx="80558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Ping-pong Scheduling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95090" y="6286500"/>
            <a:ext cx="381305" cy="267005"/>
          </a:xfrm>
          <a:prstGeom prst="roundRect">
            <a:avLst>
              <a:gd name="adj" fmla="val 73385"/>
            </a:avLst>
          </a:prstGeom>
          <a:solidFill>
            <a:srgbClr val="76B90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810305" y="6334049"/>
            <a:ext cx="238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247388" y="6286500"/>
            <a:ext cx="381305" cy="267005"/>
          </a:xfrm>
          <a:prstGeom prst="roundRect">
            <a:avLst>
              <a:gd name="adj" fmla="val 73385"/>
            </a:avLst>
          </a:prstGeom>
          <a:solidFill>
            <a:srgbClr val="FF990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362602" y="6334049"/>
            <a:ext cx="238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681582" y="4796028"/>
            <a:ext cx="25603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 GPU向け非同期パイプライン最適化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999378" y="2343607"/>
            <a:ext cx="584850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3つの主要最適化技術を駆使し、Tensor CoreとTMAの非同期性を活用 ① 計算と転送をProducer-Consumerモデルで重複実行 ② GEMM×Softmaxの重複実行（Ping-pongスケジューリング） ③ WGMMA内部の命令レベル並列化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999378" y="3200400"/>
            <a:ext cx="5153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低精度最適化：FP8サポートとHadamard変換による量子化誤差2.6倍削減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999378" y="3600907"/>
            <a:ext cx="5829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H100 GPUで驚異的な性能：FA2と比較して1.5-2.0倍高速、理論ピーク比75%の利用率達成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999378" y="4229100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FP8では1.2 PFLOPSを実現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999378" y="4629607"/>
            <a:ext cx="42007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ソースコード公開：github.com/Dao-AILab/flash-attention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81305" y="6286500"/>
            <a:ext cx="1805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FlashAttention進化シリーズ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19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008937" y="3219602"/>
            <a:ext cx="1714500" cy="571500"/>
          </a:xfrm>
          <a:prstGeom prst="roundRect">
            <a:avLst>
              <a:gd name="adj" fmla="val 40000"/>
            </a:avLst>
          </a:prstGeom>
          <a:noFill/>
          <a:ln w="254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46681" y="3076956"/>
            <a:ext cx="961949" cy="209398"/>
          </a:xfrm>
          <a:prstGeom prst="roundRect">
            <a:avLst>
              <a:gd name="adj" fmla="val 198491"/>
            </a:avLst>
          </a:prstGeom>
          <a:solidFill>
            <a:srgbClr val="141414">
              <a:alpha val="8000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23490" y="3095244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非同期重複実行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5022" y="2271370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322" y="2367382"/>
            <a:ext cx="1972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1: Load Warp 1 warp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95444" y="2414930"/>
            <a:ext cx="152705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5022" y="2881274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D9770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79322" y="2976372"/>
            <a:ext cx="1962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2: MMA Warp 1 warp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95444" y="3023921"/>
            <a:ext cx="152705" cy="1527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65022" y="3491179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DB2777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79322" y="3586277"/>
            <a:ext cx="23527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3: Softmax Warps 8 warps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0" b="-100"/>
          <a:stretch/>
        </p:blipFill>
        <p:spPr>
          <a:xfrm>
            <a:off x="4733849" y="3633826"/>
            <a:ext cx="114300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865022" y="4100170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979322" y="419618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4: Correction Warps 4 warps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695444" y="4243730"/>
            <a:ext cx="152705" cy="1527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65022" y="4710074"/>
            <a:ext cx="4105656" cy="418795"/>
          </a:xfrm>
          <a:prstGeom prst="roundRect">
            <a:avLst>
              <a:gd name="adj" fmla="val 24811"/>
            </a:avLst>
          </a:prstGeom>
          <a:solidFill>
            <a:srgbClr val="1E1E1E">
              <a:alpha val="80000"/>
            </a:srgbClr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979322" y="4805172"/>
            <a:ext cx="2524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Stage 5: Epilogue Warps 1-2 warps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4714646" y="4852721"/>
            <a:ext cx="133502" cy="1527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381305" y="342900"/>
            <a:ext cx="69485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 4（2025）：Blackwell GPU最適化</a:t>
            </a:r>
            <a:endParaRPr lang="en-US" sz="2200" dirty="0"/>
          </a:p>
        </p:txBody>
      </p:sp>
      <p:sp>
        <p:nvSpPr>
          <p:cNvPr id="21" name="Shape 14"/>
          <p:cNvSpPr/>
          <p:nvPr/>
        </p:nvSpPr>
        <p:spPr>
          <a:xfrm>
            <a:off x="437083" y="1314907"/>
            <a:ext cx="4953305" cy="4572000"/>
          </a:xfrm>
          <a:prstGeom prst="roundRect">
            <a:avLst>
              <a:gd name="adj" fmla="val 417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sp>
        <p:nvSpPr>
          <p:cNvPr id="22" name="Text 15"/>
          <p:cNvSpPr txBox="1"/>
          <p:nvPr/>
        </p:nvSpPr>
        <p:spPr>
          <a:xfrm>
            <a:off x="1714500" y="1938528"/>
            <a:ext cx="2529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5段階Warp専門化パイプライン</a:t>
            </a:r>
            <a:endParaRPr lang="en-US" sz="13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00" b="-100"/>
          <a:stretch/>
        </p:blipFill>
        <p:spPr>
          <a:xfrm>
            <a:off x="2818181" y="5971946"/>
            <a:ext cx="114300" cy="152705"/>
          </a:xfrm>
          <a:prstGeom prst="rect">
            <a:avLst/>
          </a:prstGeom>
        </p:spPr>
      </p:pic>
      <p:sp>
        <p:nvSpPr>
          <p:cNvPr id="27" name="Shape 16"/>
          <p:cNvSpPr/>
          <p:nvPr/>
        </p:nvSpPr>
        <p:spPr>
          <a:xfrm>
            <a:off x="816559" y="4638751"/>
            <a:ext cx="4200754" cy="1143000"/>
          </a:xfrm>
          <a:prstGeom prst="roundRect">
            <a:avLst>
              <a:gd name="adj" fmla="val 3333"/>
            </a:avLst>
          </a:prstGeom>
          <a:solidFill>
            <a:srgbClr val="082F49">
              <a:alpha val="3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28" name="Text 17"/>
          <p:cNvSpPr txBox="1"/>
          <p:nvPr/>
        </p:nvSpPr>
        <p:spPr>
          <a:xfrm>
            <a:off x="1852574" y="4753051"/>
            <a:ext cx="2224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 (TMEM) 256KB/SM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1030529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Shape 19"/>
          <p:cNvSpPr/>
          <p:nvPr/>
        </p:nvSpPr>
        <p:spPr>
          <a:xfrm>
            <a:off x="1504188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0"/>
          <p:cNvSpPr/>
          <p:nvPr/>
        </p:nvSpPr>
        <p:spPr>
          <a:xfrm>
            <a:off x="1978762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2453335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Shape 22"/>
          <p:cNvSpPr/>
          <p:nvPr/>
        </p:nvSpPr>
        <p:spPr>
          <a:xfrm>
            <a:off x="2927909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23"/>
          <p:cNvSpPr/>
          <p:nvPr/>
        </p:nvSpPr>
        <p:spPr>
          <a:xfrm>
            <a:off x="3402482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Shape 24"/>
          <p:cNvSpPr/>
          <p:nvPr/>
        </p:nvSpPr>
        <p:spPr>
          <a:xfrm>
            <a:off x="3877056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Shape 25"/>
          <p:cNvSpPr/>
          <p:nvPr/>
        </p:nvSpPr>
        <p:spPr>
          <a:xfrm>
            <a:off x="4350715" y="5020056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Shape 26"/>
          <p:cNvSpPr/>
          <p:nvPr/>
        </p:nvSpPr>
        <p:spPr>
          <a:xfrm>
            <a:off x="1030529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1504188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1978762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Shape 29"/>
          <p:cNvSpPr/>
          <p:nvPr/>
        </p:nvSpPr>
        <p:spPr>
          <a:xfrm>
            <a:off x="2453335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2927909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3402482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Shape 32"/>
          <p:cNvSpPr/>
          <p:nvPr/>
        </p:nvSpPr>
        <p:spPr>
          <a:xfrm>
            <a:off x="3877056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350715" y="5131613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030529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1504188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7" name="Shape 36"/>
          <p:cNvSpPr/>
          <p:nvPr/>
        </p:nvSpPr>
        <p:spPr>
          <a:xfrm>
            <a:off x="1978762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Shape 37"/>
          <p:cNvSpPr/>
          <p:nvPr/>
        </p:nvSpPr>
        <p:spPr>
          <a:xfrm>
            <a:off x="2453335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Shape 38"/>
          <p:cNvSpPr/>
          <p:nvPr/>
        </p:nvSpPr>
        <p:spPr>
          <a:xfrm>
            <a:off x="2927909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3402482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3877056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4350715" y="5243170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1030529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1504188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1978762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2453335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2927909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3402482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3877056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4350715" y="5355641"/>
            <a:ext cx="448056" cy="85954"/>
          </a:xfrm>
          <a:prstGeom prst="roundRect">
            <a:avLst>
              <a:gd name="adj" fmla="val 236406"/>
            </a:avLst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0"/>
          <p:cNvSpPr txBox="1"/>
          <p:nvPr/>
        </p:nvSpPr>
        <p:spPr>
          <a:xfrm>
            <a:off x="1481328" y="5505602"/>
            <a:ext cx="29535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512列×128レーン 32ビット幅 (Tensor Core専用メモリ)</a:t>
            </a:r>
            <a:endParaRPr lang="en-US" sz="900" dirty="0"/>
          </a:p>
        </p:txBody>
      </p:sp>
      <p:sp>
        <p:nvSpPr>
          <p:cNvPr id="62" name="Text 51"/>
          <p:cNvSpPr txBox="1"/>
          <p:nvPr/>
        </p:nvSpPr>
        <p:spPr>
          <a:xfrm>
            <a:off x="5999378" y="2514600"/>
            <a:ext cx="59061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Blackwell最適化テクニック ・UMMA命令（tcgen05.mma）による行列演算新命令 ・Tensor Memory専用蓄積システム低レジスタ圧 ・高速ソフトウェア指数関数（3次多項式近似）SFU回避</a:t>
            </a:r>
            <a:endParaRPr lang="en-US" sz="1200" dirty="0"/>
          </a:p>
        </p:txBody>
      </p:sp>
      <p:sp>
        <p:nvSpPr>
          <p:cNvPr id="63" name="Text 52"/>
          <p:cNvSpPr txBox="1"/>
          <p:nvPr/>
        </p:nvSpPr>
        <p:spPr>
          <a:xfrm>
            <a:off x="5999378" y="3372307"/>
            <a:ext cx="58110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パイプライン効率化 ・5段階Warp専門化で各段階の並列性を最大化 ・アダプティブSoftmaxリスケーリング（約10倍の操作削減） ・CTA内のGlobal→Shared→Tensor→Register間の効率的データ移動</a:t>
            </a:r>
            <a:endParaRPr lang="en-US" sz="1200" dirty="0"/>
          </a:p>
        </p:txBody>
      </p:sp>
      <p:sp>
        <p:nvSpPr>
          <p:cNvPr id="64" name="Text 53"/>
          <p:cNvSpPr txBox="1"/>
          <p:nvPr/>
        </p:nvSpPr>
        <p:spPr>
          <a:xfrm>
            <a:off x="5999378" y="4229100"/>
            <a:ext cx="58585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パフォーマンス ・cudnnカーネルより約20%高速化 ・1.2 PFLOPS達成（FP8） ・メモリ階層全体を活用した非同期パイプライン</a:t>
            </a:r>
            <a:endParaRPr lang="en-US" sz="1200" dirty="0"/>
          </a:p>
        </p:txBody>
      </p:sp>
      <p:sp>
        <p:nvSpPr>
          <p:cNvPr id="65" name="Text 54"/>
          <p:cNvSpPr txBox="1"/>
          <p:nvPr/>
        </p:nvSpPr>
        <p:spPr>
          <a:xfrm>
            <a:off x="381305" y="6286500"/>
            <a:ext cx="2157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75895" cy="6858000"/>
          </a:xfrm>
          <a:prstGeom prst="rect">
            <a:avLst/>
          </a:prstGeom>
          <a:solidFill>
            <a:srgbClr val="76B9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381305" y="342900"/>
            <a:ext cx="49011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FlashAttention世代比較とGPU対応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28193" y="1790395"/>
            <a:ext cx="4572000" cy="3619195"/>
          </a:xfrm>
          <a:prstGeom prst="roundRect">
            <a:avLst>
              <a:gd name="adj" fmla="val 665"/>
            </a:avLst>
          </a:prstGeom>
          <a:solidFill>
            <a:srgbClr val="76B900">
              <a:alpha val="10000"/>
            </a:srgbClr>
          </a:solidFill>
          <a:ln w="12700">
            <a:solidFill>
              <a:srgbClr val="76B900">
                <a:alpha val="3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" b="-11"/>
          <a:stretch/>
        </p:blipFill>
        <p:spPr>
          <a:xfrm>
            <a:off x="818388" y="1110082"/>
            <a:ext cx="4190695" cy="20958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" y="3396082"/>
            <a:ext cx="4172407" cy="409651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827532" y="3804818"/>
            <a:ext cx="4172407" cy="571500"/>
          </a:xfrm>
          <a:prstGeom prst="rect">
            <a:avLst/>
          </a:prstGeom>
          <a:solidFill>
            <a:srgbClr val="141414">
              <a:alpha val="8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827532" y="4376318"/>
            <a:ext cx="4172407" cy="5715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27532" y="4947818"/>
            <a:ext cx="4172407" cy="571500"/>
          </a:xfrm>
          <a:prstGeom prst="rect">
            <a:avLst/>
          </a:prstGeom>
          <a:solidFill>
            <a:srgbClr val="141414">
              <a:alpha val="8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827532" y="5519318"/>
            <a:ext cx="4172407" cy="571500"/>
          </a:xfrm>
          <a:prstGeom prst="rect">
            <a:avLst/>
          </a:prstGeom>
          <a:solidFill>
            <a:srgbClr val="76B900">
              <a:alpha val="5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827532" y="3396082"/>
            <a:ext cx="495605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318565" y="3396082"/>
            <a:ext cx="629107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947672" y="3396082"/>
            <a:ext cx="1457554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00654" y="3396082"/>
            <a:ext cx="838505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33672" y="3396082"/>
            <a:ext cx="771754" cy="409651"/>
          </a:xfrm>
          <a:prstGeom prst="rect">
            <a:avLst/>
          </a:prstGeom>
          <a:solidFill>
            <a:srgbClr val="76B900">
              <a:alpha val="30000"/>
            </a:srgbClr>
          </a:solidFill>
          <a:ln w="12700">
            <a:solidFill>
              <a:srgbClr val="76B900">
                <a:alpha val="5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40003" y="3500323"/>
            <a:ext cx="367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世代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432865" y="3500323"/>
            <a:ext cx="500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発表年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2207362" y="3500323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主な最適化技術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3541471" y="3500323"/>
            <a:ext cx="6528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対応GPU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349801" y="3500323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相対性能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7532" y="38048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318565" y="38048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47672" y="38048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400654" y="38048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233672" y="38048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27532" y="43763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318565" y="43763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47672" y="43763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400654" y="43763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233672" y="43763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27532" y="49478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318565" y="49478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47672" y="49478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00654" y="49478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33672" y="49478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827532" y="5519318"/>
            <a:ext cx="4956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318565" y="5519318"/>
            <a:ext cx="629107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947672" y="5519318"/>
            <a:ext cx="14575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400654" y="5519318"/>
            <a:ext cx="838505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233672" y="5519318"/>
            <a:ext cx="771754" cy="571500"/>
          </a:xfrm>
          <a:prstGeom prst="rect">
            <a:avLst/>
          </a:prstGeom>
          <a:noFill/>
          <a:ln w="12700">
            <a:solidFill>
              <a:srgbClr val="76B900">
                <a:alpha val="2000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61949" y="39913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FA1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1484986" y="39913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2022</a:t>
            </a:r>
            <a:endParaRPr lang="en-US" sz="1000" dirty="0"/>
          </a:p>
        </p:txBody>
      </p:sp>
      <p:sp>
        <p:nvSpPr>
          <p:cNvPr id="45" name="Text 42"/>
          <p:cNvSpPr txBox="1"/>
          <p:nvPr/>
        </p:nvSpPr>
        <p:spPr>
          <a:xfrm>
            <a:off x="2208276" y="389077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IOアクセス削減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2340864" y="4091026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タイリング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3574390" y="3991356"/>
            <a:ext cx="586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</a:t>
            </a:r>
            <a:endParaRPr lang="en-US" sz="1000" dirty="0"/>
          </a:p>
        </p:txBody>
      </p:sp>
      <p:sp>
        <p:nvSpPr>
          <p:cNvPr id="48" name="Text 45"/>
          <p:cNvSpPr txBox="1"/>
          <p:nvPr/>
        </p:nvSpPr>
        <p:spPr>
          <a:xfrm>
            <a:off x="4457700" y="39913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1.0×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961949" y="45628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FA2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1484986" y="45628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2023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2340864" y="446227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並列化改善</a:t>
            </a:r>
            <a:endParaRPr lang="en-US" sz="1000" dirty="0"/>
          </a:p>
        </p:txBody>
      </p:sp>
      <p:sp>
        <p:nvSpPr>
          <p:cNvPr id="52" name="Text 49"/>
          <p:cNvSpPr txBox="1"/>
          <p:nvPr/>
        </p:nvSpPr>
        <p:spPr>
          <a:xfrm>
            <a:off x="2340864" y="4662526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ワーク分散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3537814" y="4562856"/>
            <a:ext cx="6620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Ampere+</a:t>
            </a:r>
            <a:endParaRPr lang="en-US" sz="1000" dirty="0"/>
          </a:p>
        </p:txBody>
      </p:sp>
      <p:sp>
        <p:nvSpPr>
          <p:cNvPr id="54" name="Text 51"/>
          <p:cNvSpPr txBox="1"/>
          <p:nvPr/>
        </p:nvSpPr>
        <p:spPr>
          <a:xfrm>
            <a:off x="4457700" y="45628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2.0×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961949" y="51343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FA3</a:t>
            </a:r>
            <a:endParaRPr lang="en-US" sz="1000" dirty="0"/>
          </a:p>
        </p:txBody>
      </p:sp>
      <p:sp>
        <p:nvSpPr>
          <p:cNvPr id="56" name="Text 53"/>
          <p:cNvSpPr txBox="1"/>
          <p:nvPr/>
        </p:nvSpPr>
        <p:spPr>
          <a:xfrm>
            <a:off x="1484986" y="51343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2024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2073859" y="5033772"/>
            <a:ext cx="13002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非同期パイプライン</a:t>
            </a:r>
            <a:endParaRPr lang="en-US" sz="1000" dirty="0"/>
          </a:p>
        </p:txBody>
      </p:sp>
      <p:sp>
        <p:nvSpPr>
          <p:cNvPr id="58" name="Text 55"/>
          <p:cNvSpPr txBox="1"/>
          <p:nvPr/>
        </p:nvSpPr>
        <p:spPr>
          <a:xfrm>
            <a:off x="2249424" y="5234026"/>
            <a:ext cx="9573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WGMMA+TMA</a:t>
            </a:r>
            <a:endParaRPr lang="en-US" sz="1000" dirty="0"/>
          </a:p>
        </p:txBody>
      </p:sp>
      <p:sp>
        <p:nvSpPr>
          <p:cNvPr id="59" name="Text 56"/>
          <p:cNvSpPr txBox="1"/>
          <p:nvPr/>
        </p:nvSpPr>
        <p:spPr>
          <a:xfrm>
            <a:off x="3582619" y="5134356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Hopper</a:t>
            </a:r>
            <a:endParaRPr lang="en-US" sz="1000" dirty="0"/>
          </a:p>
        </p:txBody>
      </p:sp>
      <p:sp>
        <p:nvSpPr>
          <p:cNvPr id="60" name="Text 57"/>
          <p:cNvSpPr txBox="1"/>
          <p:nvPr/>
        </p:nvSpPr>
        <p:spPr>
          <a:xfrm>
            <a:off x="4457700" y="51343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3.5×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961949" y="5705856"/>
            <a:ext cx="329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FA4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1484986" y="5705856"/>
            <a:ext cx="405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2025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2193646" y="5605272"/>
            <a:ext cx="1062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Tensor Memory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2103120" y="5805526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5段階パイプライン</a:t>
            </a:r>
            <a:endParaRPr lang="en-US" sz="1000" dirty="0"/>
          </a:p>
        </p:txBody>
      </p:sp>
      <p:sp>
        <p:nvSpPr>
          <p:cNvPr id="65" name="Text 62"/>
          <p:cNvSpPr txBox="1"/>
          <p:nvPr/>
        </p:nvSpPr>
        <p:spPr>
          <a:xfrm>
            <a:off x="3517697" y="5705856"/>
            <a:ext cx="700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Blackwell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4457700" y="5705856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4.2×</a:t>
            </a:r>
            <a:endParaRPr lang="en-US" sz="1000" dirty="0"/>
          </a:p>
        </p:txBody>
      </p:sp>
      <p:sp>
        <p:nvSpPr>
          <p:cNvPr id="67" name="Text 64"/>
          <p:cNvSpPr txBox="1"/>
          <p:nvPr/>
        </p:nvSpPr>
        <p:spPr>
          <a:xfrm>
            <a:off x="5999378" y="1943100"/>
            <a:ext cx="58869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GPUアーキテクチャとの対応関係：各FlashAttentionはGPU世代の特徴を活かす最適化を実装</a:t>
            </a:r>
            <a:endParaRPr lang="en-US" sz="1200" dirty="0"/>
          </a:p>
        </p:txBody>
      </p:sp>
      <p:sp>
        <p:nvSpPr>
          <p:cNvPr id="68" name="Text 65"/>
          <p:cNvSpPr txBox="1"/>
          <p:nvPr/>
        </p:nvSpPr>
        <p:spPr>
          <a:xfrm>
            <a:off x="5999378" y="2572207"/>
            <a:ext cx="5429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FA1 → Ampere：メモリ階層意識型のIOリダクション戦略（cp.asyncの活用）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5999378" y="2971800"/>
            <a:ext cx="42583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FA2 → Ampere拡張：ワープ間の並列処理とFLOP効率最適化</a:t>
            </a:r>
            <a:endParaRPr lang="en-US" sz="1200" dirty="0"/>
          </a:p>
        </p:txBody>
      </p:sp>
      <p:sp>
        <p:nvSpPr>
          <p:cNvPr id="70" name="Text 67"/>
          <p:cNvSpPr txBox="1"/>
          <p:nvPr/>
        </p:nvSpPr>
        <p:spPr>
          <a:xfrm>
            <a:off x="5999378" y="3372307"/>
            <a:ext cx="47631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FA3 → Hopper：WGMMAとTMAを活用した非同期パイプライン構築</a:t>
            </a:r>
            <a:endParaRPr lang="en-US" sz="1200" dirty="0"/>
          </a:p>
        </p:txBody>
      </p:sp>
      <p:sp>
        <p:nvSpPr>
          <p:cNvPr id="71" name="Text 68"/>
          <p:cNvSpPr txBox="1"/>
          <p:nvPr/>
        </p:nvSpPr>
        <p:spPr>
          <a:xfrm>
            <a:off x="5999378" y="3771900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FA4 → Blackwell：TMEM（256KB/SM）とUMMAによる5段階パイプライン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999378" y="4172407"/>
            <a:ext cx="5925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実装推奨事項：GPU世代に対応するFA実装を選択し、モデルによって最適化設定を調整</a:t>
            </a:r>
            <a:endParaRPr lang="en-US" sz="1200" dirty="0"/>
          </a:p>
        </p:txBody>
      </p:sp>
      <p:sp>
        <p:nvSpPr>
          <p:cNvPr id="73" name="Text 70"/>
          <p:cNvSpPr txBox="1"/>
          <p:nvPr/>
        </p:nvSpPr>
        <p:spPr>
          <a:xfrm>
            <a:off x="5999378" y="4800600"/>
            <a:ext cx="5820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今後の展望：次世代GPUでのさらなる演算/メモリ分離、より複雑なパイプライン構造への対応</a:t>
            </a:r>
            <a:endParaRPr lang="en-US" sz="1200" dirty="0"/>
          </a:p>
        </p:txBody>
      </p:sp>
      <p:sp>
        <p:nvSpPr>
          <p:cNvPr id="74" name="Text 71"/>
          <p:cNvSpPr txBox="1"/>
          <p:nvPr/>
        </p:nvSpPr>
        <p:spPr>
          <a:xfrm>
            <a:off x="381305" y="6286500"/>
            <a:ext cx="31958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NVIDIA GPUアーキテクチャの進化とFlashAttention</a:t>
            </a:r>
            <a:endParaRPr lang="en-US" sz="1000" dirty="0"/>
          </a:p>
        </p:txBody>
      </p:sp>
      <p:sp>
        <p:nvSpPr>
          <p:cNvPr id="75" name="Text 72"/>
          <p:cNvSpPr txBox="1"/>
          <p:nvPr/>
        </p:nvSpPr>
        <p:spPr>
          <a:xfrm>
            <a:off x="11663172" y="6286500"/>
            <a:ext cx="253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2025-10-28T14:19:41Z</dcterms:created>
  <dcterms:modified xsi:type="dcterms:W3CDTF">2025-10-28T14:19:41Z</dcterms:modified>
</cp:coreProperties>
</file>