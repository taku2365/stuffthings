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jpe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74" r="74"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rcRect l="0" r="0" t="-438" b="-438"/>
          <a:stretch/>
        </p:blipFill>
        <p:spPr>
          <a:xfrm>
            <a:off x="10858500" y="190195"/>
            <a:ext cx="1143000" cy="724205"/>
          </a:xfrm>
          <a:prstGeom prst="rect">
            <a:avLst/>
          </a:prstGeom>
        </p:spPr>
      </p:pic>
      <p:pic>
        <p:nvPicPr>
          <p:cNvPr id="4" name="Image 2" descr="preencoded.png">    </p:cNvPr>
          <p:cNvPicPr>
            <a:picLocks noChangeAspect="1"/>
          </p:cNvPicPr>
          <p:nvPr/>
        </p:nvPicPr>
        <p:blipFill>
          <a:blip r:embed="rId3"/>
          <a:srcRect l="298" r="298" t="0" b="0"/>
          <a:stretch/>
        </p:blipFill>
        <p:spPr>
          <a:xfrm>
            <a:off x="10096805" y="5597957"/>
            <a:ext cx="1904695" cy="1076249"/>
          </a:xfrm>
          <a:prstGeom prst="rect">
            <a:avLst/>
          </a:prstGeom>
        </p:spPr>
      </p:pic>
      <p:sp>
        <p:nvSpPr>
          <p:cNvPr id="5" name="Shape 0"/>
          <p:cNvSpPr/>
          <p:nvPr/>
        </p:nvSpPr>
        <p:spPr>
          <a:xfrm>
            <a:off x="0" y="0"/>
            <a:ext cx="12191695" cy="6858000"/>
          </a:xfrm>
          <a:prstGeom prst="rect">
            <a:avLst/>
          </a:prstGeom>
          <a:solidFill>
            <a:srgbClr val="000000">
              <a:alpha val="60000"/>
            </a:srgbClr>
          </a:solidFill>
          <a:ln/>
        </p:spPr>
      </p:sp>
      <p:sp>
        <p:nvSpPr>
          <p:cNvPr id="6" name="Text 1"/>
          <p:cNvSpPr txBox="1"/>
          <p:nvPr/>
        </p:nvSpPr>
        <p:spPr>
          <a:xfrm>
            <a:off x="819302" y="1643177"/>
            <a:ext cx="10896905" cy="1124712"/>
          </a:xfrm>
          <a:prstGeom prst="rect">
            <a:avLst/>
          </a:prstGeom>
          <a:noFill/>
          <a:ln/>
        </p:spPr>
        <p:txBody>
          <a:bodyPr wrap="square" lIns="0" tIns="0" rIns="0" bIns="0" rtlCol="0" anchor="ctr"/>
          <a:lstStyle/>
          <a:p>
            <a:pPr algn="ctr" indent="0" marL="0">
              <a:buNone/>
            </a:pPr>
            <a:r>
              <a:rPr lang="en-US" sz="3600" b="1" dirty="0">
                <a:solidFill>
                  <a:srgbClr val="FFFFFF"/>
                </a:solidFill>
                <a:latin typeface="Noto Sans JP" pitchFamily="34" charset="0"/>
                <a:ea typeface="Noto Sans JP" pitchFamily="34" charset="-122"/>
                <a:cs typeface="Noto Sans JP" pitchFamily="34" charset="-120"/>
              </a:rPr>
              <a:t>NVIDIA DRIVE AGX Orin → Thor アーキテクチャ進化レポート</a:t>
            </a:r>
            <a:endParaRPr lang="en-US" sz="3600" dirty="0"/>
          </a:p>
        </p:txBody>
      </p:sp>
      <p:sp>
        <p:nvSpPr>
          <p:cNvPr id="7" name="Text 2"/>
          <p:cNvSpPr txBox="1"/>
          <p:nvPr/>
        </p:nvSpPr>
        <p:spPr>
          <a:xfrm>
            <a:off x="2510028" y="2976372"/>
            <a:ext cx="7315200" cy="590702"/>
          </a:xfrm>
          <a:prstGeom prst="rect">
            <a:avLst/>
          </a:prstGeom>
          <a:noFill/>
          <a:ln/>
        </p:spPr>
        <p:txBody>
          <a:bodyPr wrap="square" lIns="0" tIns="0" rIns="0" bIns="0" rtlCol="0" anchor="ctr"/>
          <a:lstStyle/>
          <a:p>
            <a:pPr algn="ctr" indent="0" marL="0">
              <a:buNone/>
            </a:pPr>
            <a:r>
              <a:rPr lang="en-US" sz="1500" dirty="0">
                <a:solidFill>
                  <a:srgbClr val="FFFFFF"/>
                </a:solidFill>
                <a:latin typeface="Noto Sans JP" pitchFamily="34" charset="0"/>
                <a:ea typeface="Noto Sans JP" pitchFamily="34" charset="-122"/>
                <a:cs typeface="Noto Sans JP" pitchFamily="34" charset="-120"/>
              </a:rPr>
              <a:t>Ampere→Hopper→Blackwellの二世代ジャンプと 自動車向けAIプラットフォームの最前線</a:t>
            </a:r>
            <a:endParaRPr lang="en-US" sz="1500" dirty="0"/>
          </a:p>
        </p:txBody>
      </p:sp>
      <p:sp>
        <p:nvSpPr>
          <p:cNvPr id="8" name="Text 3"/>
          <p:cNvSpPr txBox="1"/>
          <p:nvPr/>
        </p:nvSpPr>
        <p:spPr>
          <a:xfrm>
            <a:off x="3924605" y="4205326"/>
            <a:ext cx="4472330" cy="247802"/>
          </a:xfrm>
          <a:prstGeom prst="rect">
            <a:avLst/>
          </a:prstGeom>
          <a:noFill/>
          <a:ln/>
        </p:spPr>
        <p:txBody>
          <a:bodyPr wrap="square" lIns="0" tIns="0" rIns="0" bIns="0" rtlCol="0" anchor="ctr"/>
          <a:lstStyle/>
          <a:p>
            <a:pPr algn="ctr" indent="0" marL="0">
              <a:buNone/>
            </a:pPr>
            <a:r>
              <a:rPr lang="en-US" sz="1300" dirty="0">
                <a:solidFill>
                  <a:srgbClr val="76B900"/>
                </a:solidFill>
                <a:latin typeface="Noto Sans JP" pitchFamily="34" charset="0"/>
                <a:ea typeface="Noto Sans JP" pitchFamily="34" charset="-122"/>
                <a:cs typeface="Noto Sans JP" pitchFamily="34" charset="-120"/>
              </a:rPr>
              <a:t>「車載AIコンピューティングの中枢はBlackwell世代へ」</a:t>
            </a:r>
            <a:endParaRPr lang="en-US" sz="1300" dirty="0"/>
          </a:p>
        </p:txBody>
      </p:sp>
      <p:sp>
        <p:nvSpPr>
          <p:cNvPr id="9" name="Text 4"/>
          <p:cNvSpPr txBox="1"/>
          <p:nvPr/>
        </p:nvSpPr>
        <p:spPr>
          <a:xfrm>
            <a:off x="5753405" y="4614977"/>
            <a:ext cx="786384" cy="191110"/>
          </a:xfrm>
          <a:prstGeom prst="rect">
            <a:avLst/>
          </a:prstGeom>
          <a:noFill/>
          <a:ln/>
        </p:spPr>
        <p:txBody>
          <a:bodyPr wrap="square" lIns="0" tIns="0" rIns="0" bIns="0" rtlCol="0" anchor="ctr"/>
          <a:lstStyle/>
          <a:p>
            <a:pPr algn="ctr" indent="0" marL="0">
              <a:buNone/>
            </a:pPr>
            <a:r>
              <a:rPr lang="en-US" sz="1000" dirty="0">
                <a:solidFill>
                  <a:srgbClr val="D1D5DB"/>
                </a:solidFill>
                <a:latin typeface="Noto Sans JP" pitchFamily="34" charset="0"/>
                <a:ea typeface="Noto Sans JP" pitchFamily="34" charset="-122"/>
                <a:cs typeface="Noto Sans JP" pitchFamily="34" charset="-120"/>
              </a:rPr>
              <a:t>2025-10-25</a:t>
            </a:r>
            <a:endParaRPr lang="en-US" sz="1000" dirty="0"/>
          </a:p>
        </p:txBody>
      </p:sp>
      <p:sp>
        <p:nvSpPr>
          <p:cNvPr id="10" name="Shape 5"/>
          <p:cNvSpPr/>
          <p:nvPr/>
        </p:nvSpPr>
        <p:spPr>
          <a:xfrm>
            <a:off x="10707624" y="6344107"/>
            <a:ext cx="1295705" cy="323698"/>
          </a:xfrm>
          <a:prstGeom prst="roundRect">
            <a:avLst>
              <a:gd name="adj" fmla="val 33234"/>
            </a:avLst>
          </a:prstGeom>
          <a:solidFill>
            <a:srgbClr val="333333"/>
          </a:solidFill>
          <a:ln/>
        </p:spPr>
      </p:sp>
      <p:pic>
        <p:nvPicPr>
          <p:cNvPr id="11"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12" name="Shape 6"/>
          <p:cNvSpPr/>
          <p:nvPr/>
        </p:nvSpPr>
        <p:spPr>
          <a:xfrm>
            <a:off x="10707624" y="6344107"/>
            <a:ext cx="1295705" cy="323698"/>
          </a:xfrm>
          <a:prstGeom prst="roundRect">
            <a:avLst>
              <a:gd name="adj" fmla="val 33234"/>
            </a:avLst>
          </a:prstGeom>
          <a:solidFill>
            <a:srgbClr val="333333"/>
          </a:solidFill>
          <a:ln/>
        </p:spPr>
      </p:sp>
      <p:sp>
        <p:nvSpPr>
          <p:cNvPr id="13" name="Text 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4"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15" name="Text 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5533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Executive Overview</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77433"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Orin(Ampere, 2022)からThor(Blackwell, 2025)へ AI/メモリ/IOが総合的に刷新</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59390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Thorは最大~1000 INT8 TOPS / ~2000 FP4 TFLOPS、 生成AI/IVI/ADの統合を実現</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77717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TEのFP8/FP4、TM/UMMAで Transformer/BEV系ワークロードを大幅加速</a:t>
            </a:r>
            <a:endParaRPr lang="en-US" sz="1300" dirty="0"/>
          </a:p>
        </p:txBody>
      </p:sp>
      <p:pic>
        <p:nvPicPr>
          <p:cNvPr id="11" name="Image 3" descr="preencoded.png">    </p:cNvPr>
          <p:cNvPicPr>
            <a:picLocks noChangeAspect="1"/>
          </p:cNvPicPr>
          <p:nvPr/>
        </p:nvPicPr>
        <p:blipFill>
          <a:blip r:embed="rId4"/>
          <a:srcRect l="0" r="0" t="0" b="0"/>
          <a:stretch/>
        </p:blipFill>
        <p:spPr>
          <a:xfrm>
            <a:off x="571500" y="3461918"/>
            <a:ext cx="190195" cy="190195"/>
          </a:xfrm>
          <a:prstGeom prst="rect">
            <a:avLst/>
          </a:prstGeom>
        </p:spPr>
      </p:pic>
      <p:sp>
        <p:nvSpPr>
          <p:cNvPr id="12" name="Text 6"/>
          <p:cNvSpPr txBox="1"/>
          <p:nvPr/>
        </p:nvSpPr>
        <p:spPr>
          <a:xfrm>
            <a:off x="914400" y="3372307"/>
            <a:ext cx="4967935"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MIG/NVLink-C2C/車載IOで 安全分離とスケーラビリティを両立</a:t>
            </a:r>
            <a:endParaRPr lang="en-US" sz="1300" dirty="0"/>
          </a:p>
        </p:txBody>
      </p:sp>
      <p:pic>
        <p:nvPicPr>
          <p:cNvPr id="13" name="Image 4" descr="preencoded.png">    </p:cNvPr>
          <p:cNvPicPr>
            <a:picLocks noChangeAspect="1"/>
          </p:cNvPicPr>
          <p:nvPr/>
        </p:nvPicPr>
        <p:blipFill>
          <a:blip r:embed="rId5"/>
          <a:srcRect l="119" r="119" t="0" b="0"/>
          <a:stretch/>
        </p:blipFill>
        <p:spPr>
          <a:xfrm>
            <a:off x="7239305" y="1932127"/>
            <a:ext cx="4381805" cy="2467051"/>
          </a:xfrm>
          <a:prstGeom prst="rect">
            <a:avLst/>
          </a:prstGeom>
        </p:spPr>
      </p:pic>
      <p:sp>
        <p:nvSpPr>
          <p:cNvPr id="14" name="Text 7"/>
          <p:cNvSpPr txBox="1"/>
          <p:nvPr/>
        </p:nvSpPr>
        <p:spPr>
          <a:xfrm>
            <a:off x="8223199" y="4545482"/>
            <a:ext cx="25200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DRIVE AGX Thor Development Platform</a:t>
            </a:r>
            <a:endParaRPr lang="en-US" sz="1000" dirty="0"/>
          </a:p>
        </p:txBody>
      </p:sp>
      <p:sp>
        <p:nvSpPr>
          <p:cNvPr id="15" name="Text 8"/>
          <p:cNvSpPr txBox="1"/>
          <p:nvPr/>
        </p:nvSpPr>
        <p:spPr>
          <a:xfrm>
            <a:off x="7798918" y="4735678"/>
            <a:ext cx="3367735"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DRIVE AGX Thor Platform for Developers</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963302"/>
          </a:xfrm>
          <a:prstGeom prst="rect">
            <a:avLst/>
          </a:prstGeom>
          <a:solidFill>
            <a:srgbClr val="FFFFFF"/>
          </a:solidFill>
          <a:ln/>
        </p:spPr>
      </p:sp>
      <p:sp>
        <p:nvSpPr>
          <p:cNvPr id="3" name="Text 1"/>
          <p:cNvSpPr txBox="1"/>
          <p:nvPr/>
        </p:nvSpPr>
        <p:spPr>
          <a:xfrm>
            <a:off x="609905" y="323698"/>
            <a:ext cx="60103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Orin → Thor の進化軸（1枚に集約）</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3543300"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Orin SoC（2022年）Ampere GPU搭載</a:t>
            </a:r>
            <a:endParaRPr lang="en-US" sz="1500" dirty="0"/>
          </a:p>
        </p:txBody>
      </p:sp>
      <p:sp>
        <p:nvSpPr>
          <p:cNvPr id="8" name="Shape 6"/>
          <p:cNvSpPr/>
          <p:nvPr/>
        </p:nvSpPr>
        <p:spPr>
          <a:xfrm>
            <a:off x="609905" y="1923898"/>
            <a:ext cx="5257800" cy="2667305"/>
          </a:xfrm>
          <a:prstGeom prst="roundRect">
            <a:avLst>
              <a:gd name="adj" fmla="val 735"/>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628900"/>
            <a:ext cx="342900" cy="342900"/>
          </a:xfrm>
          <a:prstGeom prst="rect">
            <a:avLst/>
          </a:prstGeom>
        </p:spPr>
      </p:pic>
      <p:sp>
        <p:nvSpPr>
          <p:cNvPr id="10" name="Text 7"/>
          <p:cNvSpPr txBox="1"/>
          <p:nvPr/>
        </p:nvSpPr>
        <p:spPr>
          <a:xfrm>
            <a:off x="1607515" y="3095244"/>
            <a:ext cx="1690726"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Orin SoCブロック図</a:t>
            </a:r>
            <a:endParaRPr lang="en-US" sz="1300" dirty="0"/>
          </a:p>
        </p:txBody>
      </p:sp>
      <p:sp>
        <p:nvSpPr>
          <p:cNvPr id="11" name="Text 8"/>
          <p:cNvSpPr txBox="1"/>
          <p:nvPr/>
        </p:nvSpPr>
        <p:spPr>
          <a:xfrm>
            <a:off x="1607515" y="3362249"/>
            <a:ext cx="3396082"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（Ampere GPU, Arm Cortex-A78AE CPU）</a:t>
            </a:r>
            <a:endParaRPr lang="en-US" sz="1300" dirty="0"/>
          </a:p>
        </p:txBody>
      </p:sp>
      <p:sp>
        <p:nvSpPr>
          <p:cNvPr id="12" name="Text 9"/>
          <p:cNvSpPr txBox="1"/>
          <p:nvPr/>
        </p:nvSpPr>
        <p:spPr>
          <a:xfrm>
            <a:off x="2104949" y="3696005"/>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Jetson AGX Orin Technical Brief</a:t>
            </a:r>
            <a:endParaRPr lang="en-US" sz="1000" dirty="0"/>
          </a:p>
        </p:txBody>
      </p:sp>
      <p:sp>
        <p:nvSpPr>
          <p:cNvPr id="13" name="Shape 10"/>
          <p:cNvSpPr/>
          <p:nvPr/>
        </p:nvSpPr>
        <p:spPr>
          <a:xfrm>
            <a:off x="609905" y="4743907"/>
            <a:ext cx="5257800" cy="1447495"/>
          </a:xfrm>
          <a:prstGeom prst="roundRect">
            <a:avLst>
              <a:gd name="adj" fmla="val 3325"/>
            </a:avLst>
          </a:prstGeom>
          <a:solidFill>
            <a:srgbClr val="F3F4F6"/>
          </a:solidFill>
          <a:ln/>
        </p:spPr>
      </p:sp>
      <p:sp>
        <p:nvSpPr>
          <p:cNvPr id="14" name="Text 11"/>
          <p:cNvSpPr txBox="1"/>
          <p:nvPr/>
        </p:nvSpPr>
        <p:spPr>
          <a:xfrm>
            <a:off x="761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15" name="Text 12"/>
          <p:cNvSpPr txBox="1"/>
          <p:nvPr/>
        </p:nvSpPr>
        <p:spPr>
          <a:xfrm>
            <a:off x="990295" y="5124298"/>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16" name="Text 13"/>
          <p:cNvSpPr txBox="1"/>
          <p:nvPr/>
        </p:nvSpPr>
        <p:spPr>
          <a:xfrm>
            <a:off x="990295" y="5352898"/>
            <a:ext cx="28099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CPUコア (最大12基)</a:t>
            </a:r>
            <a:endParaRPr lang="en-US" sz="1200" dirty="0"/>
          </a:p>
        </p:txBody>
      </p:sp>
      <p:sp>
        <p:nvSpPr>
          <p:cNvPr id="17" name="Text 14"/>
          <p:cNvSpPr txBox="1"/>
          <p:nvPr/>
        </p:nvSpPr>
        <p:spPr>
          <a:xfrm>
            <a:off x="990295" y="55814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第3世代Tensor Core搭載 Ampere GPU</a:t>
            </a:r>
            <a:endParaRPr lang="en-US" sz="1200" dirty="0"/>
          </a:p>
        </p:txBody>
      </p:sp>
      <p:sp>
        <p:nvSpPr>
          <p:cNvPr id="18" name="Text 15"/>
          <p:cNvSpPr txBox="1"/>
          <p:nvPr/>
        </p:nvSpPr>
        <p:spPr>
          <a:xfrm>
            <a:off x="990295" y="5810098"/>
            <a:ext cx="25054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LPDDR5メモリ（最大204.8 GB/s）</a:t>
            </a:r>
            <a:endParaRPr lang="en-US" sz="1200" dirty="0"/>
          </a:p>
        </p:txBody>
      </p:sp>
      <p:sp>
        <p:nvSpPr>
          <p:cNvPr id="19" name="Shape 16"/>
          <p:cNvSpPr/>
          <p:nvPr/>
        </p:nvSpPr>
        <p:spPr>
          <a:xfrm>
            <a:off x="6324905" y="1295705"/>
            <a:ext cx="5257800" cy="476402"/>
          </a:xfrm>
          <a:prstGeom prst="roundRect">
            <a:avLst>
              <a:gd name="adj" fmla="val 30710"/>
            </a:avLst>
          </a:prstGeom>
          <a:solidFill>
            <a:srgbClr val="F6F6F6"/>
          </a:solidFill>
          <a:ln/>
        </p:spPr>
      </p:sp>
      <p:sp>
        <p:nvSpPr>
          <p:cNvPr id="20" name="Shape 17"/>
          <p:cNvSpPr/>
          <p:nvPr/>
        </p:nvSpPr>
        <p:spPr>
          <a:xfrm>
            <a:off x="6324905" y="1752905"/>
            <a:ext cx="5257800" cy="19202"/>
          </a:xfrm>
          <a:prstGeom prst="rect">
            <a:avLst/>
          </a:prstGeom>
          <a:solidFill>
            <a:srgbClr val="76B900"/>
          </a:solidFill>
          <a:ln/>
        </p:spPr>
      </p:sp>
      <p:sp>
        <p:nvSpPr>
          <p:cNvPr id="21" name="Text 18"/>
          <p:cNvSpPr txBox="1"/>
          <p:nvPr/>
        </p:nvSpPr>
        <p:spPr>
          <a:xfrm>
            <a:off x="6420002" y="1380744"/>
            <a:ext cx="3934663"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Thor-X SoC（2025年）Blackwell GPU搭載</a:t>
            </a:r>
            <a:endParaRPr lang="en-US" sz="1500" dirty="0"/>
          </a:p>
        </p:txBody>
      </p:sp>
      <p:sp>
        <p:nvSpPr>
          <p:cNvPr id="22" name="Shape 19"/>
          <p:cNvSpPr/>
          <p:nvPr/>
        </p:nvSpPr>
        <p:spPr>
          <a:xfrm>
            <a:off x="6324905" y="1923898"/>
            <a:ext cx="5257800" cy="2667305"/>
          </a:xfrm>
          <a:prstGeom prst="roundRect">
            <a:avLst>
              <a:gd name="adj" fmla="val 735"/>
            </a:avLst>
          </a:prstGeom>
          <a:solidFill>
            <a:srgbClr val="F9F9F9"/>
          </a:solidFill>
          <a:ln w="12700">
            <a:solidFill>
              <a:srgbClr val="E0E0E0"/>
            </a:solidFill>
            <a:prstDash val="solid"/>
          </a:ln>
        </p:spPr>
      </p:sp>
      <p:pic>
        <p:nvPicPr>
          <p:cNvPr id="23" name="Image 1" descr="preencoded.png">    </p:cNvPr>
          <p:cNvPicPr>
            <a:picLocks noChangeAspect="1"/>
          </p:cNvPicPr>
          <p:nvPr/>
        </p:nvPicPr>
        <p:blipFill>
          <a:blip r:embed="rId2"/>
          <a:srcRect l="0" r="0" t="0" b="0"/>
          <a:stretch/>
        </p:blipFill>
        <p:spPr>
          <a:xfrm>
            <a:off x="8781898" y="2628900"/>
            <a:ext cx="342900" cy="342900"/>
          </a:xfrm>
          <a:prstGeom prst="rect">
            <a:avLst/>
          </a:prstGeom>
        </p:spPr>
      </p:pic>
      <p:sp>
        <p:nvSpPr>
          <p:cNvPr id="24" name="Text 20"/>
          <p:cNvSpPr txBox="1"/>
          <p:nvPr/>
        </p:nvSpPr>
        <p:spPr>
          <a:xfrm>
            <a:off x="7197242" y="3095244"/>
            <a:ext cx="1528877"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Thor-X SoC構成図</a:t>
            </a:r>
            <a:endParaRPr lang="en-US" sz="1300" dirty="0"/>
          </a:p>
        </p:txBody>
      </p:sp>
      <p:sp>
        <p:nvSpPr>
          <p:cNvPr id="25" name="Text 21"/>
          <p:cNvSpPr txBox="1"/>
          <p:nvPr/>
        </p:nvSpPr>
        <p:spPr>
          <a:xfrm>
            <a:off x="7197242" y="3362249"/>
            <a:ext cx="3643884"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（Blackwell GPU, Arm Neoverse V3AE CPU）</a:t>
            </a:r>
            <a:endParaRPr lang="en-US" sz="1300" dirty="0"/>
          </a:p>
        </p:txBody>
      </p:sp>
      <p:sp>
        <p:nvSpPr>
          <p:cNvPr id="26" name="Text 22"/>
          <p:cNvSpPr txBox="1"/>
          <p:nvPr/>
        </p:nvSpPr>
        <p:spPr>
          <a:xfrm>
            <a:off x="7874813" y="3696005"/>
            <a:ext cx="22622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DRIVE AGX Thor Platform PDF</a:t>
            </a:r>
            <a:endParaRPr lang="en-US" sz="1000" dirty="0"/>
          </a:p>
        </p:txBody>
      </p:sp>
      <p:sp>
        <p:nvSpPr>
          <p:cNvPr id="27" name="Shape 23"/>
          <p:cNvSpPr/>
          <p:nvPr/>
        </p:nvSpPr>
        <p:spPr>
          <a:xfrm>
            <a:off x="6324905" y="4743907"/>
            <a:ext cx="5257800" cy="1447495"/>
          </a:xfrm>
          <a:prstGeom prst="roundRect">
            <a:avLst>
              <a:gd name="adj" fmla="val 3325"/>
            </a:avLst>
          </a:prstGeom>
          <a:solidFill>
            <a:srgbClr val="F3F4F6"/>
          </a:solidFill>
          <a:ln/>
        </p:spPr>
      </p:sp>
      <p:sp>
        <p:nvSpPr>
          <p:cNvPr id="28" name="Text 24"/>
          <p:cNvSpPr txBox="1"/>
          <p:nvPr/>
        </p:nvSpPr>
        <p:spPr>
          <a:xfrm>
            <a:off x="6476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29" name="Text 25"/>
          <p:cNvSpPr txBox="1"/>
          <p:nvPr/>
        </p:nvSpPr>
        <p:spPr>
          <a:xfrm>
            <a:off x="6705295" y="5124298"/>
            <a:ext cx="21241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a:t>
            </a:r>
            <a:endParaRPr lang="en-US" sz="1200" dirty="0"/>
          </a:p>
        </p:txBody>
      </p:sp>
      <p:sp>
        <p:nvSpPr>
          <p:cNvPr id="30" name="Text 26"/>
          <p:cNvSpPr txBox="1"/>
          <p:nvPr/>
        </p:nvSpPr>
        <p:spPr>
          <a:xfrm>
            <a:off x="6705295" y="5352898"/>
            <a:ext cx="23244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高性能 Arm Neoverse V3AE CPU</a:t>
            </a:r>
            <a:endParaRPr lang="en-US" sz="1200" dirty="0"/>
          </a:p>
        </p:txBody>
      </p:sp>
      <p:sp>
        <p:nvSpPr>
          <p:cNvPr id="31" name="Text 27"/>
          <p:cNvSpPr txBox="1"/>
          <p:nvPr/>
        </p:nvSpPr>
        <p:spPr>
          <a:xfrm>
            <a:off x="6705295" y="55814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第5世代Tensor Core搭載 Blackwell GPU</a:t>
            </a:r>
            <a:endParaRPr lang="en-US" sz="1200" dirty="0"/>
          </a:p>
        </p:txBody>
      </p:sp>
      <p:sp>
        <p:nvSpPr>
          <p:cNvPr id="32" name="Text 28"/>
          <p:cNvSpPr txBox="1"/>
          <p:nvPr/>
        </p:nvSpPr>
        <p:spPr>
          <a:xfrm>
            <a:off x="6705295" y="58100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高帯域メモリ（~273 GB/s）</a:t>
            </a:r>
            <a:endParaRPr lang="en-US" sz="1200" dirty="0"/>
          </a:p>
        </p:txBody>
      </p:sp>
      <p:sp>
        <p:nvSpPr>
          <p:cNvPr id="33" name="Text 29"/>
          <p:cNvSpPr txBox="1"/>
          <p:nvPr/>
        </p:nvSpPr>
        <p:spPr>
          <a:xfrm>
            <a:off x="609905" y="6429146"/>
            <a:ext cx="2891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Orin → Thor 主要アップデート比較</a:t>
            </a:r>
            <a:endParaRPr lang="en-US" sz="1300" dirty="0"/>
          </a:p>
        </p:txBody>
      </p:sp>
      <p:sp>
        <p:nvSpPr>
          <p:cNvPr id="34" name="Shape 30"/>
          <p:cNvSpPr/>
          <p:nvPr/>
        </p:nvSpPr>
        <p:spPr>
          <a:xfrm>
            <a:off x="609905" y="6877202"/>
            <a:ext cx="1733702" cy="390449"/>
          </a:xfrm>
          <a:prstGeom prst="rect">
            <a:avLst/>
          </a:prstGeom>
          <a:solidFill>
            <a:srgbClr val="F6F6F6"/>
          </a:solidFill>
          <a:ln/>
        </p:spPr>
      </p:sp>
      <p:sp>
        <p:nvSpPr>
          <p:cNvPr id="35" name="Shape 31"/>
          <p:cNvSpPr/>
          <p:nvPr/>
        </p:nvSpPr>
        <p:spPr>
          <a:xfrm>
            <a:off x="609905" y="7248449"/>
            <a:ext cx="1733702" cy="19202"/>
          </a:xfrm>
          <a:prstGeom prst="rect">
            <a:avLst/>
          </a:prstGeom>
          <a:solidFill>
            <a:srgbClr val="76B900"/>
          </a:solidFill>
          <a:ln/>
        </p:spPr>
      </p:sp>
      <p:sp>
        <p:nvSpPr>
          <p:cNvPr id="36" name="Shape 32"/>
          <p:cNvSpPr/>
          <p:nvPr/>
        </p:nvSpPr>
        <p:spPr>
          <a:xfrm>
            <a:off x="2338121" y="6877202"/>
            <a:ext cx="3781044" cy="390449"/>
          </a:xfrm>
          <a:prstGeom prst="rect">
            <a:avLst/>
          </a:prstGeom>
          <a:solidFill>
            <a:srgbClr val="F6F6F6"/>
          </a:solidFill>
          <a:ln/>
        </p:spPr>
      </p:sp>
      <p:sp>
        <p:nvSpPr>
          <p:cNvPr id="37" name="Shape 33"/>
          <p:cNvSpPr/>
          <p:nvPr/>
        </p:nvSpPr>
        <p:spPr>
          <a:xfrm>
            <a:off x="2338121" y="7248449"/>
            <a:ext cx="3781044" cy="19202"/>
          </a:xfrm>
          <a:prstGeom prst="rect">
            <a:avLst/>
          </a:prstGeom>
          <a:solidFill>
            <a:srgbClr val="76B900"/>
          </a:solidFill>
          <a:ln/>
        </p:spPr>
      </p:sp>
      <p:sp>
        <p:nvSpPr>
          <p:cNvPr id="38" name="Shape 34"/>
          <p:cNvSpPr/>
          <p:nvPr/>
        </p:nvSpPr>
        <p:spPr>
          <a:xfrm>
            <a:off x="6729984" y="6877202"/>
            <a:ext cx="4858207" cy="390449"/>
          </a:xfrm>
          <a:prstGeom prst="rect">
            <a:avLst/>
          </a:prstGeom>
          <a:solidFill>
            <a:srgbClr val="F6F6F6"/>
          </a:solidFill>
          <a:ln/>
        </p:spPr>
      </p:sp>
      <p:sp>
        <p:nvSpPr>
          <p:cNvPr id="39" name="Shape 35"/>
          <p:cNvSpPr/>
          <p:nvPr/>
        </p:nvSpPr>
        <p:spPr>
          <a:xfrm>
            <a:off x="6729984" y="7248449"/>
            <a:ext cx="4858207" cy="19202"/>
          </a:xfrm>
          <a:prstGeom prst="rect">
            <a:avLst/>
          </a:prstGeom>
          <a:solidFill>
            <a:srgbClr val="76B900"/>
          </a:solidFill>
          <a:ln/>
        </p:spPr>
      </p:sp>
      <p:sp>
        <p:nvSpPr>
          <p:cNvPr id="40" name="Text 36"/>
          <p:cNvSpPr txBox="1"/>
          <p:nvPr/>
        </p:nvSpPr>
        <p:spPr>
          <a:xfrm>
            <a:off x="1321308" y="6953098"/>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41" name="Text 37"/>
          <p:cNvSpPr txBox="1"/>
          <p:nvPr/>
        </p:nvSpPr>
        <p:spPr>
          <a:xfrm>
            <a:off x="4059936" y="6953098"/>
            <a:ext cx="4480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Orin</a:t>
            </a:r>
            <a:endParaRPr lang="en-US" sz="1200" dirty="0"/>
          </a:p>
        </p:txBody>
      </p:sp>
      <p:sp>
        <p:nvSpPr>
          <p:cNvPr id="42" name="Text 38"/>
          <p:cNvSpPr txBox="1"/>
          <p:nvPr/>
        </p:nvSpPr>
        <p:spPr>
          <a:xfrm>
            <a:off x="8978494" y="6953098"/>
            <a:ext cx="47640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Thor</a:t>
            </a:r>
            <a:endParaRPr lang="en-US" sz="1200" dirty="0"/>
          </a:p>
        </p:txBody>
      </p:sp>
      <p:sp>
        <p:nvSpPr>
          <p:cNvPr id="43" name="Shape 39"/>
          <p:cNvSpPr/>
          <p:nvPr/>
        </p:nvSpPr>
        <p:spPr>
          <a:xfrm>
            <a:off x="6110021" y="6877202"/>
            <a:ext cx="619049" cy="390449"/>
          </a:xfrm>
          <a:prstGeom prst="rect">
            <a:avLst/>
          </a:prstGeom>
          <a:solidFill>
            <a:srgbClr val="F6F6F6"/>
          </a:solidFill>
          <a:ln/>
        </p:spPr>
      </p:sp>
      <p:sp>
        <p:nvSpPr>
          <p:cNvPr id="44" name="Shape 40"/>
          <p:cNvSpPr/>
          <p:nvPr/>
        </p:nvSpPr>
        <p:spPr>
          <a:xfrm>
            <a:off x="6110021" y="7248449"/>
            <a:ext cx="619049" cy="19202"/>
          </a:xfrm>
          <a:prstGeom prst="rect">
            <a:avLst/>
          </a:prstGeom>
          <a:solidFill>
            <a:srgbClr val="76B900"/>
          </a:solidFill>
          <a:ln/>
        </p:spPr>
      </p:sp>
      <p:sp>
        <p:nvSpPr>
          <p:cNvPr id="45" name="Shape 41"/>
          <p:cNvSpPr/>
          <p:nvPr/>
        </p:nvSpPr>
        <p:spPr>
          <a:xfrm>
            <a:off x="609905" y="7677302"/>
            <a:ext cx="1733702" cy="9144"/>
          </a:xfrm>
          <a:prstGeom prst="rect">
            <a:avLst/>
          </a:prstGeom>
          <a:solidFill>
            <a:srgbClr val="E0E0E0"/>
          </a:solidFill>
          <a:ln/>
        </p:spPr>
      </p:sp>
      <p:sp>
        <p:nvSpPr>
          <p:cNvPr id="46" name="Shape 42"/>
          <p:cNvSpPr/>
          <p:nvPr/>
        </p:nvSpPr>
        <p:spPr>
          <a:xfrm>
            <a:off x="2338121" y="7677302"/>
            <a:ext cx="3781044" cy="9144"/>
          </a:xfrm>
          <a:prstGeom prst="rect">
            <a:avLst/>
          </a:prstGeom>
          <a:solidFill>
            <a:srgbClr val="E0E0E0"/>
          </a:solidFill>
          <a:ln/>
        </p:spPr>
      </p:sp>
      <p:sp>
        <p:nvSpPr>
          <p:cNvPr id="47" name="Shape 43"/>
          <p:cNvSpPr/>
          <p:nvPr/>
        </p:nvSpPr>
        <p:spPr>
          <a:xfrm>
            <a:off x="609905" y="8082382"/>
            <a:ext cx="1733702" cy="9144"/>
          </a:xfrm>
          <a:prstGeom prst="rect">
            <a:avLst/>
          </a:prstGeom>
          <a:solidFill>
            <a:srgbClr val="E0E0E0"/>
          </a:solidFill>
          <a:ln/>
        </p:spPr>
      </p:sp>
      <p:sp>
        <p:nvSpPr>
          <p:cNvPr id="48" name="Shape 44"/>
          <p:cNvSpPr/>
          <p:nvPr/>
        </p:nvSpPr>
        <p:spPr>
          <a:xfrm>
            <a:off x="2338121" y="8082382"/>
            <a:ext cx="3781044" cy="9144"/>
          </a:xfrm>
          <a:prstGeom prst="rect">
            <a:avLst/>
          </a:prstGeom>
          <a:solidFill>
            <a:srgbClr val="E0E0E0"/>
          </a:solidFill>
          <a:ln/>
        </p:spPr>
      </p:sp>
      <p:sp>
        <p:nvSpPr>
          <p:cNvPr id="49" name="Text 45"/>
          <p:cNvSpPr txBox="1"/>
          <p:nvPr/>
        </p:nvSpPr>
        <p:spPr>
          <a:xfrm>
            <a:off x="724205" y="7362749"/>
            <a:ext cx="734263"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プロセス</a:t>
            </a:r>
            <a:endParaRPr lang="en-US" sz="1200" dirty="0"/>
          </a:p>
        </p:txBody>
      </p:sp>
      <p:sp>
        <p:nvSpPr>
          <p:cNvPr id="50" name="Text 46"/>
          <p:cNvSpPr txBox="1"/>
          <p:nvPr/>
        </p:nvSpPr>
        <p:spPr>
          <a:xfrm>
            <a:off x="2452421" y="7362749"/>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51" name="Shape 47"/>
          <p:cNvSpPr/>
          <p:nvPr/>
        </p:nvSpPr>
        <p:spPr>
          <a:xfrm>
            <a:off x="6110021" y="7677302"/>
            <a:ext cx="619049" cy="9144"/>
          </a:xfrm>
          <a:prstGeom prst="rect">
            <a:avLst/>
          </a:prstGeom>
          <a:solidFill>
            <a:srgbClr val="E0E0E0"/>
          </a:solidFill>
          <a:ln/>
        </p:spPr>
      </p:sp>
      <p:pic>
        <p:nvPicPr>
          <p:cNvPr id="52" name="Image 2" descr="preencoded.png">    </p:cNvPr>
          <p:cNvPicPr>
            <a:picLocks noChangeAspect="1"/>
          </p:cNvPicPr>
          <p:nvPr/>
        </p:nvPicPr>
        <p:blipFill>
          <a:blip r:embed="rId3"/>
          <a:srcRect l="-57" r="-57" t="0" b="0"/>
          <a:stretch/>
        </p:blipFill>
        <p:spPr>
          <a:xfrm>
            <a:off x="6320333" y="7353605"/>
            <a:ext cx="200254" cy="228600"/>
          </a:xfrm>
          <a:prstGeom prst="rect">
            <a:avLst/>
          </a:prstGeom>
        </p:spPr>
      </p:pic>
      <p:sp>
        <p:nvSpPr>
          <p:cNvPr id="53" name="Text 48"/>
          <p:cNvSpPr txBox="1"/>
          <p:nvPr/>
        </p:nvSpPr>
        <p:spPr>
          <a:xfrm>
            <a:off x="724205" y="7772400"/>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54" name="Text 49"/>
          <p:cNvSpPr txBox="1"/>
          <p:nvPr/>
        </p:nvSpPr>
        <p:spPr>
          <a:xfrm>
            <a:off x="2452421" y="7772400"/>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(最大12コア)</a:t>
            </a:r>
            <a:endParaRPr lang="en-US" sz="1200" dirty="0"/>
          </a:p>
        </p:txBody>
      </p:sp>
      <p:sp>
        <p:nvSpPr>
          <p:cNvPr id="55" name="Shape 50"/>
          <p:cNvSpPr/>
          <p:nvPr/>
        </p:nvSpPr>
        <p:spPr>
          <a:xfrm>
            <a:off x="6110021" y="8082382"/>
            <a:ext cx="619049" cy="9144"/>
          </a:xfrm>
          <a:prstGeom prst="rect">
            <a:avLst/>
          </a:prstGeom>
          <a:solidFill>
            <a:srgbClr val="E0E0E0"/>
          </a:solidFill>
          <a:ln/>
        </p:spPr>
      </p:sp>
      <p:sp>
        <p:nvSpPr>
          <p:cNvPr id="56" name="Shape 51"/>
          <p:cNvSpPr/>
          <p:nvPr/>
        </p:nvSpPr>
        <p:spPr>
          <a:xfrm>
            <a:off x="6729984" y="7267651"/>
            <a:ext cx="4858207" cy="418795"/>
          </a:xfrm>
          <a:prstGeom prst="rect">
            <a:avLst/>
          </a:prstGeom>
          <a:solidFill>
            <a:srgbClr val="76B900">
              <a:alpha val="10000"/>
            </a:srgbClr>
          </a:solidFill>
          <a:ln/>
        </p:spPr>
      </p:sp>
      <p:sp>
        <p:nvSpPr>
          <p:cNvPr id="57" name="Shape 52"/>
          <p:cNvSpPr/>
          <p:nvPr/>
        </p:nvSpPr>
        <p:spPr>
          <a:xfrm>
            <a:off x="6729984" y="7677302"/>
            <a:ext cx="4858207" cy="9144"/>
          </a:xfrm>
          <a:prstGeom prst="rect">
            <a:avLst/>
          </a:prstGeom>
          <a:solidFill>
            <a:srgbClr val="E0E0E0"/>
          </a:solidFill>
          <a:ln/>
        </p:spPr>
      </p:sp>
      <p:pic>
        <p:nvPicPr>
          <p:cNvPr id="58" name="Image 3" descr="preencoded.png">    </p:cNvPr>
          <p:cNvPicPr>
            <a:picLocks noChangeAspect="1"/>
          </p:cNvPicPr>
          <p:nvPr/>
        </p:nvPicPr>
        <p:blipFill>
          <a:blip r:embed="rId4"/>
          <a:srcRect l="-57" r="-57" t="0" b="0"/>
          <a:stretch/>
        </p:blipFill>
        <p:spPr>
          <a:xfrm>
            <a:off x="6320333" y="7763256"/>
            <a:ext cx="200254" cy="228600"/>
          </a:xfrm>
          <a:prstGeom prst="rect">
            <a:avLst/>
          </a:prstGeom>
        </p:spPr>
      </p:pic>
      <p:sp>
        <p:nvSpPr>
          <p:cNvPr id="59" name="Shape 53"/>
          <p:cNvSpPr/>
          <p:nvPr/>
        </p:nvSpPr>
        <p:spPr>
          <a:xfrm>
            <a:off x="609905" y="8492033"/>
            <a:ext cx="1733702" cy="9144"/>
          </a:xfrm>
          <a:prstGeom prst="rect">
            <a:avLst/>
          </a:prstGeom>
          <a:solidFill>
            <a:srgbClr val="E0E0E0"/>
          </a:solidFill>
          <a:ln/>
        </p:spPr>
      </p:sp>
      <p:sp>
        <p:nvSpPr>
          <p:cNvPr id="60" name="Shape 54"/>
          <p:cNvSpPr/>
          <p:nvPr/>
        </p:nvSpPr>
        <p:spPr>
          <a:xfrm>
            <a:off x="2338121" y="8492033"/>
            <a:ext cx="3781044" cy="9144"/>
          </a:xfrm>
          <a:prstGeom prst="rect">
            <a:avLst/>
          </a:prstGeom>
          <a:solidFill>
            <a:srgbClr val="E0E0E0"/>
          </a:solidFill>
          <a:ln/>
        </p:spPr>
      </p:sp>
      <p:sp>
        <p:nvSpPr>
          <p:cNvPr id="61" name="Shape 55"/>
          <p:cNvSpPr/>
          <p:nvPr/>
        </p:nvSpPr>
        <p:spPr>
          <a:xfrm>
            <a:off x="609905" y="8901684"/>
            <a:ext cx="1733702" cy="9144"/>
          </a:xfrm>
          <a:prstGeom prst="rect">
            <a:avLst/>
          </a:prstGeom>
          <a:solidFill>
            <a:srgbClr val="E0E0E0"/>
          </a:solidFill>
          <a:ln/>
        </p:spPr>
      </p:sp>
      <p:sp>
        <p:nvSpPr>
          <p:cNvPr id="62" name="Shape 56"/>
          <p:cNvSpPr/>
          <p:nvPr/>
        </p:nvSpPr>
        <p:spPr>
          <a:xfrm>
            <a:off x="2338121" y="8901684"/>
            <a:ext cx="3781044" cy="9144"/>
          </a:xfrm>
          <a:prstGeom prst="rect">
            <a:avLst/>
          </a:prstGeom>
          <a:solidFill>
            <a:srgbClr val="E0E0E0"/>
          </a:solidFill>
          <a:ln/>
        </p:spPr>
      </p:sp>
      <p:sp>
        <p:nvSpPr>
          <p:cNvPr id="63" name="Shape 57"/>
          <p:cNvSpPr/>
          <p:nvPr/>
        </p:nvSpPr>
        <p:spPr>
          <a:xfrm>
            <a:off x="609905" y="9311335"/>
            <a:ext cx="1733702" cy="9144"/>
          </a:xfrm>
          <a:prstGeom prst="rect">
            <a:avLst/>
          </a:prstGeom>
          <a:solidFill>
            <a:srgbClr val="E0E0E0"/>
          </a:solidFill>
          <a:ln/>
        </p:spPr>
      </p:sp>
      <p:sp>
        <p:nvSpPr>
          <p:cNvPr id="64" name="Shape 58"/>
          <p:cNvSpPr/>
          <p:nvPr/>
        </p:nvSpPr>
        <p:spPr>
          <a:xfrm>
            <a:off x="2338121" y="9311335"/>
            <a:ext cx="3781044" cy="9144"/>
          </a:xfrm>
          <a:prstGeom prst="rect">
            <a:avLst/>
          </a:prstGeom>
          <a:solidFill>
            <a:srgbClr val="E0E0E0"/>
          </a:solidFill>
          <a:ln/>
        </p:spPr>
      </p:sp>
      <p:sp>
        <p:nvSpPr>
          <p:cNvPr id="65" name="Shape 59"/>
          <p:cNvSpPr/>
          <p:nvPr/>
        </p:nvSpPr>
        <p:spPr>
          <a:xfrm>
            <a:off x="609905" y="9720986"/>
            <a:ext cx="1733702" cy="9144"/>
          </a:xfrm>
          <a:prstGeom prst="rect">
            <a:avLst/>
          </a:prstGeom>
          <a:solidFill>
            <a:srgbClr val="E0E0E0"/>
          </a:solidFill>
          <a:ln/>
        </p:spPr>
      </p:sp>
      <p:sp>
        <p:nvSpPr>
          <p:cNvPr id="66" name="Shape 60"/>
          <p:cNvSpPr/>
          <p:nvPr/>
        </p:nvSpPr>
        <p:spPr>
          <a:xfrm>
            <a:off x="2338121" y="9720986"/>
            <a:ext cx="3781044" cy="9144"/>
          </a:xfrm>
          <a:prstGeom prst="rect">
            <a:avLst/>
          </a:prstGeom>
          <a:solidFill>
            <a:srgbClr val="E0E0E0"/>
          </a:solidFill>
          <a:ln/>
        </p:spPr>
      </p:sp>
      <p:sp>
        <p:nvSpPr>
          <p:cNvPr id="67" name="Text 61"/>
          <p:cNvSpPr txBox="1"/>
          <p:nvPr/>
        </p:nvSpPr>
        <p:spPr>
          <a:xfrm>
            <a:off x="724205" y="8182051"/>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68" name="Text 62"/>
          <p:cNvSpPr txBox="1"/>
          <p:nvPr/>
        </p:nvSpPr>
        <p:spPr>
          <a:xfrm>
            <a:off x="2452421" y="8182051"/>
            <a:ext cx="32863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アーキテクチャ (第3世代Tensor Core)</a:t>
            </a:r>
            <a:endParaRPr lang="en-US" sz="1200" dirty="0"/>
          </a:p>
        </p:txBody>
      </p:sp>
      <p:sp>
        <p:nvSpPr>
          <p:cNvPr id="69" name="Text 63"/>
          <p:cNvSpPr txBox="1"/>
          <p:nvPr/>
        </p:nvSpPr>
        <p:spPr>
          <a:xfrm>
            <a:off x="724205" y="85917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70" name="Text 64"/>
          <p:cNvSpPr txBox="1"/>
          <p:nvPr/>
        </p:nvSpPr>
        <p:spPr>
          <a:xfrm>
            <a:off x="2452421" y="8591702"/>
            <a:ext cx="21150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 (204.8 GB/s)</a:t>
            </a:r>
            <a:endParaRPr lang="en-US" sz="1200" dirty="0"/>
          </a:p>
        </p:txBody>
      </p:sp>
      <p:sp>
        <p:nvSpPr>
          <p:cNvPr id="71" name="Text 65"/>
          <p:cNvSpPr txBox="1"/>
          <p:nvPr/>
        </p:nvSpPr>
        <p:spPr>
          <a:xfrm>
            <a:off x="724205" y="9411005"/>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72" name="Text 66"/>
          <p:cNvSpPr txBox="1"/>
          <p:nvPr/>
        </p:nvSpPr>
        <p:spPr>
          <a:xfrm>
            <a:off x="2452421" y="9411005"/>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73" name="Shape 67"/>
          <p:cNvSpPr/>
          <p:nvPr/>
        </p:nvSpPr>
        <p:spPr>
          <a:xfrm>
            <a:off x="6110021" y="8492033"/>
            <a:ext cx="619049" cy="9144"/>
          </a:xfrm>
          <a:prstGeom prst="rect">
            <a:avLst/>
          </a:prstGeom>
          <a:solidFill>
            <a:srgbClr val="E0E0E0"/>
          </a:solidFill>
          <a:ln/>
        </p:spPr>
      </p:sp>
      <p:sp>
        <p:nvSpPr>
          <p:cNvPr id="74" name="Shape 68"/>
          <p:cNvSpPr/>
          <p:nvPr/>
        </p:nvSpPr>
        <p:spPr>
          <a:xfrm>
            <a:off x="6110021" y="8901684"/>
            <a:ext cx="619049" cy="9144"/>
          </a:xfrm>
          <a:prstGeom prst="rect">
            <a:avLst/>
          </a:prstGeom>
          <a:solidFill>
            <a:srgbClr val="E0E0E0"/>
          </a:solidFill>
          <a:ln/>
        </p:spPr>
      </p:sp>
      <p:sp>
        <p:nvSpPr>
          <p:cNvPr id="75" name="Shape 69"/>
          <p:cNvSpPr/>
          <p:nvPr/>
        </p:nvSpPr>
        <p:spPr>
          <a:xfrm>
            <a:off x="6110021" y="9311335"/>
            <a:ext cx="619049" cy="9144"/>
          </a:xfrm>
          <a:prstGeom prst="rect">
            <a:avLst/>
          </a:prstGeom>
          <a:solidFill>
            <a:srgbClr val="E0E0E0"/>
          </a:solidFill>
          <a:ln/>
        </p:spPr>
      </p:sp>
      <p:sp>
        <p:nvSpPr>
          <p:cNvPr id="76" name="Shape 70"/>
          <p:cNvSpPr/>
          <p:nvPr/>
        </p:nvSpPr>
        <p:spPr>
          <a:xfrm>
            <a:off x="6729984" y="7681874"/>
            <a:ext cx="4858207" cy="409651"/>
          </a:xfrm>
          <a:prstGeom prst="rect">
            <a:avLst/>
          </a:prstGeom>
          <a:solidFill>
            <a:srgbClr val="76B900">
              <a:alpha val="10000"/>
            </a:srgbClr>
          </a:solidFill>
          <a:ln/>
        </p:spPr>
      </p:sp>
      <p:sp>
        <p:nvSpPr>
          <p:cNvPr id="77" name="Shape 71"/>
          <p:cNvSpPr/>
          <p:nvPr/>
        </p:nvSpPr>
        <p:spPr>
          <a:xfrm>
            <a:off x="6729984" y="8082382"/>
            <a:ext cx="4858207" cy="9144"/>
          </a:xfrm>
          <a:prstGeom prst="rect">
            <a:avLst/>
          </a:prstGeom>
          <a:solidFill>
            <a:srgbClr val="E0E0E0"/>
          </a:solidFill>
          <a:ln/>
        </p:spPr>
      </p:sp>
      <p:sp>
        <p:nvSpPr>
          <p:cNvPr id="78" name="Shape 72"/>
          <p:cNvSpPr/>
          <p:nvPr/>
        </p:nvSpPr>
        <p:spPr>
          <a:xfrm>
            <a:off x="6729984" y="8091526"/>
            <a:ext cx="4858207" cy="409651"/>
          </a:xfrm>
          <a:prstGeom prst="rect">
            <a:avLst/>
          </a:prstGeom>
          <a:solidFill>
            <a:srgbClr val="76B900">
              <a:alpha val="10000"/>
            </a:srgbClr>
          </a:solidFill>
          <a:ln/>
        </p:spPr>
      </p:sp>
      <p:sp>
        <p:nvSpPr>
          <p:cNvPr id="79" name="Shape 73"/>
          <p:cNvSpPr/>
          <p:nvPr/>
        </p:nvSpPr>
        <p:spPr>
          <a:xfrm>
            <a:off x="6729984" y="8492033"/>
            <a:ext cx="4858207" cy="9144"/>
          </a:xfrm>
          <a:prstGeom prst="rect">
            <a:avLst/>
          </a:prstGeom>
          <a:solidFill>
            <a:srgbClr val="E0E0E0"/>
          </a:solidFill>
          <a:ln/>
        </p:spPr>
      </p:sp>
      <p:sp>
        <p:nvSpPr>
          <p:cNvPr id="80" name="Text 74"/>
          <p:cNvSpPr txBox="1"/>
          <p:nvPr/>
        </p:nvSpPr>
        <p:spPr>
          <a:xfrm>
            <a:off x="6844284" y="7772400"/>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 (2.3x 性能向上)</a:t>
            </a:r>
            <a:endParaRPr lang="en-US" sz="1200" dirty="0"/>
          </a:p>
        </p:txBody>
      </p:sp>
      <p:pic>
        <p:nvPicPr>
          <p:cNvPr id="81" name="Image 4" descr="preencoded.png">    </p:cNvPr>
          <p:cNvPicPr>
            <a:picLocks noChangeAspect="1"/>
          </p:cNvPicPr>
          <p:nvPr/>
        </p:nvPicPr>
        <p:blipFill>
          <a:blip r:embed="rId5"/>
          <a:srcRect l="-57" r="-57" t="0" b="0"/>
          <a:stretch/>
        </p:blipFill>
        <p:spPr>
          <a:xfrm>
            <a:off x="6320333" y="8172907"/>
            <a:ext cx="200254" cy="228600"/>
          </a:xfrm>
          <a:prstGeom prst="rect">
            <a:avLst/>
          </a:prstGeom>
        </p:spPr>
      </p:pic>
      <p:sp>
        <p:nvSpPr>
          <p:cNvPr id="82" name="Text 75"/>
          <p:cNvSpPr txBox="1"/>
          <p:nvPr/>
        </p:nvSpPr>
        <p:spPr>
          <a:xfrm>
            <a:off x="6844284" y="8182051"/>
            <a:ext cx="44677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 アーキテクチャ (第5世代Tensor Core、FP8/FP4対応)</a:t>
            </a:r>
            <a:endParaRPr lang="en-US" sz="1200" dirty="0"/>
          </a:p>
        </p:txBody>
      </p:sp>
      <p:pic>
        <p:nvPicPr>
          <p:cNvPr id="83" name="Image 5" descr="preencoded.png">    </p:cNvPr>
          <p:cNvPicPr>
            <a:picLocks noChangeAspect="1"/>
          </p:cNvPicPr>
          <p:nvPr/>
        </p:nvPicPr>
        <p:blipFill>
          <a:blip r:embed="rId6"/>
          <a:srcRect l="-57" r="-57" t="0" b="0"/>
          <a:stretch/>
        </p:blipFill>
        <p:spPr>
          <a:xfrm>
            <a:off x="6320333" y="8581644"/>
            <a:ext cx="200254" cy="228600"/>
          </a:xfrm>
          <a:prstGeom prst="rect">
            <a:avLst/>
          </a:prstGeom>
        </p:spPr>
      </p:pic>
      <p:sp>
        <p:nvSpPr>
          <p:cNvPr id="84" name="Text 76"/>
          <p:cNvSpPr txBox="1"/>
          <p:nvPr/>
        </p:nvSpPr>
        <p:spPr>
          <a:xfrm>
            <a:off x="724205" y="9001354"/>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85" name="Text 77"/>
          <p:cNvSpPr txBox="1"/>
          <p:nvPr/>
        </p:nvSpPr>
        <p:spPr>
          <a:xfrm>
            <a:off x="2452421" y="9001354"/>
            <a:ext cx="25246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 10GbE, 複数カメラ入力</a:t>
            </a:r>
            <a:endParaRPr lang="en-US" sz="1200" dirty="0"/>
          </a:p>
        </p:txBody>
      </p:sp>
      <p:sp>
        <p:nvSpPr>
          <p:cNvPr id="86" name="Shape 78"/>
          <p:cNvSpPr/>
          <p:nvPr/>
        </p:nvSpPr>
        <p:spPr>
          <a:xfrm>
            <a:off x="6729984" y="8501177"/>
            <a:ext cx="4858207" cy="409651"/>
          </a:xfrm>
          <a:prstGeom prst="rect">
            <a:avLst/>
          </a:prstGeom>
          <a:solidFill>
            <a:srgbClr val="76B900">
              <a:alpha val="10000"/>
            </a:srgbClr>
          </a:solidFill>
          <a:ln/>
        </p:spPr>
      </p:sp>
      <p:sp>
        <p:nvSpPr>
          <p:cNvPr id="87" name="Shape 79"/>
          <p:cNvSpPr/>
          <p:nvPr/>
        </p:nvSpPr>
        <p:spPr>
          <a:xfrm>
            <a:off x="6729984" y="8901684"/>
            <a:ext cx="4858207" cy="9144"/>
          </a:xfrm>
          <a:prstGeom prst="rect">
            <a:avLst/>
          </a:prstGeom>
          <a:solidFill>
            <a:srgbClr val="E0E0E0"/>
          </a:solidFill>
          <a:ln/>
        </p:spPr>
      </p:sp>
      <p:sp>
        <p:nvSpPr>
          <p:cNvPr id="88" name="Text 80"/>
          <p:cNvSpPr txBox="1"/>
          <p:nvPr/>
        </p:nvSpPr>
        <p:spPr>
          <a:xfrm>
            <a:off x="6844284" y="8591702"/>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(約273 GB/s、低消費電力)</a:t>
            </a:r>
            <a:endParaRPr lang="en-US" sz="1200" dirty="0"/>
          </a:p>
        </p:txBody>
      </p:sp>
      <p:pic>
        <p:nvPicPr>
          <p:cNvPr id="89" name="Image 6" descr="preencoded.png">    </p:cNvPr>
          <p:cNvPicPr>
            <a:picLocks noChangeAspect="1"/>
          </p:cNvPicPr>
          <p:nvPr/>
        </p:nvPicPr>
        <p:blipFill>
          <a:blip r:embed="rId7"/>
          <a:srcRect l="-57" r="-57" t="0" b="0"/>
          <a:stretch/>
        </p:blipFill>
        <p:spPr>
          <a:xfrm>
            <a:off x="6320333" y="8991295"/>
            <a:ext cx="200254" cy="228600"/>
          </a:xfrm>
          <a:prstGeom prst="rect">
            <a:avLst/>
          </a:prstGeom>
        </p:spPr>
      </p:pic>
      <p:sp>
        <p:nvSpPr>
          <p:cNvPr id="90" name="Shape 81"/>
          <p:cNvSpPr/>
          <p:nvPr/>
        </p:nvSpPr>
        <p:spPr>
          <a:xfrm>
            <a:off x="6110021" y="9720986"/>
            <a:ext cx="619049" cy="9144"/>
          </a:xfrm>
          <a:prstGeom prst="rect">
            <a:avLst/>
          </a:prstGeom>
          <a:solidFill>
            <a:srgbClr val="E0E0E0"/>
          </a:solidFill>
          <a:ln/>
        </p:spPr>
      </p:sp>
      <p:sp>
        <p:nvSpPr>
          <p:cNvPr id="91" name="Shape 82"/>
          <p:cNvSpPr/>
          <p:nvPr/>
        </p:nvSpPr>
        <p:spPr>
          <a:xfrm>
            <a:off x="6729984" y="8910828"/>
            <a:ext cx="4858207" cy="409651"/>
          </a:xfrm>
          <a:prstGeom prst="rect">
            <a:avLst/>
          </a:prstGeom>
          <a:solidFill>
            <a:srgbClr val="76B900">
              <a:alpha val="10000"/>
            </a:srgbClr>
          </a:solidFill>
          <a:ln/>
        </p:spPr>
      </p:sp>
      <p:sp>
        <p:nvSpPr>
          <p:cNvPr id="92" name="Shape 83"/>
          <p:cNvSpPr/>
          <p:nvPr/>
        </p:nvSpPr>
        <p:spPr>
          <a:xfrm>
            <a:off x="6729984" y="9311335"/>
            <a:ext cx="4858207" cy="9144"/>
          </a:xfrm>
          <a:prstGeom prst="rect">
            <a:avLst/>
          </a:prstGeom>
          <a:solidFill>
            <a:srgbClr val="E0E0E0"/>
          </a:solidFill>
          <a:ln/>
        </p:spPr>
      </p:sp>
      <p:sp>
        <p:nvSpPr>
          <p:cNvPr id="93" name="Text 84"/>
          <p:cNvSpPr txBox="1"/>
          <p:nvPr/>
        </p:nvSpPr>
        <p:spPr>
          <a:xfrm>
            <a:off x="6844284" y="7362749"/>
            <a:ext cx="28867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先進プロセス技術（最適化）</a:t>
            </a:r>
            <a:endParaRPr lang="en-US" sz="1200" dirty="0"/>
          </a:p>
        </p:txBody>
      </p:sp>
      <p:sp>
        <p:nvSpPr>
          <p:cNvPr id="94" name="Text 85"/>
          <p:cNvSpPr txBox="1"/>
          <p:nvPr/>
        </p:nvSpPr>
        <p:spPr>
          <a:xfrm>
            <a:off x="6844284" y="9001354"/>
            <a:ext cx="34390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拡張I/O、GMSL2/3、10G-T1、CAN/FlexRay拡充</a:t>
            </a:r>
            <a:endParaRPr lang="en-US" sz="1200" dirty="0"/>
          </a:p>
        </p:txBody>
      </p:sp>
      <p:pic>
        <p:nvPicPr>
          <p:cNvPr id="95" name="Image 7" descr="preencoded.png">    </p:cNvPr>
          <p:cNvPicPr>
            <a:picLocks noChangeAspect="1"/>
          </p:cNvPicPr>
          <p:nvPr/>
        </p:nvPicPr>
        <p:blipFill>
          <a:blip r:embed="rId8"/>
          <a:srcRect l="-57" r="-57" t="0" b="0"/>
          <a:stretch/>
        </p:blipFill>
        <p:spPr>
          <a:xfrm>
            <a:off x="6320333" y="9400946"/>
            <a:ext cx="200254" cy="228600"/>
          </a:xfrm>
          <a:prstGeom prst="rect">
            <a:avLst/>
          </a:prstGeom>
        </p:spPr>
      </p:pic>
      <p:sp>
        <p:nvSpPr>
          <p:cNvPr id="96" name="Shape 86"/>
          <p:cNvSpPr/>
          <p:nvPr/>
        </p:nvSpPr>
        <p:spPr>
          <a:xfrm>
            <a:off x="6729984" y="9320479"/>
            <a:ext cx="4858207" cy="409651"/>
          </a:xfrm>
          <a:prstGeom prst="rect">
            <a:avLst/>
          </a:prstGeom>
          <a:solidFill>
            <a:srgbClr val="76B900">
              <a:alpha val="10000"/>
            </a:srgbClr>
          </a:solidFill>
          <a:ln/>
        </p:spPr>
      </p:sp>
      <p:sp>
        <p:nvSpPr>
          <p:cNvPr id="97" name="Shape 87"/>
          <p:cNvSpPr/>
          <p:nvPr/>
        </p:nvSpPr>
        <p:spPr>
          <a:xfrm>
            <a:off x="6729984" y="9720986"/>
            <a:ext cx="4858207" cy="9144"/>
          </a:xfrm>
          <a:prstGeom prst="rect">
            <a:avLst/>
          </a:prstGeom>
          <a:solidFill>
            <a:srgbClr val="E0E0E0"/>
          </a:solidFill>
          <a:ln/>
        </p:spPr>
      </p:sp>
      <p:sp>
        <p:nvSpPr>
          <p:cNvPr id="98" name="Text 88"/>
          <p:cNvSpPr txBox="1"/>
          <p:nvPr/>
        </p:nvSpPr>
        <p:spPr>
          <a:xfrm>
            <a:off x="6844284" y="9411005"/>
            <a:ext cx="4267505"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最大1000 INT8 TOPS / 2000 FP4 TFLOPS (~6倍の演算性能)</a:t>
            </a:r>
            <a:endParaRPr lang="en-US" sz="1200" dirty="0"/>
          </a:p>
        </p:txBody>
      </p:sp>
      <p:sp>
        <p:nvSpPr>
          <p:cNvPr id="99" name="Shape 89"/>
          <p:cNvSpPr/>
          <p:nvPr/>
        </p:nvSpPr>
        <p:spPr>
          <a:xfrm>
            <a:off x="0" y="9562795"/>
            <a:ext cx="12191695" cy="9144"/>
          </a:xfrm>
          <a:prstGeom prst="rect">
            <a:avLst/>
          </a:prstGeom>
          <a:solidFill>
            <a:srgbClr val="EAEAEA"/>
          </a:solidFill>
          <a:ln/>
        </p:spPr>
      </p:sp>
      <p:sp>
        <p:nvSpPr>
          <p:cNvPr id="100" name="Text 90"/>
          <p:cNvSpPr txBox="1"/>
          <p:nvPr/>
        </p:nvSpPr>
        <p:spPr>
          <a:xfrm>
            <a:off x="571500" y="96679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01" name="Text 91"/>
          <p:cNvSpPr txBox="1"/>
          <p:nvPr/>
        </p:nvSpPr>
        <p:spPr>
          <a:xfrm>
            <a:off x="11546129" y="9667951"/>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3</a:t>
            </a:r>
            <a:endParaRPr lang="en-US" sz="1000" dirty="0"/>
          </a:p>
        </p:txBody>
      </p:sp>
      <p:sp>
        <p:nvSpPr>
          <p:cNvPr id="102" name="Shape 92"/>
          <p:cNvSpPr/>
          <p:nvPr/>
        </p:nvSpPr>
        <p:spPr>
          <a:xfrm>
            <a:off x="10707624" y="6344107"/>
            <a:ext cx="1295705" cy="323698"/>
          </a:xfrm>
          <a:prstGeom prst="roundRect">
            <a:avLst>
              <a:gd name="adj" fmla="val 33234"/>
            </a:avLst>
          </a:prstGeom>
          <a:solidFill>
            <a:srgbClr val="333333"/>
          </a:solidFill>
          <a:ln/>
        </p:spPr>
      </p:sp>
      <p:pic>
        <p:nvPicPr>
          <p:cNvPr id="103"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104" name="Shape 93"/>
          <p:cNvSpPr/>
          <p:nvPr/>
        </p:nvSpPr>
        <p:spPr>
          <a:xfrm>
            <a:off x="10707624" y="6344107"/>
            <a:ext cx="1295705" cy="323698"/>
          </a:xfrm>
          <a:prstGeom prst="roundRect">
            <a:avLst>
              <a:gd name="adj" fmla="val 33234"/>
            </a:avLst>
          </a:prstGeom>
          <a:solidFill>
            <a:srgbClr val="333333"/>
          </a:solidFill>
          <a:ln/>
        </p:spPr>
      </p:sp>
      <p:sp>
        <p:nvSpPr>
          <p:cNvPr id="105" name="Text 9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06" name="Image 9" descr="preencoded.png">    </p:cNvPr>
          <p:cNvPicPr>
            <a:picLocks noChangeAspect="1"/>
          </p:cNvPicPr>
          <p:nvPr/>
        </p:nvPicPr>
        <p:blipFill>
          <a:blip r:embed="rId10"/>
          <a:srcRect l="0" r="0" t="0" b="0"/>
          <a:stretch/>
        </p:blipFill>
        <p:spPr>
          <a:xfrm>
            <a:off x="10821924" y="6439205"/>
            <a:ext cx="133502" cy="133502"/>
          </a:xfrm>
          <a:prstGeom prst="rect">
            <a:avLst/>
          </a:prstGeom>
        </p:spPr>
      </p:pic>
      <p:sp>
        <p:nvSpPr>
          <p:cNvPr id="107" name="Text 9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648395"/>
          </a:xfrm>
          <a:prstGeom prst="rect">
            <a:avLst/>
          </a:prstGeom>
          <a:solidFill>
            <a:srgbClr val="FFFFFF"/>
          </a:solidFill>
          <a:ln/>
        </p:spPr>
      </p:sp>
      <p:sp>
        <p:nvSpPr>
          <p:cNvPr id="3" name="Text 1"/>
          <p:cNvSpPr txBox="1"/>
          <p:nvPr/>
        </p:nvSpPr>
        <p:spPr>
          <a:xfrm>
            <a:off x="609905" y="323698"/>
            <a:ext cx="57250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主要スペック比較（Orin vs Thor）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447495"/>
            <a:ext cx="1543507" cy="428854"/>
          </a:xfrm>
          <a:prstGeom prst="rect">
            <a:avLst/>
          </a:prstGeom>
          <a:solidFill>
            <a:srgbClr val="F6F6F6"/>
          </a:solidFill>
          <a:ln/>
        </p:spPr>
      </p:sp>
      <p:sp>
        <p:nvSpPr>
          <p:cNvPr id="6" name="Shape 4"/>
          <p:cNvSpPr/>
          <p:nvPr/>
        </p:nvSpPr>
        <p:spPr>
          <a:xfrm>
            <a:off x="609905" y="1857146"/>
            <a:ext cx="1543507" cy="19202"/>
          </a:xfrm>
          <a:prstGeom prst="rect">
            <a:avLst/>
          </a:prstGeom>
          <a:solidFill>
            <a:srgbClr val="76B900"/>
          </a:solidFill>
          <a:ln/>
        </p:spPr>
      </p:sp>
      <p:sp>
        <p:nvSpPr>
          <p:cNvPr id="7" name="Shape 5"/>
          <p:cNvSpPr/>
          <p:nvPr/>
        </p:nvSpPr>
        <p:spPr>
          <a:xfrm>
            <a:off x="2146097" y="1447495"/>
            <a:ext cx="4390949" cy="428854"/>
          </a:xfrm>
          <a:prstGeom prst="rect">
            <a:avLst/>
          </a:prstGeom>
          <a:solidFill>
            <a:srgbClr val="F6F6F6"/>
          </a:solidFill>
          <a:ln/>
        </p:spPr>
      </p:sp>
      <p:sp>
        <p:nvSpPr>
          <p:cNvPr id="8" name="Shape 6"/>
          <p:cNvSpPr/>
          <p:nvPr/>
        </p:nvSpPr>
        <p:spPr>
          <a:xfrm>
            <a:off x="2146097" y="1857146"/>
            <a:ext cx="4390949" cy="19202"/>
          </a:xfrm>
          <a:prstGeom prst="rect">
            <a:avLst/>
          </a:prstGeom>
          <a:solidFill>
            <a:srgbClr val="76B900"/>
          </a:solidFill>
          <a:ln/>
        </p:spPr>
      </p:sp>
      <p:sp>
        <p:nvSpPr>
          <p:cNvPr id="9" name="Shape 7"/>
          <p:cNvSpPr/>
          <p:nvPr/>
        </p:nvSpPr>
        <p:spPr>
          <a:xfrm>
            <a:off x="6534302" y="1447495"/>
            <a:ext cx="5048402" cy="428854"/>
          </a:xfrm>
          <a:prstGeom prst="rect">
            <a:avLst/>
          </a:prstGeom>
          <a:solidFill>
            <a:srgbClr val="F6F6F6"/>
          </a:solidFill>
          <a:ln/>
        </p:spPr>
      </p:sp>
      <p:sp>
        <p:nvSpPr>
          <p:cNvPr id="10" name="Shape 8"/>
          <p:cNvSpPr/>
          <p:nvPr/>
        </p:nvSpPr>
        <p:spPr>
          <a:xfrm>
            <a:off x="6534302" y="1857146"/>
            <a:ext cx="5048402" cy="19202"/>
          </a:xfrm>
          <a:prstGeom prst="rect">
            <a:avLst/>
          </a:prstGeom>
          <a:solidFill>
            <a:srgbClr val="76B900"/>
          </a:solidFill>
          <a:ln/>
        </p:spPr>
      </p:sp>
      <p:sp>
        <p:nvSpPr>
          <p:cNvPr id="11" name="Text 9"/>
          <p:cNvSpPr txBox="1"/>
          <p:nvPr/>
        </p:nvSpPr>
        <p:spPr>
          <a:xfrm>
            <a:off x="724205" y="1543507"/>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12" name="Text 10"/>
          <p:cNvSpPr txBox="1"/>
          <p:nvPr/>
        </p:nvSpPr>
        <p:spPr>
          <a:xfrm>
            <a:off x="2260397" y="1543507"/>
            <a:ext cx="17913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Orin</a:t>
            </a:r>
            <a:endParaRPr lang="en-US" sz="1200" dirty="0"/>
          </a:p>
        </p:txBody>
      </p:sp>
      <p:sp>
        <p:nvSpPr>
          <p:cNvPr id="13" name="Text 11"/>
          <p:cNvSpPr txBox="1"/>
          <p:nvPr/>
        </p:nvSpPr>
        <p:spPr>
          <a:xfrm>
            <a:off x="6648602" y="1543507"/>
            <a:ext cx="1819656"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Thor</a:t>
            </a:r>
            <a:endParaRPr lang="en-US" sz="1200" dirty="0"/>
          </a:p>
        </p:txBody>
      </p:sp>
      <p:sp>
        <p:nvSpPr>
          <p:cNvPr id="14" name="Shape 12"/>
          <p:cNvSpPr/>
          <p:nvPr/>
        </p:nvSpPr>
        <p:spPr>
          <a:xfrm>
            <a:off x="609905" y="2686507"/>
            <a:ext cx="1543507" cy="9144"/>
          </a:xfrm>
          <a:prstGeom prst="rect">
            <a:avLst/>
          </a:prstGeom>
          <a:solidFill>
            <a:srgbClr val="E0E0E0"/>
          </a:solidFill>
          <a:ln/>
        </p:spPr>
      </p:sp>
      <p:sp>
        <p:nvSpPr>
          <p:cNvPr id="15" name="Shape 13"/>
          <p:cNvSpPr/>
          <p:nvPr/>
        </p:nvSpPr>
        <p:spPr>
          <a:xfrm>
            <a:off x="2146097" y="2686507"/>
            <a:ext cx="4390949" cy="9144"/>
          </a:xfrm>
          <a:prstGeom prst="rect">
            <a:avLst/>
          </a:prstGeom>
          <a:solidFill>
            <a:srgbClr val="E0E0E0"/>
          </a:solidFill>
          <a:ln/>
        </p:spPr>
      </p:sp>
      <p:sp>
        <p:nvSpPr>
          <p:cNvPr id="16" name="Shape 14"/>
          <p:cNvSpPr/>
          <p:nvPr/>
        </p:nvSpPr>
        <p:spPr>
          <a:xfrm>
            <a:off x="609905" y="3567989"/>
            <a:ext cx="1543507" cy="9144"/>
          </a:xfrm>
          <a:prstGeom prst="rect">
            <a:avLst/>
          </a:prstGeom>
          <a:solidFill>
            <a:srgbClr val="E0E0E0"/>
          </a:solidFill>
          <a:ln/>
        </p:spPr>
      </p:sp>
      <p:sp>
        <p:nvSpPr>
          <p:cNvPr id="17" name="Shape 15"/>
          <p:cNvSpPr/>
          <p:nvPr/>
        </p:nvSpPr>
        <p:spPr>
          <a:xfrm>
            <a:off x="2146097" y="3567989"/>
            <a:ext cx="4390949" cy="9144"/>
          </a:xfrm>
          <a:prstGeom prst="rect">
            <a:avLst/>
          </a:prstGeom>
          <a:solidFill>
            <a:srgbClr val="E0E0E0"/>
          </a:solidFill>
          <a:ln/>
        </p:spPr>
      </p:sp>
      <p:sp>
        <p:nvSpPr>
          <p:cNvPr id="18" name="Shape 16"/>
          <p:cNvSpPr/>
          <p:nvPr/>
        </p:nvSpPr>
        <p:spPr>
          <a:xfrm>
            <a:off x="609905" y="4376318"/>
            <a:ext cx="1543507" cy="9144"/>
          </a:xfrm>
          <a:prstGeom prst="rect">
            <a:avLst/>
          </a:prstGeom>
          <a:solidFill>
            <a:srgbClr val="E0E0E0"/>
          </a:solidFill>
          <a:ln/>
        </p:spPr>
      </p:sp>
      <p:sp>
        <p:nvSpPr>
          <p:cNvPr id="19" name="Shape 17"/>
          <p:cNvSpPr/>
          <p:nvPr/>
        </p:nvSpPr>
        <p:spPr>
          <a:xfrm>
            <a:off x="2146097" y="4376318"/>
            <a:ext cx="4390949" cy="9144"/>
          </a:xfrm>
          <a:prstGeom prst="rect">
            <a:avLst/>
          </a:prstGeom>
          <a:solidFill>
            <a:srgbClr val="E0E0E0"/>
          </a:solidFill>
          <a:ln/>
        </p:spPr>
      </p:sp>
      <p:sp>
        <p:nvSpPr>
          <p:cNvPr id="20" name="Shape 18"/>
          <p:cNvSpPr/>
          <p:nvPr/>
        </p:nvSpPr>
        <p:spPr>
          <a:xfrm>
            <a:off x="609905" y="5263286"/>
            <a:ext cx="1543507" cy="9144"/>
          </a:xfrm>
          <a:prstGeom prst="rect">
            <a:avLst/>
          </a:prstGeom>
          <a:solidFill>
            <a:srgbClr val="E0E0E0"/>
          </a:solidFill>
          <a:ln/>
        </p:spPr>
      </p:sp>
      <p:sp>
        <p:nvSpPr>
          <p:cNvPr id="21" name="Shape 19"/>
          <p:cNvSpPr/>
          <p:nvPr/>
        </p:nvSpPr>
        <p:spPr>
          <a:xfrm>
            <a:off x="2146097" y="5263286"/>
            <a:ext cx="4390949" cy="9144"/>
          </a:xfrm>
          <a:prstGeom prst="rect">
            <a:avLst/>
          </a:prstGeom>
          <a:solidFill>
            <a:srgbClr val="E0E0E0"/>
          </a:solidFill>
          <a:ln/>
        </p:spPr>
      </p:sp>
      <p:sp>
        <p:nvSpPr>
          <p:cNvPr id="22" name="Shape 20"/>
          <p:cNvSpPr/>
          <p:nvPr/>
        </p:nvSpPr>
        <p:spPr>
          <a:xfrm>
            <a:off x="609905" y="6072530"/>
            <a:ext cx="1543507" cy="9144"/>
          </a:xfrm>
          <a:prstGeom prst="rect">
            <a:avLst/>
          </a:prstGeom>
          <a:solidFill>
            <a:srgbClr val="E0E0E0"/>
          </a:solidFill>
          <a:ln/>
        </p:spPr>
      </p:sp>
      <p:sp>
        <p:nvSpPr>
          <p:cNvPr id="23" name="Shape 21"/>
          <p:cNvSpPr/>
          <p:nvPr/>
        </p:nvSpPr>
        <p:spPr>
          <a:xfrm>
            <a:off x="2146097" y="6072530"/>
            <a:ext cx="4390949" cy="9144"/>
          </a:xfrm>
          <a:prstGeom prst="rect">
            <a:avLst/>
          </a:prstGeom>
          <a:solidFill>
            <a:srgbClr val="E0E0E0"/>
          </a:solidFill>
          <a:ln/>
        </p:spPr>
      </p:sp>
      <p:sp>
        <p:nvSpPr>
          <p:cNvPr id="24" name="Shape 22"/>
          <p:cNvSpPr/>
          <p:nvPr/>
        </p:nvSpPr>
        <p:spPr>
          <a:xfrm>
            <a:off x="609905" y="6881774"/>
            <a:ext cx="1543507" cy="9144"/>
          </a:xfrm>
          <a:prstGeom prst="rect">
            <a:avLst/>
          </a:prstGeom>
          <a:solidFill>
            <a:srgbClr val="E0E0E0"/>
          </a:solidFill>
          <a:ln/>
        </p:spPr>
      </p:sp>
      <p:sp>
        <p:nvSpPr>
          <p:cNvPr id="25" name="Shape 23"/>
          <p:cNvSpPr/>
          <p:nvPr/>
        </p:nvSpPr>
        <p:spPr>
          <a:xfrm>
            <a:off x="2146097" y="6881774"/>
            <a:ext cx="4390949" cy="9144"/>
          </a:xfrm>
          <a:prstGeom prst="rect">
            <a:avLst/>
          </a:prstGeom>
          <a:solidFill>
            <a:srgbClr val="E0E0E0"/>
          </a:solidFill>
          <a:ln/>
        </p:spPr>
      </p:sp>
      <p:sp>
        <p:nvSpPr>
          <p:cNvPr id="26" name="Text 24"/>
          <p:cNvSpPr txBox="1"/>
          <p:nvPr/>
        </p:nvSpPr>
        <p:spPr>
          <a:xfrm>
            <a:off x="724205" y="1981505"/>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27" name="Text 25"/>
          <p:cNvSpPr txBox="1"/>
          <p:nvPr/>
        </p:nvSpPr>
        <p:spPr>
          <a:xfrm>
            <a:off x="724205" y="2790749"/>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28" name="Text 26"/>
          <p:cNvSpPr txBox="1"/>
          <p:nvPr/>
        </p:nvSpPr>
        <p:spPr>
          <a:xfrm>
            <a:off x="724205" y="36768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29" name="Text 27"/>
          <p:cNvSpPr txBox="1"/>
          <p:nvPr/>
        </p:nvSpPr>
        <p:spPr>
          <a:xfrm>
            <a:off x="724205" y="4486046"/>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30" name="Text 28"/>
          <p:cNvSpPr txBox="1"/>
          <p:nvPr/>
        </p:nvSpPr>
        <p:spPr>
          <a:xfrm>
            <a:off x="724205" y="5372100"/>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31" name="Text 29"/>
          <p:cNvSpPr txBox="1"/>
          <p:nvPr/>
        </p:nvSpPr>
        <p:spPr>
          <a:xfrm>
            <a:off x="724205" y="6181344"/>
            <a:ext cx="11722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アーキテクチャ</a:t>
            </a:r>
            <a:endParaRPr lang="en-US" sz="1200" dirty="0"/>
          </a:p>
        </p:txBody>
      </p:sp>
      <p:sp>
        <p:nvSpPr>
          <p:cNvPr id="32" name="Text 30"/>
          <p:cNvSpPr txBox="1"/>
          <p:nvPr/>
        </p:nvSpPr>
        <p:spPr>
          <a:xfrm>
            <a:off x="724205" y="6409944"/>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特長</a:t>
            </a:r>
            <a:endParaRPr lang="en-US" sz="1200" dirty="0"/>
          </a:p>
        </p:txBody>
      </p:sp>
      <p:sp>
        <p:nvSpPr>
          <p:cNvPr id="33" name="Text 31"/>
          <p:cNvSpPr txBox="1"/>
          <p:nvPr/>
        </p:nvSpPr>
        <p:spPr>
          <a:xfrm>
            <a:off x="2260397" y="1981505"/>
            <a:ext cx="14008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a:t>
            </a:r>
            <a:endParaRPr lang="en-US" sz="1200" dirty="0"/>
          </a:p>
        </p:txBody>
      </p:sp>
      <p:sp>
        <p:nvSpPr>
          <p:cNvPr id="34" name="Text 32"/>
          <p:cNvSpPr txBox="1"/>
          <p:nvPr/>
        </p:nvSpPr>
        <p:spPr>
          <a:xfrm>
            <a:off x="2260397" y="2790749"/>
            <a:ext cx="22860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Ampere アーキテクチャ</a:t>
            </a:r>
            <a:endParaRPr lang="en-US" sz="1200" dirty="0"/>
          </a:p>
        </p:txBody>
      </p:sp>
      <p:sp>
        <p:nvSpPr>
          <p:cNvPr id="35" name="Text 33"/>
          <p:cNvSpPr txBox="1"/>
          <p:nvPr/>
        </p:nvSpPr>
        <p:spPr>
          <a:xfrm>
            <a:off x="2260397" y="3676802"/>
            <a:ext cx="12198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a:t>
            </a:r>
            <a:endParaRPr lang="en-US" sz="1200" dirty="0"/>
          </a:p>
        </p:txBody>
      </p:sp>
      <p:sp>
        <p:nvSpPr>
          <p:cNvPr id="36" name="Text 34"/>
          <p:cNvSpPr txBox="1"/>
          <p:nvPr/>
        </p:nvSpPr>
        <p:spPr>
          <a:xfrm>
            <a:off x="2260397" y="4486046"/>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37" name="Text 35"/>
          <p:cNvSpPr txBox="1"/>
          <p:nvPr/>
        </p:nvSpPr>
        <p:spPr>
          <a:xfrm>
            <a:off x="2260397" y="5372100"/>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Gen4、10GbE、CSI カメラ入力</a:t>
            </a:r>
            <a:endParaRPr lang="en-US" sz="1200" dirty="0"/>
          </a:p>
        </p:txBody>
      </p:sp>
      <p:sp>
        <p:nvSpPr>
          <p:cNvPr id="38" name="Text 36"/>
          <p:cNvSpPr txBox="1"/>
          <p:nvPr/>
        </p:nvSpPr>
        <p:spPr>
          <a:xfrm>
            <a:off x="2260397" y="6181344"/>
            <a:ext cx="20482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MIG（Multi-Instance GPU）</a:t>
            </a:r>
            <a:endParaRPr lang="en-US" sz="1200" dirty="0"/>
          </a:p>
        </p:txBody>
      </p:sp>
      <p:sp>
        <p:nvSpPr>
          <p:cNvPr id="39" name="Text 37"/>
          <p:cNvSpPr txBox="1"/>
          <p:nvPr/>
        </p:nvSpPr>
        <p:spPr>
          <a:xfrm>
            <a:off x="2260397" y="2210105"/>
            <a:ext cx="25767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最大12コア、2.2 GHz、A78AE v8.2 64-bit</a:t>
            </a:r>
            <a:endParaRPr lang="en-US" sz="1000" dirty="0"/>
          </a:p>
        </p:txBody>
      </p:sp>
      <p:sp>
        <p:nvSpPr>
          <p:cNvPr id="40" name="Text 38"/>
          <p:cNvSpPr txBox="1"/>
          <p:nvPr/>
        </p:nvSpPr>
        <p:spPr>
          <a:xfrm>
            <a:off x="2260397" y="3019349"/>
            <a:ext cx="28053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第3世代Tensorコア、TF32、2:4 Sparsity対応</a:t>
            </a:r>
            <a:endParaRPr lang="en-US" sz="1000" dirty="0"/>
          </a:p>
        </p:txBody>
      </p:sp>
      <p:sp>
        <p:nvSpPr>
          <p:cNvPr id="41" name="Text 39"/>
          <p:cNvSpPr txBox="1"/>
          <p:nvPr/>
        </p:nvSpPr>
        <p:spPr>
          <a:xfrm>
            <a:off x="2260397" y="3209544"/>
            <a:ext cx="27102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非同期コピー (LDGSTS)、非同期バリア機能</a:t>
            </a:r>
            <a:endParaRPr lang="en-US" sz="1000" dirty="0"/>
          </a:p>
        </p:txBody>
      </p:sp>
      <p:sp>
        <p:nvSpPr>
          <p:cNvPr id="42" name="Text 40"/>
          <p:cNvSpPr txBox="1"/>
          <p:nvPr/>
        </p:nvSpPr>
        <p:spPr>
          <a:xfrm>
            <a:off x="2260397" y="3905402"/>
            <a:ext cx="14246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最大204.8 GB/s帯域幅</a:t>
            </a:r>
            <a:endParaRPr lang="en-US" sz="1000" dirty="0"/>
          </a:p>
        </p:txBody>
      </p:sp>
      <p:sp>
        <p:nvSpPr>
          <p:cNvPr id="43" name="Text 41"/>
          <p:cNvSpPr txBox="1"/>
          <p:nvPr/>
        </p:nvSpPr>
        <p:spPr>
          <a:xfrm>
            <a:off x="2260397" y="4714646"/>
            <a:ext cx="18050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Sparsityを活用して性能向上</a:t>
            </a:r>
            <a:endParaRPr lang="en-US" sz="1000" dirty="0"/>
          </a:p>
        </p:txBody>
      </p:sp>
      <p:sp>
        <p:nvSpPr>
          <p:cNvPr id="44" name="Text 42"/>
          <p:cNvSpPr txBox="1"/>
          <p:nvPr/>
        </p:nvSpPr>
        <p:spPr>
          <a:xfrm>
            <a:off x="2260397" y="5600700"/>
            <a:ext cx="17766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CAN、SPI、I2C、UARTなど</a:t>
            </a:r>
            <a:endParaRPr lang="en-US" sz="1000" dirty="0"/>
          </a:p>
        </p:txBody>
      </p:sp>
      <p:sp>
        <p:nvSpPr>
          <p:cNvPr id="45" name="Text 43"/>
          <p:cNvSpPr txBox="1"/>
          <p:nvPr/>
        </p:nvSpPr>
        <p:spPr>
          <a:xfrm>
            <a:off x="2260397" y="6409944"/>
            <a:ext cx="32909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プログラマブルビジョンアクセラレータ（PVA v2.0）</a:t>
            </a:r>
            <a:endParaRPr lang="en-US" sz="1000" dirty="0"/>
          </a:p>
        </p:txBody>
      </p:sp>
      <p:sp>
        <p:nvSpPr>
          <p:cNvPr id="46" name="Shape 44"/>
          <p:cNvSpPr/>
          <p:nvPr/>
        </p:nvSpPr>
        <p:spPr>
          <a:xfrm>
            <a:off x="6534302" y="1876349"/>
            <a:ext cx="5048402" cy="819302"/>
          </a:xfrm>
          <a:prstGeom prst="rect">
            <a:avLst/>
          </a:prstGeom>
          <a:solidFill>
            <a:srgbClr val="76B900">
              <a:alpha val="10000"/>
            </a:srgbClr>
          </a:solidFill>
          <a:ln/>
        </p:spPr>
      </p:sp>
      <p:sp>
        <p:nvSpPr>
          <p:cNvPr id="47" name="Shape 45"/>
          <p:cNvSpPr/>
          <p:nvPr/>
        </p:nvSpPr>
        <p:spPr>
          <a:xfrm>
            <a:off x="6534302" y="2686507"/>
            <a:ext cx="5048402" cy="9144"/>
          </a:xfrm>
          <a:prstGeom prst="rect">
            <a:avLst/>
          </a:prstGeom>
          <a:solidFill>
            <a:srgbClr val="E0E0E0"/>
          </a:solidFill>
          <a:ln/>
        </p:spPr>
      </p:sp>
      <p:sp>
        <p:nvSpPr>
          <p:cNvPr id="48" name="Shape 46"/>
          <p:cNvSpPr/>
          <p:nvPr/>
        </p:nvSpPr>
        <p:spPr>
          <a:xfrm>
            <a:off x="6534302" y="4386377"/>
            <a:ext cx="5048402" cy="886054"/>
          </a:xfrm>
          <a:prstGeom prst="rect">
            <a:avLst/>
          </a:prstGeom>
          <a:solidFill>
            <a:srgbClr val="76B900">
              <a:alpha val="10000"/>
            </a:srgbClr>
          </a:solidFill>
          <a:ln/>
        </p:spPr>
      </p:sp>
      <p:sp>
        <p:nvSpPr>
          <p:cNvPr id="49" name="Shape 47"/>
          <p:cNvSpPr/>
          <p:nvPr/>
        </p:nvSpPr>
        <p:spPr>
          <a:xfrm>
            <a:off x="6534302" y="5263286"/>
            <a:ext cx="5048402" cy="9144"/>
          </a:xfrm>
          <a:prstGeom prst="rect">
            <a:avLst/>
          </a:prstGeom>
          <a:solidFill>
            <a:srgbClr val="E0E0E0"/>
          </a:solidFill>
          <a:ln/>
        </p:spPr>
      </p:sp>
      <p:sp>
        <p:nvSpPr>
          <p:cNvPr id="50" name="Shape 48"/>
          <p:cNvSpPr/>
          <p:nvPr/>
        </p:nvSpPr>
        <p:spPr>
          <a:xfrm>
            <a:off x="6534302" y="5272430"/>
            <a:ext cx="5048402" cy="809244"/>
          </a:xfrm>
          <a:prstGeom prst="rect">
            <a:avLst/>
          </a:prstGeom>
          <a:solidFill>
            <a:srgbClr val="76B900">
              <a:alpha val="10000"/>
            </a:srgbClr>
          </a:solidFill>
          <a:ln/>
        </p:spPr>
      </p:sp>
      <p:sp>
        <p:nvSpPr>
          <p:cNvPr id="51" name="Shape 49"/>
          <p:cNvSpPr/>
          <p:nvPr/>
        </p:nvSpPr>
        <p:spPr>
          <a:xfrm>
            <a:off x="6534302" y="6072530"/>
            <a:ext cx="5048402" cy="9144"/>
          </a:xfrm>
          <a:prstGeom prst="rect">
            <a:avLst/>
          </a:prstGeom>
          <a:solidFill>
            <a:srgbClr val="E0E0E0"/>
          </a:solidFill>
          <a:ln/>
        </p:spPr>
      </p:sp>
      <p:sp>
        <p:nvSpPr>
          <p:cNvPr id="52" name="Shape 50"/>
          <p:cNvSpPr/>
          <p:nvPr/>
        </p:nvSpPr>
        <p:spPr>
          <a:xfrm>
            <a:off x="6534302" y="6081674"/>
            <a:ext cx="5048402" cy="809244"/>
          </a:xfrm>
          <a:prstGeom prst="rect">
            <a:avLst/>
          </a:prstGeom>
          <a:solidFill>
            <a:srgbClr val="76B900">
              <a:alpha val="10000"/>
            </a:srgbClr>
          </a:solidFill>
          <a:ln/>
        </p:spPr>
      </p:sp>
      <p:sp>
        <p:nvSpPr>
          <p:cNvPr id="53" name="Shape 51"/>
          <p:cNvSpPr/>
          <p:nvPr/>
        </p:nvSpPr>
        <p:spPr>
          <a:xfrm>
            <a:off x="6534302" y="6881774"/>
            <a:ext cx="5048402" cy="9144"/>
          </a:xfrm>
          <a:prstGeom prst="rect">
            <a:avLst/>
          </a:prstGeom>
          <a:solidFill>
            <a:srgbClr val="E0E0E0"/>
          </a:solidFill>
          <a:ln/>
        </p:spPr>
      </p:sp>
      <p:sp>
        <p:nvSpPr>
          <p:cNvPr id="54" name="Text 52"/>
          <p:cNvSpPr txBox="1"/>
          <p:nvPr/>
        </p:nvSpPr>
        <p:spPr>
          <a:xfrm>
            <a:off x="6648602" y="1981505"/>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a:t>
            </a:r>
            <a:endParaRPr lang="en-US" sz="1200" dirty="0"/>
          </a:p>
        </p:txBody>
      </p:sp>
      <p:sp>
        <p:nvSpPr>
          <p:cNvPr id="55" name="Text 53"/>
          <p:cNvSpPr txBox="1"/>
          <p:nvPr/>
        </p:nvSpPr>
        <p:spPr>
          <a:xfrm>
            <a:off x="6648602" y="5372100"/>
            <a:ext cx="9528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拡張車載I/O</a:t>
            </a:r>
            <a:endParaRPr lang="en-US" sz="1200" dirty="0"/>
          </a:p>
        </p:txBody>
      </p:sp>
      <p:sp>
        <p:nvSpPr>
          <p:cNvPr id="56" name="Text 54"/>
          <p:cNvSpPr txBox="1"/>
          <p:nvPr/>
        </p:nvSpPr>
        <p:spPr>
          <a:xfrm>
            <a:off x="6648602" y="6181344"/>
            <a:ext cx="21534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強化されたMIG、NVLink-C2C</a:t>
            </a:r>
            <a:endParaRPr lang="en-US" sz="1200" dirty="0"/>
          </a:p>
        </p:txBody>
      </p:sp>
      <p:sp>
        <p:nvSpPr>
          <p:cNvPr id="57" name="Text 55"/>
          <p:cNvSpPr txBox="1"/>
          <p:nvPr/>
        </p:nvSpPr>
        <p:spPr>
          <a:xfrm>
            <a:off x="6648602" y="2210105"/>
            <a:ext cx="38057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高性能アーキテクチャ、Orinと比較して2.3倍のSPECrate性能</a:t>
            </a:r>
            <a:endParaRPr lang="en-US" sz="1000" dirty="0"/>
          </a:p>
        </p:txBody>
      </p:sp>
      <p:pic>
        <p:nvPicPr>
          <p:cNvPr id="58" name="Image 0" descr="preencoded.png">    </p:cNvPr>
          <p:cNvPicPr>
            <a:picLocks noChangeAspect="1"/>
          </p:cNvPicPr>
          <p:nvPr/>
        </p:nvPicPr>
        <p:blipFill>
          <a:blip r:embed="rId1"/>
          <a:srcRect l="-2512" r="-2512" t="0" b="0"/>
          <a:stretch/>
        </p:blipFill>
        <p:spPr>
          <a:xfrm>
            <a:off x="6648602" y="2435962"/>
            <a:ext cx="105156" cy="133502"/>
          </a:xfrm>
          <a:prstGeom prst="rect">
            <a:avLst/>
          </a:prstGeom>
        </p:spPr>
      </p:pic>
      <p:sp>
        <p:nvSpPr>
          <p:cNvPr id="59" name="Shape 56"/>
          <p:cNvSpPr/>
          <p:nvPr/>
        </p:nvSpPr>
        <p:spPr>
          <a:xfrm>
            <a:off x="6534302" y="2691079"/>
            <a:ext cx="5048402" cy="886054"/>
          </a:xfrm>
          <a:prstGeom prst="rect">
            <a:avLst/>
          </a:prstGeom>
          <a:solidFill>
            <a:srgbClr val="76B900">
              <a:alpha val="10000"/>
            </a:srgbClr>
          </a:solidFill>
          <a:ln/>
        </p:spPr>
      </p:sp>
      <p:sp>
        <p:nvSpPr>
          <p:cNvPr id="60" name="Shape 57"/>
          <p:cNvSpPr/>
          <p:nvPr/>
        </p:nvSpPr>
        <p:spPr>
          <a:xfrm>
            <a:off x="6534302" y="3567989"/>
            <a:ext cx="5048402" cy="9144"/>
          </a:xfrm>
          <a:prstGeom prst="rect">
            <a:avLst/>
          </a:prstGeom>
          <a:solidFill>
            <a:srgbClr val="E0E0E0"/>
          </a:solidFill>
          <a:ln/>
        </p:spPr>
      </p:sp>
      <p:sp>
        <p:nvSpPr>
          <p:cNvPr id="61" name="Shape 58"/>
          <p:cNvSpPr/>
          <p:nvPr/>
        </p:nvSpPr>
        <p:spPr>
          <a:xfrm>
            <a:off x="6534302" y="3576218"/>
            <a:ext cx="5048402" cy="809244"/>
          </a:xfrm>
          <a:prstGeom prst="rect">
            <a:avLst/>
          </a:prstGeom>
          <a:solidFill>
            <a:srgbClr val="76B900">
              <a:alpha val="10000"/>
            </a:srgbClr>
          </a:solidFill>
          <a:ln/>
        </p:spPr>
      </p:sp>
      <p:sp>
        <p:nvSpPr>
          <p:cNvPr id="62" name="Shape 59"/>
          <p:cNvSpPr/>
          <p:nvPr/>
        </p:nvSpPr>
        <p:spPr>
          <a:xfrm>
            <a:off x="6534302" y="4376318"/>
            <a:ext cx="5048402" cy="9144"/>
          </a:xfrm>
          <a:prstGeom prst="rect">
            <a:avLst/>
          </a:prstGeom>
          <a:solidFill>
            <a:srgbClr val="E0E0E0"/>
          </a:solidFill>
          <a:ln/>
        </p:spPr>
      </p:sp>
      <p:sp>
        <p:nvSpPr>
          <p:cNvPr id="63" name="Text 60"/>
          <p:cNvSpPr txBox="1"/>
          <p:nvPr/>
        </p:nvSpPr>
        <p:spPr>
          <a:xfrm>
            <a:off x="6648602" y="3676802"/>
            <a:ext cx="7909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a:t>
            </a:r>
            <a:endParaRPr lang="en-US" sz="1200" dirty="0"/>
          </a:p>
        </p:txBody>
      </p:sp>
      <p:sp>
        <p:nvSpPr>
          <p:cNvPr id="64" name="Text 61"/>
          <p:cNvSpPr txBox="1"/>
          <p:nvPr/>
        </p:nvSpPr>
        <p:spPr>
          <a:xfrm>
            <a:off x="6648602" y="3905402"/>
            <a:ext cx="22722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約273 GB/s帯域幅（DevKitベース）</a:t>
            </a:r>
            <a:endParaRPr lang="en-US" sz="1000" dirty="0"/>
          </a:p>
        </p:txBody>
      </p:sp>
      <p:sp>
        <p:nvSpPr>
          <p:cNvPr id="65" name="Text 62"/>
          <p:cNvSpPr txBox="1"/>
          <p:nvPr/>
        </p:nvSpPr>
        <p:spPr>
          <a:xfrm>
            <a:off x="6648602" y="5600700"/>
            <a:ext cx="24624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GMSL2/3、100/1000/10G-T1 Ethernet</a:t>
            </a:r>
            <a:endParaRPr lang="en-US" sz="1000" dirty="0"/>
          </a:p>
        </p:txBody>
      </p:sp>
      <p:sp>
        <p:nvSpPr>
          <p:cNvPr id="66" name="Text 63"/>
          <p:cNvSpPr txBox="1"/>
          <p:nvPr/>
        </p:nvSpPr>
        <p:spPr>
          <a:xfrm>
            <a:off x="6648602" y="5790895"/>
            <a:ext cx="2872130"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CAN、FlexRay、LIN、A2B、DisplayPort拡充</a:t>
            </a:r>
            <a:endParaRPr lang="en-US" sz="1000" dirty="0"/>
          </a:p>
        </p:txBody>
      </p:sp>
      <p:sp>
        <p:nvSpPr>
          <p:cNvPr id="67" name="Text 64"/>
          <p:cNvSpPr txBox="1"/>
          <p:nvPr/>
        </p:nvSpPr>
        <p:spPr>
          <a:xfrm>
            <a:off x="6648602" y="6409944"/>
            <a:ext cx="33485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統合インフォテインメント/自動運転プラットフォーム</a:t>
            </a:r>
            <a:endParaRPr lang="en-US" sz="1000" dirty="0"/>
          </a:p>
        </p:txBody>
      </p:sp>
      <p:sp>
        <p:nvSpPr>
          <p:cNvPr id="68" name="Text 65"/>
          <p:cNvSpPr txBox="1"/>
          <p:nvPr/>
        </p:nvSpPr>
        <p:spPr>
          <a:xfrm>
            <a:off x="6753758" y="2400300"/>
            <a:ext cx="2634386"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高単一スレッド性能、決定制御処理に最適</a:t>
            </a:r>
            <a:endParaRPr lang="en-US" sz="1000" dirty="0"/>
          </a:p>
        </p:txBody>
      </p:sp>
      <p:sp>
        <p:nvSpPr>
          <p:cNvPr id="69" name="Text 66"/>
          <p:cNvSpPr txBox="1"/>
          <p:nvPr/>
        </p:nvSpPr>
        <p:spPr>
          <a:xfrm>
            <a:off x="6648602" y="2790749"/>
            <a:ext cx="486735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Blackwell アーキテクチャ 二世代進化 第5世代Tensorコア、FP8/FP4対応、Transformer Engine v2搭載 大規模言語モデル/BEVに対する大幅な高速化</a:t>
            </a:r>
            <a:endParaRPr lang="en-US" sz="1200" dirty="0"/>
          </a:p>
        </p:txBody>
      </p:sp>
      <p:pic>
        <p:nvPicPr>
          <p:cNvPr id="70" name="Image 1" descr="preencoded.png">    </p:cNvPr>
          <p:cNvPicPr>
            <a:picLocks noChangeAspect="1"/>
          </p:cNvPicPr>
          <p:nvPr/>
        </p:nvPicPr>
        <p:blipFill>
          <a:blip r:embed="rId2"/>
          <a:srcRect l="-2512" r="-2512" t="0" b="0"/>
          <a:stretch/>
        </p:blipFill>
        <p:spPr>
          <a:xfrm>
            <a:off x="6648602" y="4131259"/>
            <a:ext cx="105156" cy="133502"/>
          </a:xfrm>
          <a:prstGeom prst="rect">
            <a:avLst/>
          </a:prstGeom>
        </p:spPr>
      </p:pic>
      <p:sp>
        <p:nvSpPr>
          <p:cNvPr id="71" name="Text 67"/>
          <p:cNvSpPr txBox="1"/>
          <p:nvPr/>
        </p:nvSpPr>
        <p:spPr>
          <a:xfrm>
            <a:off x="6753758" y="4095598"/>
            <a:ext cx="1767535"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約1.3倍の帯域幅と省電力化</a:t>
            </a:r>
            <a:endParaRPr lang="en-US" sz="1000" dirty="0"/>
          </a:p>
        </p:txBody>
      </p:sp>
      <p:sp>
        <p:nvSpPr>
          <p:cNvPr id="72" name="Text 68"/>
          <p:cNvSpPr txBox="1"/>
          <p:nvPr/>
        </p:nvSpPr>
        <p:spPr>
          <a:xfrm>
            <a:off x="6753758" y="6601054"/>
            <a:ext cx="2500884"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安全クリティカル分離と高度な機能統合</a:t>
            </a:r>
            <a:endParaRPr lang="en-US" sz="1000" dirty="0"/>
          </a:p>
        </p:txBody>
      </p:sp>
      <p:sp>
        <p:nvSpPr>
          <p:cNvPr id="73" name="Text 69"/>
          <p:cNvSpPr txBox="1"/>
          <p:nvPr/>
        </p:nvSpPr>
        <p:spPr>
          <a:xfrm>
            <a:off x="6648602" y="4486046"/>
            <a:ext cx="482986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最大1,000 INT8 TOPS / 2,000 FP4 TFLOPS ~6倍 生成AIワークロードのための量子化対応学習・推論 Transformer Engine v2による高効率FP8/FP4演算</a:t>
            </a:r>
            <a:endParaRPr lang="en-US" sz="1200" dirty="0"/>
          </a:p>
        </p:txBody>
      </p:sp>
      <p:pic>
        <p:nvPicPr>
          <p:cNvPr id="74" name="Image 2" descr="preencoded.png">    </p:cNvPr>
          <p:cNvPicPr>
            <a:picLocks noChangeAspect="1"/>
          </p:cNvPicPr>
          <p:nvPr/>
        </p:nvPicPr>
        <p:blipFill>
          <a:blip r:embed="rId3"/>
          <a:srcRect l="-2512" r="-2512" t="0" b="0"/>
          <a:stretch/>
        </p:blipFill>
        <p:spPr>
          <a:xfrm>
            <a:off x="6648602" y="6636715"/>
            <a:ext cx="105156" cy="133502"/>
          </a:xfrm>
          <a:prstGeom prst="rect">
            <a:avLst/>
          </a:prstGeom>
        </p:spPr>
      </p:pic>
      <p:pic>
        <p:nvPicPr>
          <p:cNvPr id="75" name="Image 3" descr="preencoded.png">    </p:cNvPr>
          <p:cNvPicPr>
            <a:picLocks noChangeAspect="1"/>
          </p:cNvPicPr>
          <p:nvPr/>
        </p:nvPicPr>
        <p:blipFill>
          <a:blip r:embed="rId4"/>
          <a:srcRect l="0" r="0" t="18" b="18"/>
          <a:stretch/>
        </p:blipFill>
        <p:spPr>
          <a:xfrm>
            <a:off x="9954158" y="7048195"/>
            <a:ext cx="1628546" cy="914400"/>
          </a:xfrm>
          <a:prstGeom prst="rect">
            <a:avLst/>
          </a:prstGeom>
        </p:spPr>
      </p:pic>
      <p:sp>
        <p:nvSpPr>
          <p:cNvPr id="76" name="Text 70"/>
          <p:cNvSpPr txBox="1"/>
          <p:nvPr/>
        </p:nvSpPr>
        <p:spPr>
          <a:xfrm>
            <a:off x="10226650" y="7991856"/>
            <a:ext cx="1172261"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NVIDIA DRIVE DevKit</a:t>
            </a:r>
            <a:endParaRPr lang="en-US" sz="900" dirty="0"/>
          </a:p>
        </p:txBody>
      </p:sp>
      <p:sp>
        <p:nvSpPr>
          <p:cNvPr id="77" name="Text 71"/>
          <p:cNvSpPr txBox="1"/>
          <p:nvPr/>
        </p:nvSpPr>
        <p:spPr>
          <a:xfrm>
            <a:off x="609905" y="8305495"/>
            <a:ext cx="653978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出典: NVIDIA DRIVE AGX Orin Technical Brief、NVIDIA DRIVE AGX Thor Platform for Developers資料より</a:t>
            </a:r>
            <a:endParaRPr lang="en-US" sz="1000" dirty="0"/>
          </a:p>
        </p:txBody>
      </p:sp>
      <p:sp>
        <p:nvSpPr>
          <p:cNvPr id="78" name="Shape 72"/>
          <p:cNvSpPr/>
          <p:nvPr/>
        </p:nvSpPr>
        <p:spPr>
          <a:xfrm>
            <a:off x="0" y="8248802"/>
            <a:ext cx="12191695" cy="9144"/>
          </a:xfrm>
          <a:prstGeom prst="rect">
            <a:avLst/>
          </a:prstGeom>
          <a:solidFill>
            <a:srgbClr val="EAEAEA"/>
          </a:solidFill>
          <a:ln/>
        </p:spPr>
      </p:sp>
      <p:sp>
        <p:nvSpPr>
          <p:cNvPr id="79" name="Text 73"/>
          <p:cNvSpPr txBox="1"/>
          <p:nvPr/>
        </p:nvSpPr>
        <p:spPr>
          <a:xfrm>
            <a:off x="571500" y="83530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0" name="Text 74"/>
          <p:cNvSpPr txBox="1"/>
          <p:nvPr/>
        </p:nvSpPr>
        <p:spPr>
          <a:xfrm>
            <a:off x="11546129" y="83530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4</a:t>
            </a:r>
            <a:endParaRPr lang="en-US" sz="1000" dirty="0"/>
          </a:p>
        </p:txBody>
      </p:sp>
      <p:sp>
        <p:nvSpPr>
          <p:cNvPr id="81" name="Shape 75"/>
          <p:cNvSpPr/>
          <p:nvPr/>
        </p:nvSpPr>
        <p:spPr>
          <a:xfrm>
            <a:off x="10707624" y="6344107"/>
            <a:ext cx="1295705" cy="323698"/>
          </a:xfrm>
          <a:prstGeom prst="roundRect">
            <a:avLst>
              <a:gd name="adj" fmla="val 33234"/>
            </a:avLst>
          </a:prstGeom>
          <a:solidFill>
            <a:srgbClr val="333333"/>
          </a:solidFill>
          <a:ln/>
        </p:spPr>
      </p:sp>
      <p:pic>
        <p:nvPicPr>
          <p:cNvPr id="82"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83" name="Shape 76"/>
          <p:cNvSpPr/>
          <p:nvPr/>
        </p:nvSpPr>
        <p:spPr>
          <a:xfrm>
            <a:off x="10707624" y="6344107"/>
            <a:ext cx="1295705" cy="323698"/>
          </a:xfrm>
          <a:prstGeom prst="roundRect">
            <a:avLst>
              <a:gd name="adj" fmla="val 33234"/>
            </a:avLst>
          </a:prstGeom>
          <a:solidFill>
            <a:srgbClr val="333333"/>
          </a:solidFill>
          <a:ln/>
        </p:spPr>
      </p:sp>
      <p:sp>
        <p:nvSpPr>
          <p:cNvPr id="84" name="Text 7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86" name="Text 7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010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GPU世代進化タイムライン</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533449"/>
            <a:ext cx="933053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NVIDIAのGPUアーキテクチャは急速に進化し続け、二世代のジャンプを経てOrin(Ampere)からThor(Blackwell)へと進化</a:t>
            </a:r>
            <a:endParaRPr lang="en-US" sz="1300" dirty="0"/>
          </a:p>
        </p:txBody>
      </p:sp>
      <p:pic>
        <p:nvPicPr>
          <p:cNvPr id="6" name="Image 0" descr="preencoded.png">    </p:cNvPr>
          <p:cNvPicPr>
            <a:picLocks noChangeAspect="1"/>
          </p:cNvPicPr>
          <p:nvPr/>
        </p:nvPicPr>
        <p:blipFill>
          <a:blip r:embed="rId1"/>
          <a:srcRect l="0" r="0" t="-1100" b="-1100"/>
          <a:stretch/>
        </p:blipFill>
        <p:spPr>
          <a:xfrm>
            <a:off x="5672938" y="2645359"/>
            <a:ext cx="114300" cy="133502"/>
          </a:xfrm>
          <a:prstGeom prst="rect">
            <a:avLst/>
          </a:prstGeom>
        </p:spPr>
      </p:pic>
      <p:sp>
        <p:nvSpPr>
          <p:cNvPr id="7" name="Text 4"/>
          <p:cNvSpPr txBox="1"/>
          <p:nvPr/>
        </p:nvSpPr>
        <p:spPr>
          <a:xfrm>
            <a:off x="5863133" y="2609698"/>
            <a:ext cx="1024128"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二世代ジャンプ</a:t>
            </a:r>
            <a:endParaRPr lang="en-US" sz="1000" dirty="0"/>
          </a:p>
        </p:txBody>
      </p:sp>
      <p:pic>
        <p:nvPicPr>
          <p:cNvPr id="8" name="Image 1" descr="preencoded.png">    </p:cNvPr>
          <p:cNvPicPr>
            <a:picLocks noChangeAspect="1"/>
          </p:cNvPicPr>
          <p:nvPr/>
        </p:nvPicPr>
        <p:blipFill>
          <a:blip r:embed="rId2"/>
          <a:srcRect l="0" r="0" t="-1100" b="-1100"/>
          <a:stretch/>
        </p:blipFill>
        <p:spPr>
          <a:xfrm>
            <a:off x="6862572" y="2645359"/>
            <a:ext cx="114300" cy="133502"/>
          </a:xfrm>
          <a:prstGeom prst="rect">
            <a:avLst/>
          </a:prstGeom>
        </p:spPr>
      </p:pic>
      <p:sp>
        <p:nvSpPr>
          <p:cNvPr id="9" name="Text 5"/>
          <p:cNvSpPr txBox="1"/>
          <p:nvPr/>
        </p:nvSpPr>
        <p:spPr>
          <a:xfrm>
            <a:off x="1561795" y="3161995"/>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2018-2019</a:t>
            </a:r>
            <a:endParaRPr lang="en-US" sz="1200" dirty="0"/>
          </a:p>
        </p:txBody>
      </p:sp>
      <p:sp>
        <p:nvSpPr>
          <p:cNvPr id="10" name="Text 6"/>
          <p:cNvSpPr txBox="1"/>
          <p:nvPr/>
        </p:nvSpPr>
        <p:spPr>
          <a:xfrm>
            <a:off x="35762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2020</a:t>
            </a:r>
            <a:endParaRPr lang="en-US" sz="1200" dirty="0"/>
          </a:p>
        </p:txBody>
      </p:sp>
      <p:sp>
        <p:nvSpPr>
          <p:cNvPr id="11" name="Text 7"/>
          <p:cNvSpPr txBox="1"/>
          <p:nvPr/>
        </p:nvSpPr>
        <p:spPr>
          <a:xfrm>
            <a:off x="55760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2022</a:t>
            </a:r>
            <a:endParaRPr lang="en-US" sz="1200" dirty="0"/>
          </a:p>
        </p:txBody>
      </p:sp>
      <p:sp>
        <p:nvSpPr>
          <p:cNvPr id="12" name="Text 8"/>
          <p:cNvSpPr txBox="1"/>
          <p:nvPr/>
        </p:nvSpPr>
        <p:spPr>
          <a:xfrm>
            <a:off x="75767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2023</a:t>
            </a:r>
            <a:endParaRPr lang="en-US" sz="1200" dirty="0"/>
          </a:p>
        </p:txBody>
      </p:sp>
      <p:sp>
        <p:nvSpPr>
          <p:cNvPr id="13" name="Text 9"/>
          <p:cNvSpPr txBox="1"/>
          <p:nvPr/>
        </p:nvSpPr>
        <p:spPr>
          <a:xfrm>
            <a:off x="95765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2025</a:t>
            </a:r>
            <a:endParaRPr lang="en-US" sz="1200" dirty="0"/>
          </a:p>
        </p:txBody>
      </p:sp>
      <p:sp>
        <p:nvSpPr>
          <p:cNvPr id="14" name="Text 10"/>
          <p:cNvSpPr txBox="1"/>
          <p:nvPr/>
        </p:nvSpPr>
        <p:spPr>
          <a:xfrm>
            <a:off x="609905" y="6248095"/>
            <a:ext cx="73682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Orin → Thorへの進化では、Ampereから中間のHopper世代を経てBlackwellへの二世代分のアーキテクチャ進化を内包</a:t>
            </a:r>
            <a:endParaRPr lang="en-US" sz="1000" dirty="0"/>
          </a:p>
        </p:txBody>
      </p:sp>
      <p:sp>
        <p:nvSpPr>
          <p:cNvPr id="15" name="Text 11"/>
          <p:cNvSpPr txBox="1"/>
          <p:nvPr/>
        </p:nvSpPr>
        <p:spPr>
          <a:xfrm>
            <a:off x="609905" y="6439205"/>
            <a:ext cx="103491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Transformer Engineは生成AIモデルに最適化された実行環境、TMはTensor Memory、TMAはTensor Memory Accelerator、UMMAはUnified Matrix Multiply-Accumulate</a:t>
            </a:r>
            <a:endParaRPr lang="en-US" sz="1000" dirty="0"/>
          </a:p>
        </p:txBody>
      </p:sp>
      <p:sp>
        <p:nvSpPr>
          <p:cNvPr id="16" name="Shape 12"/>
          <p:cNvSpPr/>
          <p:nvPr/>
        </p:nvSpPr>
        <p:spPr>
          <a:xfrm>
            <a:off x="0" y="6458407"/>
            <a:ext cx="12191695" cy="9144"/>
          </a:xfrm>
          <a:prstGeom prst="rect">
            <a:avLst/>
          </a:prstGeom>
          <a:solidFill>
            <a:srgbClr val="EAEAEA"/>
          </a:solidFill>
          <a:ln/>
        </p:spPr>
      </p:sp>
      <p:sp>
        <p:nvSpPr>
          <p:cNvPr id="17" name="Text 13"/>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4"/>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5</a:t>
            </a:r>
            <a:endParaRPr lang="en-US" sz="1000" dirty="0"/>
          </a:p>
        </p:txBody>
      </p:sp>
      <p:sp>
        <p:nvSpPr>
          <p:cNvPr id="19" name="Shape 15"/>
          <p:cNvSpPr/>
          <p:nvPr/>
        </p:nvSpPr>
        <p:spPr>
          <a:xfrm>
            <a:off x="609905" y="2971800"/>
            <a:ext cx="10972800" cy="38405"/>
          </a:xfrm>
          <a:prstGeom prst="rect">
            <a:avLst/>
          </a:prstGeom>
          <a:solidFill>
            <a:srgbClr val="E0E0E0"/>
          </a:solidFill>
          <a:ln/>
        </p:spPr>
      </p:sp>
      <p:sp>
        <p:nvSpPr>
          <p:cNvPr id="20" name="Shape 16"/>
          <p:cNvSpPr/>
          <p:nvPr/>
        </p:nvSpPr>
        <p:spPr>
          <a:xfrm>
            <a:off x="4229100" y="2971800"/>
            <a:ext cx="4953305" cy="38405"/>
          </a:xfrm>
          <a:prstGeom prst="rect">
            <a:avLst/>
          </a:prstGeom>
          <a:solidFill>
            <a:srgbClr val="76B900"/>
          </a:solidFill>
          <a:ln/>
        </p:spPr>
      </p:sp>
      <p:sp>
        <p:nvSpPr>
          <p:cNvPr id="21" name="Text 17"/>
          <p:cNvSpPr txBox="1"/>
          <p:nvPr/>
        </p:nvSpPr>
        <p:spPr>
          <a:xfrm>
            <a:off x="1278331" y="3295498"/>
            <a:ext cx="495605"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Volta</a:t>
            </a:r>
            <a:endParaRPr lang="en-US" sz="1200" dirty="0"/>
          </a:p>
        </p:txBody>
      </p:sp>
      <p:sp>
        <p:nvSpPr>
          <p:cNvPr id="22" name="Text 18"/>
          <p:cNvSpPr txBox="1"/>
          <p:nvPr/>
        </p:nvSpPr>
        <p:spPr>
          <a:xfrm>
            <a:off x="3542386" y="3295498"/>
            <a:ext cx="60076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Turing</a:t>
            </a:r>
            <a:endParaRPr lang="en-US" sz="1200" dirty="0"/>
          </a:p>
        </p:txBody>
      </p:sp>
      <p:sp>
        <p:nvSpPr>
          <p:cNvPr id="23" name="Text 19"/>
          <p:cNvSpPr txBox="1"/>
          <p:nvPr/>
        </p:nvSpPr>
        <p:spPr>
          <a:xfrm>
            <a:off x="8133588" y="3295498"/>
            <a:ext cx="6766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Hopper</a:t>
            </a:r>
            <a:endParaRPr lang="en-US" sz="1200" dirty="0"/>
          </a:p>
        </p:txBody>
      </p:sp>
      <p:sp>
        <p:nvSpPr>
          <p:cNvPr id="24" name="Shape 20"/>
          <p:cNvSpPr/>
          <p:nvPr/>
        </p:nvSpPr>
        <p:spPr>
          <a:xfrm>
            <a:off x="609905" y="3696005"/>
            <a:ext cx="1714500" cy="1333195"/>
          </a:xfrm>
          <a:prstGeom prst="roundRect">
            <a:avLst>
              <a:gd name="adj" fmla="val 2939"/>
            </a:avLst>
          </a:prstGeom>
          <a:solidFill>
            <a:srgbClr val="F9F9F9"/>
          </a:solidFill>
          <a:ln w="12700">
            <a:solidFill>
              <a:srgbClr val="E0E0E0"/>
            </a:solidFill>
            <a:prstDash val="solid"/>
          </a:ln>
        </p:spPr>
      </p:sp>
      <p:sp>
        <p:nvSpPr>
          <p:cNvPr id="25" name="Shape 21"/>
          <p:cNvSpPr/>
          <p:nvPr/>
        </p:nvSpPr>
        <p:spPr>
          <a:xfrm>
            <a:off x="2924251" y="3696005"/>
            <a:ext cx="1714500" cy="1333195"/>
          </a:xfrm>
          <a:prstGeom prst="roundRect">
            <a:avLst>
              <a:gd name="adj" fmla="val 2939"/>
            </a:avLst>
          </a:prstGeom>
          <a:solidFill>
            <a:srgbClr val="F9F9F9"/>
          </a:solidFill>
          <a:ln w="12700">
            <a:solidFill>
              <a:srgbClr val="E0E0E0"/>
            </a:solidFill>
            <a:prstDash val="solid"/>
          </a:ln>
        </p:spPr>
      </p:sp>
      <p:sp>
        <p:nvSpPr>
          <p:cNvPr id="26" name="Shape 22"/>
          <p:cNvSpPr/>
          <p:nvPr/>
        </p:nvSpPr>
        <p:spPr>
          <a:xfrm>
            <a:off x="7552944" y="3696005"/>
            <a:ext cx="1714500" cy="1333195"/>
          </a:xfrm>
          <a:prstGeom prst="roundRect">
            <a:avLst>
              <a:gd name="adj" fmla="val 2939"/>
            </a:avLst>
          </a:prstGeom>
          <a:solidFill>
            <a:srgbClr val="F9F9F9"/>
          </a:solidFill>
          <a:ln w="12700">
            <a:solidFill>
              <a:srgbClr val="E0E0E0"/>
            </a:solidFill>
            <a:prstDash val="solid"/>
          </a:ln>
        </p:spPr>
      </p:sp>
      <p:sp>
        <p:nvSpPr>
          <p:cNvPr id="27" name="Text 23"/>
          <p:cNvSpPr txBox="1"/>
          <p:nvPr/>
        </p:nvSpPr>
        <p:spPr>
          <a:xfrm>
            <a:off x="733349"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第1世代Tensor Core</a:t>
            </a:r>
            <a:endParaRPr lang="en-US" sz="1000" dirty="0"/>
          </a:p>
        </p:txBody>
      </p:sp>
      <p:sp>
        <p:nvSpPr>
          <p:cNvPr id="28" name="Text 24"/>
          <p:cNvSpPr txBox="1"/>
          <p:nvPr/>
        </p:nvSpPr>
        <p:spPr>
          <a:xfrm>
            <a:off x="3047695"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第2世代Tensor Core</a:t>
            </a:r>
            <a:endParaRPr lang="en-US" sz="1000" dirty="0"/>
          </a:p>
        </p:txBody>
      </p:sp>
      <p:sp>
        <p:nvSpPr>
          <p:cNvPr id="29" name="Text 25"/>
          <p:cNvSpPr txBox="1"/>
          <p:nvPr/>
        </p:nvSpPr>
        <p:spPr>
          <a:xfrm>
            <a:off x="7677302"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第4世代Tensor Core</a:t>
            </a:r>
            <a:endParaRPr lang="en-US" sz="1000" dirty="0"/>
          </a:p>
        </p:txBody>
      </p:sp>
      <p:sp>
        <p:nvSpPr>
          <p:cNvPr id="30" name="Text 26"/>
          <p:cNvSpPr txBox="1"/>
          <p:nvPr/>
        </p:nvSpPr>
        <p:spPr>
          <a:xfrm>
            <a:off x="733349" y="403890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・初のTensorコア導入</a:t>
            </a:r>
            <a:endParaRPr lang="en-US" sz="900" dirty="0"/>
          </a:p>
        </p:txBody>
      </p:sp>
      <p:sp>
        <p:nvSpPr>
          <p:cNvPr id="31" name="Text 27"/>
          <p:cNvSpPr txBox="1"/>
          <p:nvPr/>
        </p:nvSpPr>
        <p:spPr>
          <a:xfrm>
            <a:off x="733349" y="4190695"/>
            <a:ext cx="1228954"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・FP16/FP32行列演算</a:t>
            </a:r>
            <a:endParaRPr lang="en-US" sz="900" dirty="0"/>
          </a:p>
        </p:txBody>
      </p:sp>
      <p:sp>
        <p:nvSpPr>
          <p:cNvPr id="32" name="Text 28"/>
          <p:cNvSpPr txBox="1"/>
          <p:nvPr/>
        </p:nvSpPr>
        <p:spPr>
          <a:xfrm>
            <a:off x="733349" y="4343400"/>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・HBMメモリ</a:t>
            </a:r>
            <a:endParaRPr lang="en-US" sz="900" dirty="0"/>
          </a:p>
        </p:txBody>
      </p:sp>
      <p:sp>
        <p:nvSpPr>
          <p:cNvPr id="33" name="Text 29"/>
          <p:cNvSpPr txBox="1"/>
          <p:nvPr/>
        </p:nvSpPr>
        <p:spPr>
          <a:xfrm>
            <a:off x="3047695" y="4038905"/>
            <a:ext cx="11430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・INT8演算サポート</a:t>
            </a:r>
            <a:endParaRPr lang="en-US" sz="900" dirty="0"/>
          </a:p>
        </p:txBody>
      </p:sp>
      <p:sp>
        <p:nvSpPr>
          <p:cNvPr id="34" name="Text 30"/>
          <p:cNvSpPr txBox="1"/>
          <p:nvPr/>
        </p:nvSpPr>
        <p:spPr>
          <a:xfrm>
            <a:off x="3047695" y="4190695"/>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・RT Core初導入</a:t>
            </a:r>
            <a:endParaRPr lang="en-US" sz="900" dirty="0"/>
          </a:p>
        </p:txBody>
      </p:sp>
      <p:sp>
        <p:nvSpPr>
          <p:cNvPr id="35" name="Text 31"/>
          <p:cNvSpPr txBox="1"/>
          <p:nvPr/>
        </p:nvSpPr>
        <p:spPr>
          <a:xfrm>
            <a:off x="3047695" y="4343400"/>
            <a:ext cx="10479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・同時FP+INT演算</a:t>
            </a:r>
            <a:endParaRPr lang="en-US" sz="900" dirty="0"/>
          </a:p>
        </p:txBody>
      </p:sp>
      <p:sp>
        <p:nvSpPr>
          <p:cNvPr id="36" name="Text 32"/>
          <p:cNvSpPr txBox="1"/>
          <p:nvPr/>
        </p:nvSpPr>
        <p:spPr>
          <a:xfrm>
            <a:off x="7677302" y="403890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・FP8対応</a:t>
            </a:r>
            <a:endParaRPr lang="en-US" sz="900" dirty="0"/>
          </a:p>
        </p:txBody>
      </p:sp>
      <p:sp>
        <p:nvSpPr>
          <p:cNvPr id="37" name="Text 33"/>
          <p:cNvSpPr txBox="1"/>
          <p:nvPr/>
        </p:nvSpPr>
        <p:spPr>
          <a:xfrm>
            <a:off x="7677302" y="419069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sp>
        <p:nvSpPr>
          <p:cNvPr id="38" name="Text 34"/>
          <p:cNvSpPr txBox="1"/>
          <p:nvPr/>
        </p:nvSpPr>
        <p:spPr>
          <a:xfrm>
            <a:off x="7677302" y="4343400"/>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・TMA / WGMMA</a:t>
            </a:r>
            <a:endParaRPr lang="en-US" sz="900" dirty="0"/>
          </a:p>
        </p:txBody>
      </p:sp>
      <p:sp>
        <p:nvSpPr>
          <p:cNvPr id="39" name="Text 35"/>
          <p:cNvSpPr txBox="1"/>
          <p:nvPr/>
        </p:nvSpPr>
        <p:spPr>
          <a:xfrm>
            <a:off x="7677302" y="4496105"/>
            <a:ext cx="13057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・Thread Block Cluster</a:t>
            </a:r>
            <a:endParaRPr lang="en-US" sz="900" dirty="0"/>
          </a:p>
        </p:txBody>
      </p:sp>
      <p:sp>
        <p:nvSpPr>
          <p:cNvPr id="40" name="Text 36"/>
          <p:cNvSpPr txBox="1"/>
          <p:nvPr/>
        </p:nvSpPr>
        <p:spPr>
          <a:xfrm>
            <a:off x="5808269" y="3333902"/>
            <a:ext cx="6958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Ampere</a:t>
            </a:r>
            <a:endParaRPr lang="en-US" sz="1200" dirty="0"/>
          </a:p>
        </p:txBody>
      </p:sp>
      <p:sp>
        <p:nvSpPr>
          <p:cNvPr id="41" name="Text 37"/>
          <p:cNvSpPr txBox="1"/>
          <p:nvPr/>
        </p:nvSpPr>
        <p:spPr>
          <a:xfrm>
            <a:off x="10367467" y="3333902"/>
            <a:ext cx="838505"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Blackwell</a:t>
            </a:r>
            <a:endParaRPr lang="en-US" sz="1200" dirty="0"/>
          </a:p>
        </p:txBody>
      </p:sp>
      <p:sp>
        <p:nvSpPr>
          <p:cNvPr id="42" name="Shape 38"/>
          <p:cNvSpPr/>
          <p:nvPr/>
        </p:nvSpPr>
        <p:spPr>
          <a:xfrm>
            <a:off x="5238598"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3" name="Shape 39"/>
          <p:cNvSpPr/>
          <p:nvPr/>
        </p:nvSpPr>
        <p:spPr>
          <a:xfrm>
            <a:off x="9868205"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4" name="Text 40"/>
          <p:cNvSpPr txBox="1"/>
          <p:nvPr/>
        </p:nvSpPr>
        <p:spPr>
          <a:xfrm>
            <a:off x="5362956"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第3世代Tensor Core</a:t>
            </a:r>
            <a:endParaRPr lang="en-US" sz="1000" dirty="0"/>
          </a:p>
        </p:txBody>
      </p:sp>
      <p:sp>
        <p:nvSpPr>
          <p:cNvPr id="45" name="Text 41"/>
          <p:cNvSpPr txBox="1"/>
          <p:nvPr/>
        </p:nvSpPr>
        <p:spPr>
          <a:xfrm>
            <a:off x="9991649"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第5世代Tensor Core</a:t>
            </a:r>
            <a:endParaRPr lang="en-US" sz="1000" dirty="0"/>
          </a:p>
        </p:txBody>
      </p:sp>
      <p:sp>
        <p:nvSpPr>
          <p:cNvPr id="46" name="Text 42"/>
          <p:cNvSpPr txBox="1"/>
          <p:nvPr/>
        </p:nvSpPr>
        <p:spPr>
          <a:xfrm>
            <a:off x="5362956" y="4076395"/>
            <a:ext cx="86685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・Sparsity対応</a:t>
            </a:r>
            <a:endParaRPr lang="en-US" sz="900" dirty="0"/>
          </a:p>
        </p:txBody>
      </p:sp>
      <p:sp>
        <p:nvSpPr>
          <p:cNvPr id="47" name="Text 43"/>
          <p:cNvSpPr txBox="1"/>
          <p:nvPr/>
        </p:nvSpPr>
        <p:spPr>
          <a:xfrm>
            <a:off x="5362956" y="4229100"/>
            <a:ext cx="1153058"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・TF32フォーマット</a:t>
            </a:r>
            <a:endParaRPr lang="en-US" sz="900" dirty="0"/>
          </a:p>
        </p:txBody>
      </p:sp>
      <p:sp>
        <p:nvSpPr>
          <p:cNvPr id="48" name="Text 44"/>
          <p:cNvSpPr txBox="1"/>
          <p:nvPr/>
        </p:nvSpPr>
        <p:spPr>
          <a:xfrm>
            <a:off x="5362956" y="4381805"/>
            <a:ext cx="8193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・Async Copy</a:t>
            </a:r>
            <a:endParaRPr lang="en-US" sz="900" dirty="0"/>
          </a:p>
        </p:txBody>
      </p:sp>
      <p:sp>
        <p:nvSpPr>
          <p:cNvPr id="49" name="Text 45"/>
          <p:cNvSpPr txBox="1"/>
          <p:nvPr/>
        </p:nvSpPr>
        <p:spPr>
          <a:xfrm>
            <a:off x="9991649" y="407639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・FP4対応</a:t>
            </a:r>
            <a:endParaRPr lang="en-US" sz="900" dirty="0"/>
          </a:p>
        </p:txBody>
      </p:sp>
      <p:sp>
        <p:nvSpPr>
          <p:cNvPr id="50" name="Text 46"/>
          <p:cNvSpPr txBox="1"/>
          <p:nvPr/>
        </p:nvSpPr>
        <p:spPr>
          <a:xfrm>
            <a:off x="9991649" y="4229100"/>
            <a:ext cx="140086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 v2</a:t>
            </a:r>
            <a:endParaRPr lang="en-US" sz="900" dirty="0"/>
          </a:p>
        </p:txBody>
      </p:sp>
      <p:sp>
        <p:nvSpPr>
          <p:cNvPr id="51" name="Text 47"/>
          <p:cNvSpPr txBox="1"/>
          <p:nvPr/>
        </p:nvSpPr>
        <p:spPr>
          <a:xfrm>
            <a:off x="9991649" y="4381805"/>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 / UMMA</a:t>
            </a:r>
            <a:endParaRPr lang="en-US" sz="900" dirty="0"/>
          </a:p>
        </p:txBody>
      </p:sp>
      <p:sp>
        <p:nvSpPr>
          <p:cNvPr id="52" name="Text 48"/>
          <p:cNvSpPr txBox="1"/>
          <p:nvPr/>
        </p:nvSpPr>
        <p:spPr>
          <a:xfrm>
            <a:off x="5362956" y="4610405"/>
            <a:ext cx="1267358"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Orin搭載(2022)</a:t>
            </a:r>
            <a:endParaRPr lang="en-US" sz="900" dirty="0"/>
          </a:p>
        </p:txBody>
      </p:sp>
      <p:sp>
        <p:nvSpPr>
          <p:cNvPr id="53" name="Text 49"/>
          <p:cNvSpPr txBox="1"/>
          <p:nvPr/>
        </p:nvSpPr>
        <p:spPr>
          <a:xfrm>
            <a:off x="9991649" y="4610405"/>
            <a:ext cx="1286561"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Thor搭載(2025)</a:t>
            </a:r>
            <a:endParaRPr lang="en-US" sz="900" dirty="0"/>
          </a:p>
        </p:txBody>
      </p:sp>
      <p:sp>
        <p:nvSpPr>
          <p:cNvPr id="54" name="Shape 50"/>
          <p:cNvSpPr/>
          <p:nvPr/>
        </p:nvSpPr>
        <p:spPr>
          <a:xfrm>
            <a:off x="1371600" y="3010205"/>
            <a:ext cx="190195" cy="190195"/>
          </a:xfrm>
          <a:prstGeom prst="ellipse">
            <a:avLst/>
          </a:prstGeom>
          <a:solidFill>
            <a:srgbClr val="E0E0E0"/>
          </a:solidFill>
          <a:ln w="38100">
            <a:solidFill>
              <a:srgbClr val="FFFFFF"/>
            </a:solidFill>
            <a:prstDash val="solid"/>
          </a:ln>
        </p:spPr>
      </p:sp>
      <p:sp>
        <p:nvSpPr>
          <p:cNvPr id="55" name="Shape 51"/>
          <p:cNvSpPr/>
          <p:nvPr/>
        </p:nvSpPr>
        <p:spPr>
          <a:xfrm>
            <a:off x="3685946" y="3010205"/>
            <a:ext cx="190195" cy="190195"/>
          </a:xfrm>
          <a:prstGeom prst="ellipse">
            <a:avLst/>
          </a:prstGeom>
          <a:solidFill>
            <a:srgbClr val="E0E0E0"/>
          </a:solidFill>
          <a:ln w="38100">
            <a:solidFill>
              <a:srgbClr val="FFFFFF"/>
            </a:solidFill>
            <a:prstDash val="solid"/>
          </a:ln>
        </p:spPr>
      </p:sp>
      <p:sp>
        <p:nvSpPr>
          <p:cNvPr id="56" name="Shape 52"/>
          <p:cNvSpPr/>
          <p:nvPr/>
        </p:nvSpPr>
        <p:spPr>
          <a:xfrm>
            <a:off x="8315554" y="3010205"/>
            <a:ext cx="190195" cy="190195"/>
          </a:xfrm>
          <a:prstGeom prst="ellipse">
            <a:avLst/>
          </a:prstGeom>
          <a:solidFill>
            <a:srgbClr val="E0E0E0"/>
          </a:solidFill>
          <a:ln w="38100">
            <a:solidFill>
              <a:srgbClr val="FFFFFF"/>
            </a:solidFill>
            <a:prstDash val="solid"/>
          </a:ln>
        </p:spPr>
      </p:sp>
      <p:sp>
        <p:nvSpPr>
          <p:cNvPr id="57" name="Shape 53"/>
          <p:cNvSpPr/>
          <p:nvPr/>
        </p:nvSpPr>
        <p:spPr>
          <a:xfrm>
            <a:off x="5982005" y="3010205"/>
            <a:ext cx="228600" cy="228600"/>
          </a:xfrm>
          <a:prstGeom prst="ellipse">
            <a:avLst/>
          </a:prstGeom>
          <a:solidFill>
            <a:srgbClr val="76B900"/>
          </a:solidFill>
          <a:ln w="38100">
            <a:solidFill>
              <a:srgbClr val="FFFFFF"/>
            </a:solidFill>
            <a:prstDash val="solid"/>
          </a:ln>
        </p:spPr>
      </p:sp>
      <p:sp>
        <p:nvSpPr>
          <p:cNvPr id="58" name="Shape 54"/>
          <p:cNvSpPr/>
          <p:nvPr/>
        </p:nvSpPr>
        <p:spPr>
          <a:xfrm>
            <a:off x="10610698" y="3010205"/>
            <a:ext cx="228600" cy="228600"/>
          </a:xfrm>
          <a:prstGeom prst="ellipse">
            <a:avLst/>
          </a:prstGeom>
          <a:solidFill>
            <a:srgbClr val="76B900"/>
          </a:solidFill>
          <a:ln w="38100">
            <a:solidFill>
              <a:srgbClr val="FFFFFF"/>
            </a:solidFill>
            <a:prstDash val="solid"/>
          </a:ln>
        </p:spPr>
      </p:sp>
      <p:sp>
        <p:nvSpPr>
          <p:cNvPr id="59" name="Shape 55"/>
          <p:cNvSpPr/>
          <p:nvPr/>
        </p:nvSpPr>
        <p:spPr>
          <a:xfrm>
            <a:off x="10707624" y="6344107"/>
            <a:ext cx="1295705" cy="323698"/>
          </a:xfrm>
          <a:prstGeom prst="roundRect">
            <a:avLst>
              <a:gd name="adj" fmla="val 33234"/>
            </a:avLst>
          </a:prstGeom>
          <a:solidFill>
            <a:srgbClr val="333333"/>
          </a:solidFill>
          <a:ln/>
        </p:spPr>
      </p:sp>
      <p:pic>
        <p:nvPicPr>
          <p:cNvPr id="60" name="Image 2" descr="preencoded.png">    </p:cNvPr>
          <p:cNvPicPr>
            <a:picLocks noChangeAspect="1"/>
          </p:cNvPicPr>
          <p:nvPr/>
        </p:nvPicPr>
        <p:blipFill>
          <a:blip r:embed="rId3"/>
          <a:srcRect l="0" r="0" t="0" b="0"/>
          <a:stretch/>
        </p:blipFill>
        <p:spPr>
          <a:xfrm>
            <a:off x="10821924" y="6439205"/>
            <a:ext cx="133502" cy="133502"/>
          </a:xfrm>
          <a:prstGeom prst="rect">
            <a:avLst/>
          </a:prstGeom>
        </p:spPr>
      </p:pic>
      <p:sp>
        <p:nvSpPr>
          <p:cNvPr id="61" name="Shape 56"/>
          <p:cNvSpPr/>
          <p:nvPr/>
        </p:nvSpPr>
        <p:spPr>
          <a:xfrm>
            <a:off x="10707624" y="6344107"/>
            <a:ext cx="1295705" cy="323698"/>
          </a:xfrm>
          <a:prstGeom prst="roundRect">
            <a:avLst>
              <a:gd name="adj" fmla="val 33234"/>
            </a:avLst>
          </a:prstGeom>
          <a:solidFill>
            <a:srgbClr val="333333"/>
          </a:solidFill>
          <a:ln/>
        </p:spPr>
      </p:sp>
      <p:sp>
        <p:nvSpPr>
          <p:cNvPr id="62" name="Text 5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63"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64" name="Text 5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096512"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Ampere (Orin搭載)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300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Ampere SM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491740" y="3419856"/>
            <a:ext cx="1548079"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Ampere SM構造図</a:t>
            </a:r>
            <a:endParaRPr lang="en-US" sz="1300" dirty="0"/>
          </a:p>
        </p:txBody>
      </p:sp>
      <p:sp>
        <p:nvSpPr>
          <p:cNvPr id="9" name="Text 6"/>
          <p:cNvSpPr txBox="1"/>
          <p:nvPr/>
        </p:nvSpPr>
        <p:spPr>
          <a:xfrm>
            <a:off x="1903781" y="3752698"/>
            <a:ext cx="270113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TF32、第3世代Tensor Core、192KB L1/SM</a:t>
            </a:r>
            <a:endParaRPr lang="en-US" sz="1000" dirty="0"/>
          </a:p>
        </p:txBody>
      </p:sp>
      <p:sp>
        <p:nvSpPr>
          <p:cNvPr id="10" name="Text 7"/>
          <p:cNvSpPr txBox="1"/>
          <p:nvPr/>
        </p:nvSpPr>
        <p:spPr>
          <a:xfrm>
            <a:off x="1882750" y="4095598"/>
            <a:ext cx="27386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Ampere Architecture In-Depth</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Ampere SMは128 CUDA Core/SMの高密度設計を採用。Voltaの64 CUDA Core/SMから倍増。</a:t>
            </a:r>
            <a:endParaRPr lang="en-US" sz="1000" dirty="0"/>
          </a:p>
        </p:txBody>
      </p:sp>
      <p:sp>
        <p:nvSpPr>
          <p:cNvPr id="12" name="Text 9"/>
          <p:cNvSpPr txBox="1"/>
          <p:nvPr/>
        </p:nvSpPr>
        <p:spPr>
          <a:xfrm>
            <a:off x="6400800" y="1304849"/>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主要技術と革新機能</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第3世代Tensor Core</a:t>
            </a:r>
            <a:endParaRPr lang="en-US" sz="1300" dirty="0"/>
          </a:p>
        </p:txBody>
      </p:sp>
      <p:sp>
        <p:nvSpPr>
          <p:cNvPr id="15" name="Text 11"/>
          <p:cNvSpPr txBox="1"/>
          <p:nvPr/>
        </p:nvSpPr>
        <p:spPr>
          <a:xfrm>
            <a:off x="6743700" y="2076602"/>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行列演算を高速化する専用ユニット。FP16/FP32に加えて新たにTF32とINT8をサポートし、AI演算を大幅に効率化。</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42646" cy="190195"/>
          </a:xfrm>
          <a:prstGeom prst="rect">
            <a:avLst/>
          </a:prstGeom>
        </p:spPr>
      </p:pic>
      <p:sp>
        <p:nvSpPr>
          <p:cNvPr id="17" name="Text 12"/>
          <p:cNvSpPr txBox="1"/>
          <p:nvPr/>
        </p:nvSpPr>
        <p:spPr>
          <a:xfrm>
            <a:off x="6696151" y="2676449"/>
            <a:ext cx="15672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TF32フォーマット</a:t>
            </a:r>
            <a:endParaRPr lang="en-US" sz="1300" dirty="0"/>
          </a:p>
        </p:txBody>
      </p:sp>
      <p:sp>
        <p:nvSpPr>
          <p:cNvPr id="18" name="Text 13"/>
          <p:cNvSpPr txBox="1"/>
          <p:nvPr/>
        </p:nvSpPr>
        <p:spPr>
          <a:xfrm>
            <a:off x="6696151" y="2952598"/>
            <a:ext cx="49816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FP32の範囲とFP16の精度を組み合わせた新データ形式。従来のFP32コードをそのままに最大10倍の高速化を実現。</a:t>
            </a:r>
            <a:endParaRPr lang="en-US" sz="1200" dirty="0"/>
          </a:p>
        </p:txBody>
      </p:sp>
      <p:pic>
        <p:nvPicPr>
          <p:cNvPr id="19" name="Image 3" descr="preencoded.png">    </p:cNvPr>
          <p:cNvPicPr>
            <a:picLocks noChangeAspect="1"/>
          </p:cNvPicPr>
          <p:nvPr/>
        </p:nvPicPr>
        <p:blipFill>
          <a:blip r:embed="rId4"/>
          <a:srcRect l="0" r="0" t="0" b="0"/>
          <a:stretch/>
        </p:blipFill>
        <p:spPr>
          <a:xfrm>
            <a:off x="6400800" y="3595421"/>
            <a:ext cx="190195" cy="190195"/>
          </a:xfrm>
          <a:prstGeom prst="rect">
            <a:avLst/>
          </a:prstGeom>
        </p:spPr>
      </p:pic>
      <p:sp>
        <p:nvSpPr>
          <p:cNvPr id="20" name="Text 14"/>
          <p:cNvSpPr txBox="1"/>
          <p:nvPr/>
        </p:nvSpPr>
        <p:spPr>
          <a:xfrm>
            <a:off x="6743700" y="3552444"/>
            <a:ext cx="11100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2:4 Sparsity</a:t>
            </a:r>
            <a:endParaRPr lang="en-US" sz="1300" dirty="0"/>
          </a:p>
        </p:txBody>
      </p:sp>
      <p:sp>
        <p:nvSpPr>
          <p:cNvPr id="21" name="Text 15"/>
          <p:cNvSpPr txBox="1"/>
          <p:nvPr/>
        </p:nvSpPr>
        <p:spPr>
          <a:xfrm>
            <a:off x="6743700"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AI推論における疎行列を活用する技術。4つのうち2つの値をゼロとみなして計算を省略し、Tensor Core演算を2倍高速化。</a:t>
            </a:r>
            <a:endParaRPr lang="en-US" sz="1200" dirty="0"/>
          </a:p>
        </p:txBody>
      </p:sp>
      <p:pic>
        <p:nvPicPr>
          <p:cNvPr id="22" name="Image 4" descr="preencoded.png">    </p:cNvPr>
          <p:cNvPicPr>
            <a:picLocks noChangeAspect="1"/>
          </p:cNvPicPr>
          <p:nvPr/>
        </p:nvPicPr>
        <p:blipFill>
          <a:blip r:embed="rId5"/>
          <a:srcRect l="0" r="0" t="0" b="0"/>
          <a:stretch/>
        </p:blipFill>
        <p:spPr>
          <a:xfrm>
            <a:off x="6400800" y="4472330"/>
            <a:ext cx="190195" cy="190195"/>
          </a:xfrm>
          <a:prstGeom prst="rect">
            <a:avLst/>
          </a:prstGeom>
        </p:spPr>
      </p:pic>
      <p:sp>
        <p:nvSpPr>
          <p:cNvPr id="23" name="Text 16"/>
          <p:cNvSpPr txBox="1"/>
          <p:nvPr/>
        </p:nvSpPr>
        <p:spPr>
          <a:xfrm>
            <a:off x="6743700" y="4429354"/>
            <a:ext cx="1890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Async Copy (LDGSTS)</a:t>
            </a:r>
            <a:endParaRPr lang="en-US" sz="1300" dirty="0"/>
          </a:p>
        </p:txBody>
      </p:sp>
      <p:sp>
        <p:nvSpPr>
          <p:cNvPr id="24" name="Text 17"/>
          <p:cNvSpPr txBox="1"/>
          <p:nvPr/>
        </p:nvSpPr>
        <p:spPr>
          <a:xfrm>
            <a:off x="6743700" y="47055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非同期メモリコピーとバリア機能により、グローバルメモリから共有メモリへの転送と計算を並列実行。</a:t>
            </a:r>
            <a:endParaRPr lang="en-US" sz="1200" dirty="0"/>
          </a:p>
        </p:txBody>
      </p:sp>
      <p:pic>
        <p:nvPicPr>
          <p:cNvPr id="25" name="Image 5" descr="preencoded.png">    </p:cNvPr>
          <p:cNvPicPr>
            <a:picLocks noChangeAspect="1"/>
          </p:cNvPicPr>
          <p:nvPr/>
        </p:nvPicPr>
        <p:blipFill>
          <a:blip r:embed="rId6"/>
          <a:srcRect l="-1282" r="-1282" t="0" b="0"/>
          <a:stretch/>
        </p:blipFill>
        <p:spPr>
          <a:xfrm>
            <a:off x="6400800" y="5348326"/>
            <a:ext cx="219456" cy="190195"/>
          </a:xfrm>
          <a:prstGeom prst="rect">
            <a:avLst/>
          </a:prstGeom>
        </p:spPr>
      </p:pic>
      <p:sp>
        <p:nvSpPr>
          <p:cNvPr id="26" name="Text 18"/>
          <p:cNvSpPr txBox="1"/>
          <p:nvPr/>
        </p:nvSpPr>
        <p:spPr>
          <a:xfrm>
            <a:off x="6772046" y="5305349"/>
            <a:ext cx="22055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 (Multi-Instance GPU)</a:t>
            </a:r>
            <a:endParaRPr lang="en-US" sz="1300" dirty="0"/>
          </a:p>
        </p:txBody>
      </p:sp>
      <p:sp>
        <p:nvSpPr>
          <p:cNvPr id="27" name="Text 19"/>
          <p:cNvSpPr txBox="1"/>
          <p:nvPr/>
        </p:nvSpPr>
        <p:spPr>
          <a:xfrm>
            <a:off x="6772046"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GPUを複数の独立したインスタンスに分割。車載システムにおける安全クリティカル処理と非クリティカル処理の分離を実現。</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6</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162495"/>
          </a:xfrm>
          <a:prstGeom prst="rect">
            <a:avLst/>
          </a:prstGeom>
          <a:solidFill>
            <a:srgbClr val="FFFFFF"/>
          </a:solidFill>
          <a:ln/>
        </p:spPr>
      </p:sp>
      <p:sp>
        <p:nvSpPr>
          <p:cNvPr id="3" name="Text 1"/>
          <p:cNvSpPr txBox="1"/>
          <p:nvPr/>
        </p:nvSpPr>
        <p:spPr>
          <a:xfrm>
            <a:off x="609905" y="323698"/>
            <a:ext cx="40005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Hopper (中間世代)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843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 アーキテクチャの革新技術</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1536192"/>
            <a:ext cx="457200" cy="457200"/>
          </a:xfrm>
          <a:prstGeom prst="rect">
            <a:avLst/>
          </a:prstGeom>
        </p:spPr>
      </p:pic>
      <p:sp>
        <p:nvSpPr>
          <p:cNvPr id="8" name="Text 5"/>
          <p:cNvSpPr txBox="1"/>
          <p:nvPr/>
        </p:nvSpPr>
        <p:spPr>
          <a:xfrm>
            <a:off x="2244852" y="2155241"/>
            <a:ext cx="20436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Hopper SM構造と新機能</a:t>
            </a:r>
            <a:endParaRPr lang="en-US" sz="1300" dirty="0"/>
          </a:p>
        </p:txBody>
      </p:sp>
      <p:sp>
        <p:nvSpPr>
          <p:cNvPr id="9" name="Text 6"/>
          <p:cNvSpPr txBox="1"/>
          <p:nvPr/>
        </p:nvSpPr>
        <p:spPr>
          <a:xfrm>
            <a:off x="1979676" y="2488082"/>
            <a:ext cx="25484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TMA/WGMMA/Thread Block Cluster/FP8</a:t>
            </a:r>
            <a:endParaRPr lang="en-US" sz="1000" dirty="0"/>
          </a:p>
        </p:txBody>
      </p:sp>
      <p:sp>
        <p:nvSpPr>
          <p:cNvPr id="10" name="Text 7"/>
          <p:cNvSpPr txBox="1"/>
          <p:nvPr/>
        </p:nvSpPr>
        <p:spPr>
          <a:xfrm>
            <a:off x="1890979" y="2830982"/>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1" name="Shape 8"/>
          <p:cNvSpPr/>
          <p:nvPr/>
        </p:nvSpPr>
        <p:spPr>
          <a:xfrm>
            <a:off x="1904695" y="3326587"/>
            <a:ext cx="1218895" cy="923544"/>
          </a:xfrm>
          <a:prstGeom prst="roundRect">
            <a:avLst>
              <a:gd name="adj" fmla="val 8166"/>
            </a:avLst>
          </a:prstGeom>
          <a:solidFill>
            <a:srgbClr val="E5E7EB"/>
          </a:solidFill>
          <a:ln/>
        </p:spPr>
      </p:sp>
      <p:sp>
        <p:nvSpPr>
          <p:cNvPr id="12" name="Text 9"/>
          <p:cNvSpPr txBox="1"/>
          <p:nvPr/>
        </p:nvSpPr>
        <p:spPr>
          <a:xfrm>
            <a:off x="2374697" y="3479292"/>
            <a:ext cx="3858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TMA</a:t>
            </a:r>
            <a:endParaRPr lang="en-US" sz="1000" dirty="0"/>
          </a:p>
        </p:txBody>
      </p:sp>
      <p:sp>
        <p:nvSpPr>
          <p:cNvPr id="13" name="Text 10"/>
          <p:cNvSpPr txBox="1"/>
          <p:nvPr/>
        </p:nvSpPr>
        <p:spPr>
          <a:xfrm>
            <a:off x="2228393" y="3660343"/>
            <a:ext cx="667512"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非同期転送</a:t>
            </a:r>
            <a:endParaRPr lang="en-US" sz="900" dirty="0"/>
          </a:p>
        </p:txBody>
      </p:sp>
      <p:pic>
        <p:nvPicPr>
          <p:cNvPr id="14" name="Image 1" descr="preencoded.png">    </p:cNvPr>
          <p:cNvPicPr>
            <a:picLocks noChangeAspect="1"/>
          </p:cNvPicPr>
          <p:nvPr/>
        </p:nvPicPr>
        <p:blipFill>
          <a:blip r:embed="rId2"/>
          <a:srcRect l="0" r="0" t="0" b="0"/>
          <a:stretch/>
        </p:blipFill>
        <p:spPr>
          <a:xfrm>
            <a:off x="2428646" y="3898087"/>
            <a:ext cx="171907" cy="171907"/>
          </a:xfrm>
          <a:prstGeom prst="rect">
            <a:avLst/>
          </a:prstGeom>
        </p:spPr>
      </p:pic>
      <p:sp>
        <p:nvSpPr>
          <p:cNvPr id="15" name="Shape 11"/>
          <p:cNvSpPr/>
          <p:nvPr/>
        </p:nvSpPr>
        <p:spPr>
          <a:xfrm>
            <a:off x="3276295" y="3250692"/>
            <a:ext cx="1218895" cy="1076249"/>
          </a:xfrm>
          <a:prstGeom prst="roundRect">
            <a:avLst>
              <a:gd name="adj" fmla="val 6015"/>
            </a:avLst>
          </a:prstGeom>
          <a:solidFill>
            <a:srgbClr val="E5E7EB"/>
          </a:solidFill>
          <a:ln/>
        </p:spPr>
      </p:sp>
      <p:sp>
        <p:nvSpPr>
          <p:cNvPr id="16" name="Text 12"/>
          <p:cNvSpPr txBox="1"/>
          <p:nvPr/>
        </p:nvSpPr>
        <p:spPr>
          <a:xfrm>
            <a:off x="3624682" y="3402482"/>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WGMMA</a:t>
            </a:r>
            <a:endParaRPr lang="en-US" sz="1000" dirty="0"/>
          </a:p>
        </p:txBody>
      </p:sp>
      <p:sp>
        <p:nvSpPr>
          <p:cNvPr id="17" name="Text 13"/>
          <p:cNvSpPr txBox="1"/>
          <p:nvPr/>
        </p:nvSpPr>
        <p:spPr>
          <a:xfrm>
            <a:off x="3464662" y="3583534"/>
            <a:ext cx="933602"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Warpグループ行列演算</a:t>
            </a:r>
            <a:endParaRPr lang="en-US" sz="900" dirty="0"/>
          </a:p>
        </p:txBody>
      </p:sp>
      <p:pic>
        <p:nvPicPr>
          <p:cNvPr id="18" name="Image 2" descr="preencoded.png">    </p:cNvPr>
          <p:cNvPicPr>
            <a:picLocks noChangeAspect="1"/>
          </p:cNvPicPr>
          <p:nvPr/>
        </p:nvPicPr>
        <p:blipFill>
          <a:blip r:embed="rId3"/>
          <a:srcRect l="0" r="0" t="-841" b="-841"/>
          <a:stretch/>
        </p:blipFill>
        <p:spPr>
          <a:xfrm>
            <a:off x="3791102" y="3973982"/>
            <a:ext cx="190195" cy="171907"/>
          </a:xfrm>
          <a:prstGeom prst="rect">
            <a:avLst/>
          </a:prstGeom>
        </p:spPr>
      </p:pic>
      <p:sp>
        <p:nvSpPr>
          <p:cNvPr id="19" name="Shape 14"/>
          <p:cNvSpPr/>
          <p:nvPr/>
        </p:nvSpPr>
        <p:spPr>
          <a:xfrm>
            <a:off x="1904695" y="4552798"/>
            <a:ext cx="1218895" cy="923544"/>
          </a:xfrm>
          <a:prstGeom prst="roundRect">
            <a:avLst>
              <a:gd name="adj" fmla="val 8166"/>
            </a:avLst>
          </a:prstGeom>
          <a:solidFill>
            <a:srgbClr val="E5E7EB"/>
          </a:solidFill>
          <a:ln/>
        </p:spPr>
      </p:sp>
      <p:sp>
        <p:nvSpPr>
          <p:cNvPr id="20" name="Text 15"/>
          <p:cNvSpPr txBox="1"/>
          <p:nvPr/>
        </p:nvSpPr>
        <p:spPr>
          <a:xfrm>
            <a:off x="2090318" y="4705502"/>
            <a:ext cx="9573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Thread Block</a:t>
            </a:r>
            <a:endParaRPr lang="en-US" sz="1000" dirty="0"/>
          </a:p>
        </p:txBody>
      </p:sp>
      <p:sp>
        <p:nvSpPr>
          <p:cNvPr id="21" name="Text 16"/>
          <p:cNvSpPr txBox="1"/>
          <p:nvPr/>
        </p:nvSpPr>
        <p:spPr>
          <a:xfrm>
            <a:off x="2327148" y="4886554"/>
            <a:ext cx="467258"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Cluster</a:t>
            </a:r>
            <a:endParaRPr lang="en-US" sz="900" dirty="0"/>
          </a:p>
        </p:txBody>
      </p:sp>
      <p:pic>
        <p:nvPicPr>
          <p:cNvPr id="22" name="Image 3" descr="preencoded.png">    </p:cNvPr>
          <p:cNvPicPr>
            <a:picLocks noChangeAspect="1"/>
          </p:cNvPicPr>
          <p:nvPr/>
        </p:nvPicPr>
        <p:blipFill>
          <a:blip r:embed="rId4"/>
          <a:srcRect l="0" r="0" t="-841" b="-841"/>
          <a:stretch/>
        </p:blipFill>
        <p:spPr>
          <a:xfrm>
            <a:off x="2419502" y="5124298"/>
            <a:ext cx="190195" cy="171907"/>
          </a:xfrm>
          <a:prstGeom prst="rect">
            <a:avLst/>
          </a:prstGeom>
        </p:spPr>
      </p:pic>
      <p:sp>
        <p:nvSpPr>
          <p:cNvPr id="23" name="Shape 17"/>
          <p:cNvSpPr/>
          <p:nvPr/>
        </p:nvSpPr>
        <p:spPr>
          <a:xfrm>
            <a:off x="3276295" y="4476902"/>
            <a:ext cx="1218895" cy="1076249"/>
          </a:xfrm>
          <a:prstGeom prst="roundRect">
            <a:avLst>
              <a:gd name="adj" fmla="val 6015"/>
            </a:avLst>
          </a:prstGeom>
          <a:solidFill>
            <a:srgbClr val="E5E7EB"/>
          </a:solidFill>
          <a:ln/>
        </p:spPr>
      </p:sp>
      <p:sp>
        <p:nvSpPr>
          <p:cNvPr id="24" name="Text 18"/>
          <p:cNvSpPr txBox="1"/>
          <p:nvPr/>
        </p:nvSpPr>
        <p:spPr>
          <a:xfrm>
            <a:off x="3765499" y="4629607"/>
            <a:ext cx="348386"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FP8</a:t>
            </a:r>
            <a:endParaRPr lang="en-US" sz="1000" dirty="0"/>
          </a:p>
        </p:txBody>
      </p:sp>
      <p:sp>
        <p:nvSpPr>
          <p:cNvPr id="25" name="Text 19"/>
          <p:cNvSpPr txBox="1"/>
          <p:nvPr/>
        </p:nvSpPr>
        <p:spPr>
          <a:xfrm>
            <a:off x="3559759" y="4809744"/>
            <a:ext cx="743407"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pic>
        <p:nvPicPr>
          <p:cNvPr id="26" name="Image 4" descr="preencoded.png">    </p:cNvPr>
          <p:cNvPicPr>
            <a:picLocks noChangeAspect="1"/>
          </p:cNvPicPr>
          <p:nvPr/>
        </p:nvPicPr>
        <p:blipFill>
          <a:blip r:embed="rId5"/>
          <a:srcRect l="-1064" r="-1064" t="0" b="0"/>
          <a:stretch/>
        </p:blipFill>
        <p:spPr>
          <a:xfrm>
            <a:off x="3776472" y="5201107"/>
            <a:ext cx="219456" cy="171907"/>
          </a:xfrm>
          <a:prstGeom prst="rect">
            <a:avLst/>
          </a:prstGeom>
        </p:spPr>
      </p:pic>
      <p:sp>
        <p:nvSpPr>
          <p:cNvPr id="27" name="Text 20"/>
          <p:cNvSpPr txBox="1"/>
          <p:nvPr/>
        </p:nvSpPr>
        <p:spPr>
          <a:xfrm>
            <a:off x="609905" y="5524805"/>
            <a:ext cx="4881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Hopperは第4世代Tensor Coreを搭載し、より効率的な非同期実行機能を提供</a:t>
            </a:r>
            <a:endParaRPr lang="en-US" sz="1000" dirty="0"/>
          </a:p>
        </p:txBody>
      </p:sp>
      <p:sp>
        <p:nvSpPr>
          <p:cNvPr id="28" name="Text 21"/>
          <p:cNvSpPr txBox="1"/>
          <p:nvPr/>
        </p:nvSpPr>
        <p:spPr>
          <a:xfrm>
            <a:off x="6400800" y="1304849"/>
            <a:ext cx="1157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主要技術革新</a:t>
            </a:r>
            <a:endParaRPr lang="en-US" sz="1300" dirty="0"/>
          </a:p>
        </p:txBody>
      </p:sp>
      <p:pic>
        <p:nvPicPr>
          <p:cNvPr id="29" name="Image 5" descr="preencoded.png">    </p:cNvPr>
          <p:cNvPicPr>
            <a:picLocks noChangeAspect="1"/>
          </p:cNvPicPr>
          <p:nvPr/>
        </p:nvPicPr>
        <p:blipFill>
          <a:blip r:embed="rId6"/>
          <a:srcRect l="-1282" r="-1282" t="0" b="0"/>
          <a:stretch/>
        </p:blipFill>
        <p:spPr>
          <a:xfrm>
            <a:off x="6400800" y="1843430"/>
            <a:ext cx="219456" cy="190195"/>
          </a:xfrm>
          <a:prstGeom prst="rect">
            <a:avLst/>
          </a:prstGeom>
        </p:spPr>
      </p:pic>
      <p:sp>
        <p:nvSpPr>
          <p:cNvPr id="30" name="Text 22"/>
          <p:cNvSpPr txBox="1"/>
          <p:nvPr/>
        </p:nvSpPr>
        <p:spPr>
          <a:xfrm>
            <a:off x="6772046" y="1800454"/>
            <a:ext cx="30915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TMA（Tensor Memory Accelerator）</a:t>
            </a:r>
            <a:endParaRPr lang="en-US" sz="1300" dirty="0"/>
          </a:p>
        </p:txBody>
      </p:sp>
      <p:sp>
        <p:nvSpPr>
          <p:cNvPr id="31" name="Text 23"/>
          <p:cNvSpPr txBox="1"/>
          <p:nvPr/>
        </p:nvSpPr>
        <p:spPr>
          <a:xfrm>
            <a:off x="6772046"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グローバル⇔共有メモリ間の大規模データを効率的に転送する非同期コピーエンジン。記述子を設定するだけで多次元テンソルの転送を自動化。</a:t>
            </a:r>
            <a:endParaRPr lang="en-US" sz="1200" dirty="0"/>
          </a:p>
        </p:txBody>
      </p:sp>
      <p:pic>
        <p:nvPicPr>
          <p:cNvPr id="32" name="Image 6" descr="preencoded.png">    </p:cNvPr>
          <p:cNvPicPr>
            <a:picLocks noChangeAspect="1"/>
          </p:cNvPicPr>
          <p:nvPr/>
        </p:nvPicPr>
        <p:blipFill>
          <a:blip r:embed="rId7"/>
          <a:srcRect l="0" r="0" t="0" b="0"/>
          <a:stretch/>
        </p:blipFill>
        <p:spPr>
          <a:xfrm>
            <a:off x="6400800" y="2909621"/>
            <a:ext cx="190195" cy="190195"/>
          </a:xfrm>
          <a:prstGeom prst="rect">
            <a:avLst/>
          </a:prstGeom>
        </p:spPr>
      </p:pic>
      <p:sp>
        <p:nvSpPr>
          <p:cNvPr id="33" name="Text 24"/>
          <p:cNvSpPr txBox="1"/>
          <p:nvPr/>
        </p:nvSpPr>
        <p:spPr>
          <a:xfrm>
            <a:off x="6743700" y="2866644"/>
            <a:ext cx="25676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WGMMA（Warp Group MMA）</a:t>
            </a:r>
            <a:endParaRPr lang="en-US" sz="1300" dirty="0"/>
          </a:p>
        </p:txBody>
      </p:sp>
      <p:sp>
        <p:nvSpPr>
          <p:cNvPr id="34" name="Text 25"/>
          <p:cNvSpPr txBox="1"/>
          <p:nvPr/>
        </p:nvSpPr>
        <p:spPr>
          <a:xfrm>
            <a:off x="6743700" y="3143707"/>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複数Warpをグループ化して行列演算を実行。大きなタイルでの行列積を効率的に処理し、Transformer等の大規模行列演算を高速化。</a:t>
            </a:r>
            <a:endParaRPr lang="en-US" sz="1200" dirty="0"/>
          </a:p>
        </p:txBody>
      </p:sp>
      <p:pic>
        <p:nvPicPr>
          <p:cNvPr id="35" name="Image 7" descr="preencoded.png">    </p:cNvPr>
          <p:cNvPicPr>
            <a:picLocks noChangeAspect="1"/>
          </p:cNvPicPr>
          <p:nvPr/>
        </p:nvPicPr>
        <p:blipFill>
          <a:blip r:embed="rId8"/>
          <a:srcRect l="0" r="0" t="0" b="0"/>
          <a:stretch/>
        </p:blipFill>
        <p:spPr>
          <a:xfrm>
            <a:off x="6400800" y="3786530"/>
            <a:ext cx="237744" cy="190195"/>
          </a:xfrm>
          <a:prstGeom prst="rect">
            <a:avLst/>
          </a:prstGeom>
        </p:spPr>
      </p:pic>
      <p:sp>
        <p:nvSpPr>
          <p:cNvPr id="36" name="Text 26"/>
          <p:cNvSpPr txBox="1"/>
          <p:nvPr/>
        </p:nvSpPr>
        <p:spPr>
          <a:xfrm>
            <a:off x="6791249" y="3743554"/>
            <a:ext cx="17766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Warp Specialization</a:t>
            </a:r>
            <a:endParaRPr lang="en-US" sz="1300" dirty="0"/>
          </a:p>
        </p:txBody>
      </p:sp>
      <p:sp>
        <p:nvSpPr>
          <p:cNvPr id="37" name="Text 27"/>
          <p:cNvSpPr txBox="1"/>
          <p:nvPr/>
        </p:nvSpPr>
        <p:spPr>
          <a:xfrm>
            <a:off x="6791249" y="4019702"/>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 Warp（データロード担当）とConsumer Warp（計算担当）に役割分担することで、メモリアクセスと計算を並列化し効率向上。</a:t>
            </a:r>
            <a:endParaRPr lang="en-US" sz="1200" dirty="0"/>
          </a:p>
        </p:txBody>
      </p:sp>
      <p:pic>
        <p:nvPicPr>
          <p:cNvPr id="38" name="Image 8" descr="preencoded.png">    </p:cNvPr>
          <p:cNvPicPr>
            <a:picLocks noChangeAspect="1"/>
          </p:cNvPicPr>
          <p:nvPr/>
        </p:nvPicPr>
        <p:blipFill>
          <a:blip r:embed="rId9"/>
          <a:srcRect l="0" r="0" t="0" b="0"/>
          <a:stretch/>
        </p:blipFill>
        <p:spPr>
          <a:xfrm>
            <a:off x="6400800" y="4662526"/>
            <a:ext cx="237744" cy="190195"/>
          </a:xfrm>
          <a:prstGeom prst="rect">
            <a:avLst/>
          </a:prstGeom>
        </p:spPr>
      </p:pic>
      <p:sp>
        <p:nvSpPr>
          <p:cNvPr id="39" name="Text 28"/>
          <p:cNvSpPr txBox="1"/>
          <p:nvPr/>
        </p:nvSpPr>
        <p:spPr>
          <a:xfrm>
            <a:off x="6791249" y="4619549"/>
            <a:ext cx="18534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a:t>
            </a:r>
            <a:endParaRPr lang="en-US" sz="1300" dirty="0"/>
          </a:p>
        </p:txBody>
      </p:sp>
      <p:sp>
        <p:nvSpPr>
          <p:cNvPr id="40" name="Text 29"/>
          <p:cNvSpPr txBox="1"/>
          <p:nvPr/>
        </p:nvSpPr>
        <p:spPr>
          <a:xfrm>
            <a:off x="6791249"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CUDAプログラミングモデルに新階層を追加。複数SMにまたがる同時実行スレッドブロックで協調処理を実現。分散共有メモリ（DSMEM）で通信可能。</a:t>
            </a:r>
            <a:endParaRPr lang="en-US" sz="1200" dirty="0"/>
          </a:p>
        </p:txBody>
      </p:sp>
      <p:pic>
        <p:nvPicPr>
          <p:cNvPr id="41" name="Image 9" descr="preencoded.png">    </p:cNvPr>
          <p:cNvPicPr>
            <a:picLocks noChangeAspect="1"/>
          </p:cNvPicPr>
          <p:nvPr/>
        </p:nvPicPr>
        <p:blipFill>
          <a:blip r:embed="rId10"/>
          <a:srcRect l="0" r="0" t="0" b="0"/>
          <a:stretch/>
        </p:blipFill>
        <p:spPr>
          <a:xfrm>
            <a:off x="6400800" y="5729630"/>
            <a:ext cx="142646" cy="190195"/>
          </a:xfrm>
          <a:prstGeom prst="rect">
            <a:avLst/>
          </a:prstGeom>
        </p:spPr>
      </p:pic>
      <p:sp>
        <p:nvSpPr>
          <p:cNvPr id="42" name="Text 30"/>
          <p:cNvSpPr txBox="1"/>
          <p:nvPr/>
        </p:nvSpPr>
        <p:spPr>
          <a:xfrm>
            <a:off x="6696151" y="5686654"/>
            <a:ext cx="1748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FP8（E4M3/E5M2）</a:t>
            </a:r>
            <a:endParaRPr lang="en-US" sz="1300" dirty="0"/>
          </a:p>
        </p:txBody>
      </p:sp>
      <p:sp>
        <p:nvSpPr>
          <p:cNvPr id="43" name="Text 31"/>
          <p:cNvSpPr txBox="1"/>
          <p:nvPr/>
        </p:nvSpPr>
        <p:spPr>
          <a:xfrm>
            <a:off x="6696151" y="5962802"/>
            <a:ext cx="47914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8ビット浮動小数点を導入。Transformer Engineによる動的精度調整で、AI演算の効率を2倍向上しながらメモリ使用量を半減。</a:t>
            </a:r>
            <a:endParaRPr lang="en-US" sz="1200" dirty="0"/>
          </a:p>
        </p:txBody>
      </p:sp>
      <p:sp>
        <p:nvSpPr>
          <p:cNvPr id="44" name="Shape 32"/>
          <p:cNvSpPr/>
          <p:nvPr/>
        </p:nvSpPr>
        <p:spPr>
          <a:xfrm>
            <a:off x="0" y="6762902"/>
            <a:ext cx="12191695" cy="9144"/>
          </a:xfrm>
          <a:prstGeom prst="rect">
            <a:avLst/>
          </a:prstGeom>
          <a:solidFill>
            <a:srgbClr val="EAEAEA"/>
          </a:solidFill>
          <a:ln/>
        </p:spPr>
      </p:sp>
      <p:sp>
        <p:nvSpPr>
          <p:cNvPr id="45" name="Text 33"/>
          <p:cNvSpPr txBox="1"/>
          <p:nvPr/>
        </p:nvSpPr>
        <p:spPr>
          <a:xfrm>
            <a:off x="571500" y="6867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6" name="Text 34"/>
          <p:cNvSpPr txBox="1"/>
          <p:nvPr/>
        </p:nvSpPr>
        <p:spPr>
          <a:xfrm>
            <a:off x="11546129" y="68671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7</a:t>
            </a:r>
            <a:endParaRPr lang="en-US" sz="1000" dirty="0"/>
          </a:p>
        </p:txBody>
      </p:sp>
      <p:sp>
        <p:nvSpPr>
          <p:cNvPr id="47" name="Shape 35"/>
          <p:cNvSpPr/>
          <p:nvPr/>
        </p:nvSpPr>
        <p:spPr>
          <a:xfrm>
            <a:off x="10707624" y="6344107"/>
            <a:ext cx="1295705" cy="323698"/>
          </a:xfrm>
          <a:prstGeom prst="roundRect">
            <a:avLst>
              <a:gd name="adj" fmla="val 33234"/>
            </a:avLst>
          </a:prstGeom>
          <a:solidFill>
            <a:srgbClr val="333333"/>
          </a:solidFill>
          <a:ln/>
        </p:spPr>
      </p:sp>
      <p:pic>
        <p:nvPicPr>
          <p:cNvPr id="48" name="Image 10" descr="preencoded.png">    </p:cNvPr>
          <p:cNvPicPr>
            <a:picLocks noChangeAspect="1"/>
          </p:cNvPicPr>
          <p:nvPr/>
        </p:nvPicPr>
        <p:blipFill>
          <a:blip r:embed="rId11"/>
          <a:srcRect l="0" r="0" t="0" b="0"/>
          <a:stretch/>
        </p:blipFill>
        <p:spPr>
          <a:xfrm>
            <a:off x="10821924" y="6439205"/>
            <a:ext cx="133502" cy="133502"/>
          </a:xfrm>
          <a:prstGeom prst="rect">
            <a:avLst/>
          </a:prstGeom>
        </p:spPr>
      </p:pic>
      <p:sp>
        <p:nvSpPr>
          <p:cNvPr id="49" name="Shape 36"/>
          <p:cNvSpPr/>
          <p:nvPr/>
        </p:nvSpPr>
        <p:spPr>
          <a:xfrm>
            <a:off x="10707624" y="6344107"/>
            <a:ext cx="1295705" cy="323698"/>
          </a:xfrm>
          <a:prstGeom prst="roundRect">
            <a:avLst>
              <a:gd name="adj" fmla="val 33234"/>
            </a:avLst>
          </a:prstGeom>
          <a:solidFill>
            <a:srgbClr val="333333"/>
          </a:solidFill>
          <a:ln/>
        </p:spPr>
      </p:sp>
      <p:sp>
        <p:nvSpPr>
          <p:cNvPr id="50"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51"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52"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8696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Blackwell (Thor搭載)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958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017166" y="3419856"/>
            <a:ext cx="25008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Blackwell 第5世代Tensor Core</a:t>
            </a:r>
            <a:endParaRPr lang="en-US" sz="1300" dirty="0"/>
          </a:p>
        </p:txBody>
      </p:sp>
      <p:sp>
        <p:nvSpPr>
          <p:cNvPr id="9" name="Text 6"/>
          <p:cNvSpPr txBox="1"/>
          <p:nvPr/>
        </p:nvSpPr>
        <p:spPr>
          <a:xfrm>
            <a:off x="1866290" y="3752698"/>
            <a:ext cx="27770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FP8/FP4サポート、Tensor Memory、UMMA</a:t>
            </a:r>
            <a:endParaRPr lang="en-US" sz="1000" dirty="0"/>
          </a:p>
        </p:txBody>
      </p:sp>
      <p:sp>
        <p:nvSpPr>
          <p:cNvPr id="10" name="Text 7"/>
          <p:cNvSpPr txBox="1"/>
          <p:nvPr/>
        </p:nvSpPr>
        <p:spPr>
          <a:xfrm>
            <a:off x="1829714" y="4095598"/>
            <a:ext cx="2843784"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RTX Blackwell GPU Architecture</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Blackwell Tensor Coreは前世代と比較して最大2倍のFP8スループットを実現し、さらに新たにFP4をサポート</a:t>
            </a:r>
            <a:endParaRPr lang="en-US" sz="1000" dirty="0"/>
          </a:p>
        </p:txBody>
      </p:sp>
      <p:sp>
        <p:nvSpPr>
          <p:cNvPr id="12" name="Text 9"/>
          <p:cNvSpPr txBox="1"/>
          <p:nvPr/>
        </p:nvSpPr>
        <p:spPr>
          <a:xfrm>
            <a:off x="6400800" y="1304849"/>
            <a:ext cx="19677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Blackwell主要技術革新</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a:t>
            </a:r>
            <a:endParaRPr lang="en-US" sz="1300" dirty="0"/>
          </a:p>
        </p:txBody>
      </p:sp>
      <p:sp>
        <p:nvSpPr>
          <p:cNvPr id="15" name="Text 11"/>
          <p:cNvSpPr txBox="1"/>
          <p:nvPr/>
        </p:nvSpPr>
        <p:spPr>
          <a:xfrm>
            <a:off x="6743700" y="20766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第2世代Transformer Engineを搭載し、従来比2倍のFP8スループットを実現。AI推論の電力効率も大幅に向上。</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90195" cy="190195"/>
          </a:xfrm>
          <a:prstGeom prst="rect">
            <a:avLst/>
          </a:prstGeom>
        </p:spPr>
      </p:pic>
      <p:sp>
        <p:nvSpPr>
          <p:cNvPr id="17" name="Text 12"/>
          <p:cNvSpPr txBox="1"/>
          <p:nvPr/>
        </p:nvSpPr>
        <p:spPr>
          <a:xfrm>
            <a:off x="6743700" y="2676449"/>
            <a:ext cx="1815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FP4/NVFP4 &amp; MXFP8</a:t>
            </a:r>
            <a:endParaRPr lang="en-US" sz="1300" dirty="0"/>
          </a:p>
        </p:txBody>
      </p:sp>
      <p:sp>
        <p:nvSpPr>
          <p:cNvPr id="18" name="Text 13"/>
          <p:cNvSpPr txBox="1"/>
          <p:nvPr/>
        </p:nvSpPr>
        <p:spPr>
          <a:xfrm>
            <a:off x="6743700" y="29525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FP4精度でFP8の2倍のスループットを実現。データフォーマットの進化によりメモリフットプリントを半減しつつモデル精度を維持。</a:t>
            </a:r>
            <a:endParaRPr lang="en-US" sz="1200" dirty="0"/>
          </a:p>
        </p:txBody>
      </p:sp>
      <p:pic>
        <p:nvPicPr>
          <p:cNvPr id="19" name="Image 3" descr="preencoded.png">    </p:cNvPr>
          <p:cNvPicPr>
            <a:picLocks noChangeAspect="1"/>
          </p:cNvPicPr>
          <p:nvPr/>
        </p:nvPicPr>
        <p:blipFill>
          <a:blip r:embed="rId4"/>
          <a:srcRect l="-1282" r="-1282" t="0" b="0"/>
          <a:stretch/>
        </p:blipFill>
        <p:spPr>
          <a:xfrm>
            <a:off x="6400800" y="3595421"/>
            <a:ext cx="219456" cy="190195"/>
          </a:xfrm>
          <a:prstGeom prst="rect">
            <a:avLst/>
          </a:prstGeom>
        </p:spPr>
      </p:pic>
      <p:sp>
        <p:nvSpPr>
          <p:cNvPr id="20" name="Text 14"/>
          <p:cNvSpPr txBox="1"/>
          <p:nvPr/>
        </p:nvSpPr>
        <p:spPr>
          <a:xfrm>
            <a:off x="6772046" y="3552444"/>
            <a:ext cx="18342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 (TM)</a:t>
            </a:r>
            <a:endParaRPr lang="en-US" sz="1300" dirty="0"/>
          </a:p>
        </p:txBody>
      </p:sp>
      <p:sp>
        <p:nvSpPr>
          <p:cNvPr id="21" name="Text 15"/>
          <p:cNvSpPr txBox="1"/>
          <p:nvPr/>
        </p:nvSpPr>
        <p:spPr>
          <a:xfrm>
            <a:off x="6772046" y="3829507"/>
            <a:ext cx="47823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SMあたり256KB級の高速テンソルメモリを搭載。KVキャッシュを保持し大規模Transformerモデルのレイテンシを大幅に削減。</a:t>
            </a:r>
            <a:endParaRPr lang="en-US" sz="1200" dirty="0"/>
          </a:p>
        </p:txBody>
      </p:sp>
      <p:pic>
        <p:nvPicPr>
          <p:cNvPr id="22" name="Image 4" descr="preencoded.png">    </p:cNvPr>
          <p:cNvPicPr>
            <a:picLocks noChangeAspect="1"/>
          </p:cNvPicPr>
          <p:nvPr/>
        </p:nvPicPr>
        <p:blipFill>
          <a:blip r:embed="rId5"/>
          <a:srcRect l="-1282" r="-1282" t="0" b="0"/>
          <a:stretch/>
        </p:blipFill>
        <p:spPr>
          <a:xfrm>
            <a:off x="6400800" y="4472330"/>
            <a:ext cx="219456" cy="190195"/>
          </a:xfrm>
          <a:prstGeom prst="rect">
            <a:avLst/>
          </a:prstGeom>
        </p:spPr>
      </p:pic>
      <p:sp>
        <p:nvSpPr>
          <p:cNvPr id="23" name="Text 16"/>
          <p:cNvSpPr txBox="1"/>
          <p:nvPr/>
        </p:nvSpPr>
        <p:spPr>
          <a:xfrm>
            <a:off x="6772046" y="4429354"/>
            <a:ext cx="18626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UMMA (Unified MMA)</a:t>
            </a:r>
            <a:endParaRPr lang="en-US" sz="1300" dirty="0"/>
          </a:p>
        </p:txBody>
      </p:sp>
      <p:sp>
        <p:nvSpPr>
          <p:cNvPr id="24" name="Text 17"/>
          <p:cNvSpPr txBox="1"/>
          <p:nvPr/>
        </p:nvSpPr>
        <p:spPr>
          <a:xfrm>
            <a:off x="6772046" y="4705502"/>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2つのSMを協調させて動作する統合行列演算。より大きなタイルサイズを処理でき、Transformerモデルの計算効率を向上。</a:t>
            </a:r>
            <a:endParaRPr lang="en-US" sz="1200" dirty="0"/>
          </a:p>
        </p:txBody>
      </p:sp>
      <p:pic>
        <p:nvPicPr>
          <p:cNvPr id="25" name="Image 5" descr="preencoded.png">    </p:cNvPr>
          <p:cNvPicPr>
            <a:picLocks noChangeAspect="1"/>
          </p:cNvPicPr>
          <p:nvPr/>
        </p:nvPicPr>
        <p:blipFill>
          <a:blip r:embed="rId6"/>
          <a:srcRect l="-1648" r="-1648" t="0" b="0"/>
          <a:stretch/>
        </p:blipFill>
        <p:spPr>
          <a:xfrm>
            <a:off x="6400800" y="5348326"/>
            <a:ext cx="171907" cy="190195"/>
          </a:xfrm>
          <a:prstGeom prst="rect">
            <a:avLst/>
          </a:prstGeom>
        </p:spPr>
      </p:pic>
      <p:sp>
        <p:nvSpPr>
          <p:cNvPr id="26" name="Text 18"/>
          <p:cNvSpPr txBox="1"/>
          <p:nvPr/>
        </p:nvSpPr>
        <p:spPr>
          <a:xfrm>
            <a:off x="6724498" y="5305349"/>
            <a:ext cx="3329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SER 2.0 (Shader Execution Reordering)</a:t>
            </a:r>
            <a:endParaRPr lang="en-US" sz="1300" dirty="0"/>
          </a:p>
        </p:txBody>
      </p:sp>
      <p:sp>
        <p:nvSpPr>
          <p:cNvPr id="27" name="Text 19"/>
          <p:cNvSpPr txBox="1"/>
          <p:nvPr/>
        </p:nvSpPr>
        <p:spPr>
          <a:xfrm>
            <a:off x="6724498"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実行パスの再編成アルゴリズムを強化し、並列性を最大限に活用。複雑なレイトレーシングとニューラルシェーダーの効率を向上。</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8</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972300"/>
          </a:xfrm>
          <a:prstGeom prst="rect">
            <a:avLst/>
          </a:prstGeom>
          <a:solidFill>
            <a:srgbClr val="FFFFFF"/>
          </a:solidFill>
          <a:ln/>
        </p:spPr>
      </p:sp>
      <p:sp>
        <p:nvSpPr>
          <p:cNvPr id="3" name="Text 1"/>
          <p:cNvSpPr txBox="1"/>
          <p:nvPr/>
        </p:nvSpPr>
        <p:spPr>
          <a:xfrm>
            <a:off x="609905" y="323698"/>
            <a:ext cx="58960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TMA (Tensor Memory Accelerator)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コピー記述子による多次元テンソル転送</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44" r="-44" t="0" b="0"/>
          <a:stretch/>
        </p:blipFill>
        <p:spPr>
          <a:xfrm>
            <a:off x="2943454" y="1638605"/>
            <a:ext cx="514807" cy="457200"/>
          </a:xfrm>
          <a:prstGeom prst="rect">
            <a:avLst/>
          </a:prstGeom>
        </p:spPr>
      </p:pic>
      <p:pic>
        <p:nvPicPr>
          <p:cNvPr id="8" name="Image 1" descr="preencoded.png">    </p:cNvPr>
          <p:cNvPicPr>
            <a:picLocks noChangeAspect="1"/>
          </p:cNvPicPr>
          <p:nvPr/>
        </p:nvPicPr>
        <p:blipFill>
          <a:blip r:embed="rId2"/>
          <a:srcRect l="0" r="0" t="-3" b="-3"/>
          <a:stretch/>
        </p:blipFill>
        <p:spPr>
          <a:xfrm>
            <a:off x="819302" y="2247595"/>
            <a:ext cx="4762195" cy="2857500"/>
          </a:xfrm>
          <a:prstGeom prst="rect">
            <a:avLst/>
          </a:prstGeom>
        </p:spPr>
      </p:pic>
      <p:sp>
        <p:nvSpPr>
          <p:cNvPr id="9" name="Text 5"/>
          <p:cNvSpPr txBox="1"/>
          <p:nvPr/>
        </p:nvSpPr>
        <p:spPr>
          <a:xfrm>
            <a:off x="1890979" y="5257800"/>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0" name="Text 6"/>
          <p:cNvSpPr txBox="1"/>
          <p:nvPr/>
        </p:nvSpPr>
        <p:spPr>
          <a:xfrm>
            <a:off x="609905" y="5524805"/>
            <a:ext cx="51864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TMAはスレッドがアドレス計算や転送に使われていた時間を計算に集中できるようにする</a:t>
            </a:r>
            <a:endParaRPr lang="en-US" sz="1000" dirty="0"/>
          </a:p>
        </p:txBody>
      </p:sp>
      <p:sp>
        <p:nvSpPr>
          <p:cNvPr id="11" name="Text 7"/>
          <p:cNvSpPr txBox="1"/>
          <p:nvPr/>
        </p:nvSpPr>
        <p:spPr>
          <a:xfrm>
            <a:off x="6400800" y="1304849"/>
            <a:ext cx="3158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Hopperで導入された革新的メモリ技術</a:t>
            </a:r>
            <a:endParaRPr lang="en-US" sz="1300" dirty="0"/>
          </a:p>
        </p:txBody>
      </p:sp>
      <p:pic>
        <p:nvPicPr>
          <p:cNvPr id="12" name="Image 2" descr="preencoded.png">    </p:cNvPr>
          <p:cNvPicPr>
            <a:picLocks noChangeAspect="1"/>
          </p:cNvPicPr>
          <p:nvPr/>
        </p:nvPicPr>
        <p:blipFill>
          <a:blip r:embed="rId3"/>
          <a:srcRect l="-1648" r="-1648" t="0" b="0"/>
          <a:stretch/>
        </p:blipFill>
        <p:spPr>
          <a:xfrm>
            <a:off x="6400800" y="1843430"/>
            <a:ext cx="171907" cy="190195"/>
          </a:xfrm>
          <a:prstGeom prst="rect">
            <a:avLst/>
          </a:prstGeom>
        </p:spPr>
      </p:pic>
      <p:sp>
        <p:nvSpPr>
          <p:cNvPr id="13" name="Text 8"/>
          <p:cNvSpPr txBox="1"/>
          <p:nvPr/>
        </p:nvSpPr>
        <p:spPr>
          <a:xfrm>
            <a:off x="6724498" y="1800454"/>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完全ハードウェアによるデータ転送</a:t>
            </a:r>
            <a:endParaRPr lang="en-US" sz="1300" dirty="0"/>
          </a:p>
        </p:txBody>
      </p:sp>
      <p:sp>
        <p:nvSpPr>
          <p:cNvPr id="14" name="Text 9"/>
          <p:cNvSpPr txBox="1"/>
          <p:nvPr/>
        </p:nvSpPr>
        <p:spPr>
          <a:xfrm>
            <a:off x="6724498"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グローバルメモリから共有メモリへの非同期データ転送を専用ハードウェアが担当。転送中もSMのCUDAコアは計算に専念可能。A100のLDGSTS命令と比較して大幅に効率化。</a:t>
            </a:r>
            <a:endParaRPr lang="en-US" sz="1200" dirty="0"/>
          </a:p>
        </p:txBody>
      </p:sp>
      <p:pic>
        <p:nvPicPr>
          <p:cNvPr id="15" name="Image 3" descr="preencoded.png">    </p:cNvPr>
          <p:cNvPicPr>
            <a:picLocks noChangeAspect="1"/>
          </p:cNvPicPr>
          <p:nvPr/>
        </p:nvPicPr>
        <p:blipFill>
          <a:blip r:embed="rId4"/>
          <a:srcRect l="0" r="0" t="0" b="0"/>
          <a:stretch/>
        </p:blipFill>
        <p:spPr>
          <a:xfrm>
            <a:off x="6400800" y="2909621"/>
            <a:ext cx="190195" cy="190195"/>
          </a:xfrm>
          <a:prstGeom prst="rect">
            <a:avLst/>
          </a:prstGeom>
        </p:spPr>
      </p:pic>
      <p:sp>
        <p:nvSpPr>
          <p:cNvPr id="16" name="Text 10"/>
          <p:cNvSpPr txBox="1"/>
          <p:nvPr/>
        </p:nvSpPr>
        <p:spPr>
          <a:xfrm>
            <a:off x="6743700" y="2866644"/>
            <a:ext cx="27011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コピー記述子によるアドレス指定</a:t>
            </a:r>
            <a:endParaRPr lang="en-US" sz="1300" dirty="0"/>
          </a:p>
        </p:txBody>
      </p:sp>
      <p:sp>
        <p:nvSpPr>
          <p:cNvPr id="17" name="Text 11"/>
          <p:cNvSpPr txBox="1"/>
          <p:nvPr/>
        </p:nvSpPr>
        <p:spPr>
          <a:xfrm>
            <a:off x="6743700" y="3143707"/>
            <a:ext cx="491490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単一のスレッドがコピー記述子を設定するだけで転送が開始。転送元/先の座標やストライド、テンソル次元（1D〜5D）を指定可能。従来のように各要素のアドレス計算が不要に。</a:t>
            </a:r>
            <a:endParaRPr lang="en-US" sz="1200" dirty="0"/>
          </a:p>
        </p:txBody>
      </p:sp>
      <p:sp>
        <p:nvSpPr>
          <p:cNvPr id="18" name="Shape 12"/>
          <p:cNvSpPr/>
          <p:nvPr/>
        </p:nvSpPr>
        <p:spPr>
          <a:xfrm>
            <a:off x="6743700" y="3771900"/>
            <a:ext cx="4839005" cy="267005"/>
          </a:xfrm>
          <a:prstGeom prst="roundRect">
            <a:avLst>
              <a:gd name="adj" fmla="val 48924"/>
            </a:avLst>
          </a:prstGeom>
          <a:solidFill>
            <a:srgbClr val="F3F4F6"/>
          </a:solidFill>
          <a:ln/>
        </p:spPr>
      </p:sp>
      <p:sp>
        <p:nvSpPr>
          <p:cNvPr id="19" name="Text 13"/>
          <p:cNvSpPr txBox="1"/>
          <p:nvPr/>
        </p:nvSpPr>
        <p:spPr>
          <a:xfrm>
            <a:off x="6782105" y="3810305"/>
            <a:ext cx="24908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cuda::memcpy_async による簡潔なAPI</a:t>
            </a:r>
            <a:endParaRPr lang="en-US" sz="1000" dirty="0"/>
          </a:p>
        </p:txBody>
      </p:sp>
      <p:pic>
        <p:nvPicPr>
          <p:cNvPr id="20" name="Image 4" descr="preencoded.png">    </p:cNvPr>
          <p:cNvPicPr>
            <a:picLocks noChangeAspect="1"/>
          </p:cNvPicPr>
          <p:nvPr/>
        </p:nvPicPr>
        <p:blipFill>
          <a:blip r:embed="rId5"/>
          <a:srcRect l="0" r="0" t="0" b="0"/>
          <a:stretch/>
        </p:blipFill>
        <p:spPr>
          <a:xfrm>
            <a:off x="6400800" y="4281221"/>
            <a:ext cx="142646" cy="190195"/>
          </a:xfrm>
          <a:prstGeom prst="rect">
            <a:avLst/>
          </a:prstGeom>
        </p:spPr>
      </p:pic>
      <p:sp>
        <p:nvSpPr>
          <p:cNvPr id="21" name="Text 14"/>
          <p:cNvSpPr txBox="1"/>
          <p:nvPr/>
        </p:nvSpPr>
        <p:spPr>
          <a:xfrm>
            <a:off x="6696151" y="423824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非同期バリアとの統合</a:t>
            </a:r>
            <a:endParaRPr lang="en-US" sz="1300" dirty="0"/>
          </a:p>
        </p:txBody>
      </p:sp>
      <p:sp>
        <p:nvSpPr>
          <p:cNvPr id="22" name="Text 15"/>
          <p:cNvSpPr txBox="1"/>
          <p:nvPr/>
        </p:nvSpPr>
        <p:spPr>
          <a:xfrm>
            <a:off x="6696151" y="4515307"/>
            <a:ext cx="4905756"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cuda::barrier との連携で完了待ちも効率化。バリアがスレッドをブロックせず、他の計算処理との並列実行が可能。Blackwellではさらに最適化されたトランザクションバリアを搭載。</a:t>
            </a:r>
            <a:endParaRPr lang="en-US" sz="1200" dirty="0"/>
          </a:p>
        </p:txBody>
      </p:sp>
      <p:pic>
        <p:nvPicPr>
          <p:cNvPr id="23" name="Image 5" descr="preencoded.png">    </p:cNvPr>
          <p:cNvPicPr>
            <a:picLocks noChangeAspect="1"/>
          </p:cNvPicPr>
          <p:nvPr/>
        </p:nvPicPr>
        <p:blipFill>
          <a:blip r:embed="rId6"/>
          <a:srcRect l="0" r="0" t="0" b="0"/>
          <a:stretch/>
        </p:blipFill>
        <p:spPr>
          <a:xfrm>
            <a:off x="6400800" y="5348326"/>
            <a:ext cx="190195" cy="190195"/>
          </a:xfrm>
          <a:prstGeom prst="rect">
            <a:avLst/>
          </a:prstGeom>
        </p:spPr>
      </p:pic>
      <p:sp>
        <p:nvSpPr>
          <p:cNvPr id="24" name="Text 16"/>
          <p:cNvSpPr txBox="1"/>
          <p:nvPr/>
        </p:nvSpPr>
        <p:spPr>
          <a:xfrm>
            <a:off x="6743700" y="5305349"/>
            <a:ext cx="27678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CUTLASSパイプラインとの親和性</a:t>
            </a:r>
            <a:endParaRPr lang="en-US" sz="1300" dirty="0"/>
          </a:p>
        </p:txBody>
      </p:sp>
      <p:sp>
        <p:nvSpPr>
          <p:cNvPr id="25" name="Text 17"/>
          <p:cNvSpPr txBox="1"/>
          <p:nvPr/>
        </p:nvSpPr>
        <p:spPr>
          <a:xfrm>
            <a:off x="6743700" y="5581498"/>
            <a:ext cx="4886554"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行列演算ライブラリCUTLASSとの連携で効率的なパイプライン構築。大規模Transformerモデルのような多次元テンソル処理を高速化。Thor車載プラットフォームでの推論ワークロードに最適。</a:t>
            </a:r>
            <a:endParaRPr lang="en-US" sz="1200" dirty="0"/>
          </a:p>
        </p:txBody>
      </p:sp>
      <p:sp>
        <p:nvSpPr>
          <p:cNvPr id="26" name="Shape 18"/>
          <p:cNvSpPr/>
          <p:nvPr/>
        </p:nvSpPr>
        <p:spPr>
          <a:xfrm>
            <a:off x="0" y="6572707"/>
            <a:ext cx="12191695" cy="9144"/>
          </a:xfrm>
          <a:prstGeom prst="rect">
            <a:avLst/>
          </a:prstGeom>
          <a:solidFill>
            <a:srgbClr val="EAEAEA"/>
          </a:solidFill>
          <a:ln/>
        </p:spPr>
      </p:sp>
      <p:sp>
        <p:nvSpPr>
          <p:cNvPr id="27" name="Text 19"/>
          <p:cNvSpPr txBox="1"/>
          <p:nvPr/>
        </p:nvSpPr>
        <p:spPr>
          <a:xfrm>
            <a:off x="571500" y="66769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28" name="Text 20"/>
          <p:cNvSpPr txBox="1"/>
          <p:nvPr/>
        </p:nvSpPr>
        <p:spPr>
          <a:xfrm>
            <a:off x="11546129" y="66769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9</a:t>
            </a:r>
            <a:endParaRPr lang="en-US" sz="1000" dirty="0"/>
          </a:p>
        </p:txBody>
      </p:sp>
      <p:sp>
        <p:nvSpPr>
          <p:cNvPr id="29" name="Shape 21"/>
          <p:cNvSpPr/>
          <p:nvPr/>
        </p:nvSpPr>
        <p:spPr>
          <a:xfrm>
            <a:off x="10707624" y="6344107"/>
            <a:ext cx="1295705" cy="323698"/>
          </a:xfrm>
          <a:prstGeom prst="roundRect">
            <a:avLst>
              <a:gd name="adj" fmla="val 33234"/>
            </a:avLst>
          </a:prstGeom>
          <a:solidFill>
            <a:srgbClr val="333333"/>
          </a:solidFill>
          <a:ln/>
        </p:spPr>
      </p:sp>
      <p:pic>
        <p:nvPicPr>
          <p:cNvPr id="30"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1" name="Shape 22"/>
          <p:cNvSpPr/>
          <p:nvPr/>
        </p:nvSpPr>
        <p:spPr>
          <a:xfrm>
            <a:off x="10707624" y="6344107"/>
            <a:ext cx="1295705" cy="323698"/>
          </a:xfrm>
          <a:prstGeom prst="roundRect">
            <a:avLst>
              <a:gd name="adj" fmla="val 33234"/>
            </a:avLst>
          </a:prstGeom>
          <a:solidFill>
            <a:srgbClr val="333333"/>
          </a:solidFill>
          <a:ln/>
        </p:spPr>
      </p:sp>
      <p:sp>
        <p:nvSpPr>
          <p:cNvPr id="32" name="Text 2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3"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4" name="Text 2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577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Warp Specialization (WS)</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501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Producer Warp vs Consumer Warp モデル</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771754" y="2104949"/>
            <a:ext cx="2190902" cy="1904695"/>
          </a:xfrm>
          <a:prstGeom prst="roundRect">
            <a:avLst>
              <a:gd name="adj" fmla="val 1920"/>
            </a:avLst>
          </a:prstGeom>
          <a:solidFill>
            <a:srgbClr val="EFF6FF"/>
          </a:solidFill>
          <a:ln w="25400">
            <a:solidFill>
              <a:srgbClr val="76B900"/>
            </a:solidFill>
            <a:prstDash val="solid"/>
          </a:ln>
        </p:spPr>
      </p:sp>
      <p:sp>
        <p:nvSpPr>
          <p:cNvPr id="8" name="Text 6"/>
          <p:cNvSpPr txBox="1"/>
          <p:nvPr/>
        </p:nvSpPr>
        <p:spPr>
          <a:xfrm>
            <a:off x="1308506" y="2238451"/>
            <a:ext cx="12289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Producer Warp</a:t>
            </a:r>
            <a:endParaRPr lang="en-US" sz="1200" dirty="0"/>
          </a:p>
        </p:txBody>
      </p:sp>
      <p:sp>
        <p:nvSpPr>
          <p:cNvPr id="9" name="Text 7"/>
          <p:cNvSpPr txBox="1"/>
          <p:nvPr/>
        </p:nvSpPr>
        <p:spPr>
          <a:xfrm>
            <a:off x="1170432" y="2542946"/>
            <a:ext cx="14913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データロード/TMA制御</a:t>
            </a:r>
            <a:endParaRPr lang="en-US" sz="1000" dirty="0"/>
          </a:p>
        </p:txBody>
      </p:sp>
      <p:sp>
        <p:nvSpPr>
          <p:cNvPr id="10" name="Text 8"/>
          <p:cNvSpPr txBox="1"/>
          <p:nvPr/>
        </p:nvSpPr>
        <p:spPr>
          <a:xfrm>
            <a:off x="905256" y="2885846"/>
            <a:ext cx="1910182"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グローバルメモリからロード</a:t>
            </a:r>
            <a:endParaRPr lang="en-US" sz="1000" dirty="0"/>
          </a:p>
        </p:txBody>
      </p:sp>
      <p:sp>
        <p:nvSpPr>
          <p:cNvPr id="11" name="Text 9"/>
          <p:cNvSpPr txBox="1"/>
          <p:nvPr/>
        </p:nvSpPr>
        <p:spPr>
          <a:xfrm>
            <a:off x="905256" y="3152851"/>
            <a:ext cx="1386230"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TMA記述子の初期化</a:t>
            </a:r>
            <a:endParaRPr lang="en-US" sz="1000" dirty="0"/>
          </a:p>
        </p:txBody>
      </p:sp>
      <p:sp>
        <p:nvSpPr>
          <p:cNvPr id="12" name="Text 10"/>
          <p:cNvSpPr txBox="1"/>
          <p:nvPr/>
        </p:nvSpPr>
        <p:spPr>
          <a:xfrm>
            <a:off x="905256" y="341985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非同期転送の開始</a:t>
            </a:r>
            <a:endParaRPr lang="en-US" sz="1000" dirty="0"/>
          </a:p>
        </p:txBody>
      </p:sp>
      <p:sp>
        <p:nvSpPr>
          <p:cNvPr id="13" name="Text 11"/>
          <p:cNvSpPr txBox="1"/>
          <p:nvPr/>
        </p:nvSpPr>
        <p:spPr>
          <a:xfrm>
            <a:off x="905256" y="36859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バリア信号の発行</a:t>
            </a:r>
            <a:endParaRPr lang="en-US" sz="1000" dirty="0"/>
          </a:p>
        </p:txBody>
      </p:sp>
      <p:pic>
        <p:nvPicPr>
          <p:cNvPr id="14" name="Image 0" descr="preencoded.png">    </p:cNvPr>
          <p:cNvPicPr>
            <a:picLocks noChangeAspect="1"/>
          </p:cNvPicPr>
          <p:nvPr/>
        </p:nvPicPr>
        <p:blipFill>
          <a:blip r:embed="rId1"/>
          <a:srcRect l="0" r="0" t="0" b="0"/>
          <a:stretch/>
        </p:blipFill>
        <p:spPr>
          <a:xfrm>
            <a:off x="3086100" y="2943454"/>
            <a:ext cx="228600" cy="228600"/>
          </a:xfrm>
          <a:prstGeom prst="rect">
            <a:avLst/>
          </a:prstGeom>
        </p:spPr>
      </p:pic>
      <p:sp>
        <p:nvSpPr>
          <p:cNvPr id="15" name="Shape 12"/>
          <p:cNvSpPr/>
          <p:nvPr/>
        </p:nvSpPr>
        <p:spPr>
          <a:xfrm>
            <a:off x="3443630" y="2104949"/>
            <a:ext cx="2190902" cy="1904695"/>
          </a:xfrm>
          <a:prstGeom prst="roundRect">
            <a:avLst>
              <a:gd name="adj" fmla="val 1920"/>
            </a:avLst>
          </a:prstGeom>
          <a:solidFill>
            <a:srgbClr val="FFFBEB"/>
          </a:solidFill>
          <a:ln w="25400">
            <a:solidFill>
              <a:srgbClr val="76B900"/>
            </a:solidFill>
            <a:prstDash val="solid"/>
          </a:ln>
        </p:spPr>
      </p:sp>
      <p:sp>
        <p:nvSpPr>
          <p:cNvPr id="16" name="Text 13"/>
          <p:cNvSpPr txBox="1"/>
          <p:nvPr/>
        </p:nvSpPr>
        <p:spPr>
          <a:xfrm>
            <a:off x="3939235" y="2238451"/>
            <a:ext cx="1314907"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Consumer Warp</a:t>
            </a:r>
            <a:endParaRPr lang="en-US" sz="1200" dirty="0"/>
          </a:p>
        </p:txBody>
      </p:sp>
      <p:sp>
        <p:nvSpPr>
          <p:cNvPr id="17" name="Text 14"/>
          <p:cNvSpPr txBox="1"/>
          <p:nvPr/>
        </p:nvSpPr>
        <p:spPr>
          <a:xfrm>
            <a:off x="3990442" y="2542946"/>
            <a:ext cx="1196035"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計算実行/WGMMA</a:t>
            </a:r>
            <a:endParaRPr lang="en-US" sz="1000" dirty="0"/>
          </a:p>
        </p:txBody>
      </p:sp>
      <p:sp>
        <p:nvSpPr>
          <p:cNvPr id="18" name="Text 15"/>
          <p:cNvSpPr txBox="1"/>
          <p:nvPr/>
        </p:nvSpPr>
        <p:spPr>
          <a:xfrm>
            <a:off x="3576218" y="28858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バリアで完了待ち</a:t>
            </a:r>
            <a:endParaRPr lang="en-US" sz="1000" dirty="0"/>
          </a:p>
        </p:txBody>
      </p:sp>
      <p:sp>
        <p:nvSpPr>
          <p:cNvPr id="19" name="Text 16"/>
          <p:cNvSpPr txBox="1"/>
          <p:nvPr/>
        </p:nvSpPr>
        <p:spPr>
          <a:xfrm>
            <a:off x="3576218" y="3152851"/>
            <a:ext cx="171998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Tensor Coreへデータ供給</a:t>
            </a:r>
            <a:endParaRPr lang="en-US" sz="1000" dirty="0"/>
          </a:p>
        </p:txBody>
      </p:sp>
      <p:sp>
        <p:nvSpPr>
          <p:cNvPr id="20" name="Text 17"/>
          <p:cNvSpPr txBox="1"/>
          <p:nvPr/>
        </p:nvSpPr>
        <p:spPr>
          <a:xfrm>
            <a:off x="3576218" y="3419856"/>
            <a:ext cx="15764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行列演算(WGMMA)実行</a:t>
            </a:r>
            <a:endParaRPr lang="en-US" sz="1000" dirty="0"/>
          </a:p>
        </p:txBody>
      </p:sp>
      <p:sp>
        <p:nvSpPr>
          <p:cNvPr id="21" name="Text 18"/>
          <p:cNvSpPr txBox="1"/>
          <p:nvPr/>
        </p:nvSpPr>
        <p:spPr>
          <a:xfrm>
            <a:off x="3576218" y="3685946"/>
            <a:ext cx="151058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結果の共有メモリ格納</a:t>
            </a:r>
            <a:endParaRPr lang="en-US" sz="1000" dirty="0"/>
          </a:p>
        </p:txBody>
      </p:sp>
      <p:sp>
        <p:nvSpPr>
          <p:cNvPr id="22" name="Shape 19"/>
          <p:cNvSpPr/>
          <p:nvPr/>
        </p:nvSpPr>
        <p:spPr>
          <a:xfrm>
            <a:off x="1014070" y="4295851"/>
            <a:ext cx="4371746" cy="19202"/>
          </a:xfrm>
          <a:prstGeom prst="rect">
            <a:avLst/>
          </a:prstGeom>
          <a:solidFill>
            <a:srgbClr val="E74C3C"/>
          </a:solidFill>
          <a:ln/>
        </p:spPr>
      </p:sp>
      <p:pic>
        <p:nvPicPr>
          <p:cNvPr id="23" name="Image 1" descr="preencoded.png">    </p:cNvPr>
          <p:cNvPicPr>
            <a:picLocks noChangeAspect="1"/>
          </p:cNvPicPr>
          <p:nvPr/>
        </p:nvPicPr>
        <p:blipFill>
          <a:blip r:embed="rId2"/>
          <a:srcRect l="0" r="0" t="0" b="0"/>
          <a:stretch/>
        </p:blipFill>
        <p:spPr>
          <a:xfrm>
            <a:off x="3124505" y="4219956"/>
            <a:ext cx="152705" cy="152705"/>
          </a:xfrm>
          <a:prstGeom prst="rect">
            <a:avLst/>
          </a:prstGeom>
        </p:spPr>
      </p:pic>
      <p:sp>
        <p:nvSpPr>
          <p:cNvPr id="24" name="Text 20"/>
          <p:cNvSpPr txBox="1"/>
          <p:nvPr/>
        </p:nvSpPr>
        <p:spPr>
          <a:xfrm>
            <a:off x="2335378" y="4562856"/>
            <a:ext cx="18342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非同期バリアによる同期制御</a:t>
            </a:r>
            <a:endParaRPr lang="en-US" sz="1000" dirty="0"/>
          </a:p>
        </p:txBody>
      </p:sp>
      <p:sp>
        <p:nvSpPr>
          <p:cNvPr id="25" name="Text 21"/>
          <p:cNvSpPr txBox="1"/>
          <p:nvPr/>
        </p:nvSpPr>
        <p:spPr>
          <a:xfrm>
            <a:off x="2077517" y="4819802"/>
            <a:ext cx="2334463"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出典: NVIDIA Hopper Architecture In-Depth</a:t>
            </a:r>
            <a:endParaRPr lang="en-US" sz="900" dirty="0"/>
          </a:p>
        </p:txBody>
      </p:sp>
      <p:sp>
        <p:nvSpPr>
          <p:cNvPr id="26" name="Text 22"/>
          <p:cNvSpPr txBox="1"/>
          <p:nvPr/>
        </p:nvSpPr>
        <p:spPr>
          <a:xfrm>
            <a:off x="6400800" y="1304849"/>
            <a:ext cx="25292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役割分担で効率化する並列処理</a:t>
            </a:r>
            <a:endParaRPr lang="en-US" sz="1300" dirty="0"/>
          </a:p>
        </p:txBody>
      </p:sp>
      <p:pic>
        <p:nvPicPr>
          <p:cNvPr id="27" name="Image 2" descr="preencoded.png">    </p:cNvPr>
          <p:cNvPicPr>
            <a:picLocks noChangeAspect="1"/>
          </p:cNvPicPr>
          <p:nvPr/>
        </p:nvPicPr>
        <p:blipFill>
          <a:blip r:embed="rId3"/>
          <a:srcRect l="0" r="0" t="0" b="0"/>
          <a:stretch/>
        </p:blipFill>
        <p:spPr>
          <a:xfrm>
            <a:off x="6400800" y="1843430"/>
            <a:ext cx="237744" cy="190195"/>
          </a:xfrm>
          <a:prstGeom prst="rect">
            <a:avLst/>
          </a:prstGeom>
        </p:spPr>
      </p:pic>
      <p:sp>
        <p:nvSpPr>
          <p:cNvPr id="28" name="Text 23"/>
          <p:cNvSpPr txBox="1"/>
          <p:nvPr/>
        </p:nvSpPr>
        <p:spPr>
          <a:xfrm>
            <a:off x="6791249" y="180045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役割分担による効率化</a:t>
            </a:r>
            <a:endParaRPr lang="en-US" sz="1300" dirty="0"/>
          </a:p>
        </p:txBody>
      </p:sp>
      <p:sp>
        <p:nvSpPr>
          <p:cNvPr id="29" name="Text 24"/>
          <p:cNvSpPr txBox="1"/>
          <p:nvPr/>
        </p:nvSpPr>
        <p:spPr>
          <a:xfrm>
            <a:off x="6791249" y="2076602"/>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Warpを「データ供給専門」と「計算専門」に分離。キャッシュと計算ユニットを最適化し、GPUリソース使用効率を向上。</a:t>
            </a:r>
            <a:endParaRPr lang="en-US" sz="1200" dirty="0"/>
          </a:p>
        </p:txBody>
      </p:sp>
      <p:pic>
        <p:nvPicPr>
          <p:cNvPr id="30" name="Image 3" descr="preencoded.png">    </p:cNvPr>
          <p:cNvPicPr>
            <a:picLocks noChangeAspect="1"/>
          </p:cNvPicPr>
          <p:nvPr/>
        </p:nvPicPr>
        <p:blipFill>
          <a:blip r:embed="rId4"/>
          <a:srcRect l="-1648" r="-1648" t="0" b="0"/>
          <a:stretch/>
        </p:blipFill>
        <p:spPr>
          <a:xfrm>
            <a:off x="6400800" y="2719426"/>
            <a:ext cx="171907" cy="190195"/>
          </a:xfrm>
          <a:prstGeom prst="rect">
            <a:avLst/>
          </a:prstGeom>
        </p:spPr>
      </p:pic>
      <p:sp>
        <p:nvSpPr>
          <p:cNvPr id="31" name="Text 25"/>
          <p:cNvSpPr txBox="1"/>
          <p:nvPr/>
        </p:nvSpPr>
        <p:spPr>
          <a:xfrm>
            <a:off x="6724498" y="2676449"/>
            <a:ext cx="2358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非同期バリアによる安全制御</a:t>
            </a:r>
            <a:endParaRPr lang="en-US" sz="1300" dirty="0"/>
          </a:p>
        </p:txBody>
      </p:sp>
      <p:sp>
        <p:nvSpPr>
          <p:cNvPr id="32" name="Text 26"/>
          <p:cNvSpPr txBox="1"/>
          <p:nvPr/>
        </p:nvSpPr>
        <p:spPr>
          <a:xfrm>
            <a:off x="6724498"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Producer/Consumer間の状態を非同期バリアで制御。Arrive（生産完了通知）とWait（消費側待機）の分離で無駄時間を削減。</a:t>
            </a:r>
            <a:endParaRPr lang="en-US" sz="1200" dirty="0"/>
          </a:p>
        </p:txBody>
      </p:sp>
      <p:pic>
        <p:nvPicPr>
          <p:cNvPr id="33" name="Image 4" descr="preencoded.png">    </p:cNvPr>
          <p:cNvPicPr>
            <a:picLocks noChangeAspect="1"/>
          </p:cNvPicPr>
          <p:nvPr/>
        </p:nvPicPr>
        <p:blipFill>
          <a:blip r:embed="rId5"/>
          <a:srcRect l="-1282" r="-1282" t="0" b="0"/>
          <a:stretch/>
        </p:blipFill>
        <p:spPr>
          <a:xfrm>
            <a:off x="6400800" y="3595421"/>
            <a:ext cx="219456" cy="190195"/>
          </a:xfrm>
          <a:prstGeom prst="rect">
            <a:avLst/>
          </a:prstGeom>
        </p:spPr>
      </p:pic>
      <p:sp>
        <p:nvSpPr>
          <p:cNvPr id="34" name="Text 27"/>
          <p:cNvSpPr txBox="1"/>
          <p:nvPr/>
        </p:nvSpPr>
        <p:spPr>
          <a:xfrm>
            <a:off x="6772046" y="3552444"/>
            <a:ext cx="2186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パイプライン並列化の実現</a:t>
            </a:r>
            <a:endParaRPr lang="en-US" sz="1300" dirty="0"/>
          </a:p>
        </p:txBody>
      </p:sp>
      <p:sp>
        <p:nvSpPr>
          <p:cNvPr id="35" name="Text 28"/>
          <p:cNvSpPr txBox="1"/>
          <p:nvPr/>
        </p:nvSpPr>
        <p:spPr>
          <a:xfrm>
            <a:off x="6772046"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メモリロードと計算が並列実行されるパイプラインを形成。メモリレイテンシを計算で隠蔽し、理論ピーク性能に近づける。</a:t>
            </a:r>
            <a:endParaRPr lang="en-US" sz="1200" dirty="0"/>
          </a:p>
        </p:txBody>
      </p:sp>
      <p:pic>
        <p:nvPicPr>
          <p:cNvPr id="36" name="Image 5" descr="preencoded.png">    </p:cNvPr>
          <p:cNvPicPr>
            <a:picLocks noChangeAspect="1"/>
          </p:cNvPicPr>
          <p:nvPr/>
        </p:nvPicPr>
        <p:blipFill>
          <a:blip r:embed="rId6"/>
          <a:srcRect l="0" r="0" t="0" b="0"/>
          <a:stretch/>
        </p:blipFill>
        <p:spPr>
          <a:xfrm>
            <a:off x="6400800" y="4472330"/>
            <a:ext cx="190195" cy="190195"/>
          </a:xfrm>
          <a:prstGeom prst="rect">
            <a:avLst/>
          </a:prstGeom>
        </p:spPr>
      </p:pic>
      <p:sp>
        <p:nvSpPr>
          <p:cNvPr id="37" name="Text 29"/>
          <p:cNvSpPr txBox="1"/>
          <p:nvPr/>
        </p:nvSpPr>
        <p:spPr>
          <a:xfrm>
            <a:off x="6743700" y="4429354"/>
            <a:ext cx="24149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Transformer/GEMMでの効果</a:t>
            </a:r>
            <a:endParaRPr lang="en-US" sz="1300" dirty="0"/>
          </a:p>
        </p:txBody>
      </p:sp>
      <p:sp>
        <p:nvSpPr>
          <p:cNvPr id="38" name="Text 30"/>
          <p:cNvSpPr txBox="1"/>
          <p:nvPr/>
        </p:nvSpPr>
        <p:spPr>
          <a:xfrm>
            <a:off x="6743700" y="4705502"/>
            <a:ext cx="493410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大規模行列計算が中心のTransformerモデルやGEMM操作で特に効果を発揮。TMA+WSの組み合わせで最大2倍のスループット向上。</a:t>
            </a:r>
            <a:endParaRPr lang="en-US" sz="1200" dirty="0"/>
          </a:p>
        </p:txBody>
      </p:sp>
      <p:pic>
        <p:nvPicPr>
          <p:cNvPr id="39" name="Image 6" descr="preencoded.png">    </p:cNvPr>
          <p:cNvPicPr>
            <a:picLocks noChangeAspect="1"/>
          </p:cNvPicPr>
          <p:nvPr/>
        </p:nvPicPr>
        <p:blipFill>
          <a:blip r:embed="rId7"/>
          <a:srcRect l="-1648" r="-1648" t="0" b="0"/>
          <a:stretch/>
        </p:blipFill>
        <p:spPr>
          <a:xfrm>
            <a:off x="6400800" y="5348326"/>
            <a:ext cx="171907" cy="190195"/>
          </a:xfrm>
          <a:prstGeom prst="rect">
            <a:avLst/>
          </a:prstGeom>
        </p:spPr>
      </p:pic>
      <p:sp>
        <p:nvSpPr>
          <p:cNvPr id="40" name="Text 31"/>
          <p:cNvSpPr txBox="1"/>
          <p:nvPr/>
        </p:nvSpPr>
        <p:spPr>
          <a:xfrm>
            <a:off x="6724498" y="5305349"/>
            <a:ext cx="25392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Clusterとの連携</a:t>
            </a:r>
            <a:endParaRPr lang="en-US" sz="1300" dirty="0"/>
          </a:p>
        </p:txBody>
      </p:sp>
      <p:sp>
        <p:nvSpPr>
          <p:cNvPr id="41" name="Text 32"/>
          <p:cNvSpPr txBox="1"/>
          <p:nvPr/>
        </p:nvSpPr>
        <p:spPr>
          <a:xfrm>
            <a:off x="6724498" y="5581498"/>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Blackwellでは複数SM間のWSをThread Block Clusterで拡張。SM間でデータと計算役割を分担し、より大規模な並列処理を実現。</a:t>
            </a:r>
            <a:endParaRPr lang="en-US" sz="1200" dirty="0"/>
          </a:p>
        </p:txBody>
      </p:sp>
      <p:sp>
        <p:nvSpPr>
          <p:cNvPr id="42" name="Shape 33"/>
          <p:cNvSpPr/>
          <p:nvPr/>
        </p:nvSpPr>
        <p:spPr>
          <a:xfrm>
            <a:off x="0" y="6458407"/>
            <a:ext cx="12191695" cy="9144"/>
          </a:xfrm>
          <a:prstGeom prst="rect">
            <a:avLst/>
          </a:prstGeom>
          <a:solidFill>
            <a:srgbClr val="EAEAEA"/>
          </a:solidFill>
          <a:ln/>
        </p:spPr>
      </p:sp>
      <p:sp>
        <p:nvSpPr>
          <p:cNvPr id="43" name="Text 34"/>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5"/>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10</a:t>
            </a:r>
            <a:endParaRPr lang="en-US" sz="1000" dirty="0"/>
          </a:p>
        </p:txBody>
      </p:sp>
      <p:sp>
        <p:nvSpPr>
          <p:cNvPr id="45" name="Shape 36"/>
          <p:cNvSpPr/>
          <p:nvPr/>
        </p:nvSpPr>
        <p:spPr>
          <a:xfrm>
            <a:off x="10707624" y="6344107"/>
            <a:ext cx="1295705" cy="323698"/>
          </a:xfrm>
          <a:prstGeom prst="roundRect">
            <a:avLst>
              <a:gd name="adj" fmla="val 33234"/>
            </a:avLst>
          </a:prstGeom>
          <a:solidFill>
            <a:srgbClr val="333333"/>
          </a:solidFill>
          <a:ln/>
        </p:spPr>
      </p:sp>
      <p:pic>
        <p:nvPicPr>
          <p:cNvPr id="46"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47" name="Shape 37"/>
          <p:cNvSpPr/>
          <p:nvPr/>
        </p:nvSpPr>
        <p:spPr>
          <a:xfrm>
            <a:off x="10707624" y="6344107"/>
            <a:ext cx="1295705" cy="323698"/>
          </a:xfrm>
          <a:prstGeom prst="roundRect">
            <a:avLst>
              <a:gd name="adj" fmla="val 33234"/>
            </a:avLst>
          </a:prstGeom>
          <a:solidFill>
            <a:srgbClr val="333333"/>
          </a:solidFill>
          <a:ln/>
        </p:spPr>
      </p:sp>
      <p:sp>
        <p:nvSpPr>
          <p:cNvPr id="48"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50"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353605"/>
          </a:xfrm>
          <a:prstGeom prst="rect">
            <a:avLst/>
          </a:prstGeom>
          <a:solidFill>
            <a:srgbClr val="FFFFFF"/>
          </a:solidFill>
          <a:ln/>
        </p:spPr>
      </p:sp>
      <p:sp>
        <p:nvSpPr>
          <p:cNvPr id="3" name="Text 1"/>
          <p:cNvSpPr txBox="1"/>
          <p:nvPr/>
        </p:nvSpPr>
        <p:spPr>
          <a:xfrm>
            <a:off x="609905" y="323698"/>
            <a:ext cx="37060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Tensor Memory (TM)</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376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 SMのTensor Memory (256KB)</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1257300" y="2057400"/>
            <a:ext cx="3886200" cy="571500"/>
          </a:xfrm>
          <a:prstGeom prst="roundRect">
            <a:avLst>
              <a:gd name="adj" fmla="val 16000"/>
            </a:avLst>
          </a:prstGeom>
          <a:solidFill>
            <a:srgbClr val="76B900"/>
          </a:solidFill>
          <a:ln/>
          <a:effectLst>
            <a:outerShdw sx="100000" sy="100000" kx="0" ky="0" algn="bl" rotWithShape="0" blurRad="63500" dist="38100" dir="5400000">
              <a:srgbClr val="000000">
                <a:alpha val="10000"/>
              </a:srgbClr>
            </a:outerShdw>
          </a:effectLst>
        </p:spPr>
      </p:sp>
      <p:sp>
        <p:nvSpPr>
          <p:cNvPr id="8" name="Text 6"/>
          <p:cNvSpPr txBox="1"/>
          <p:nvPr/>
        </p:nvSpPr>
        <p:spPr>
          <a:xfrm>
            <a:off x="2321662" y="2133295"/>
            <a:ext cx="1877263"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Tensor Memory (256KB)</a:t>
            </a:r>
            <a:endParaRPr lang="en-US" sz="1200" dirty="0"/>
          </a:p>
        </p:txBody>
      </p:sp>
      <p:sp>
        <p:nvSpPr>
          <p:cNvPr id="9" name="Text 7"/>
          <p:cNvSpPr txBox="1"/>
          <p:nvPr/>
        </p:nvSpPr>
        <p:spPr>
          <a:xfrm>
            <a:off x="2467051" y="2361895"/>
            <a:ext cx="1567282"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高速テンソル専用メモリ</a:t>
            </a:r>
            <a:endParaRPr lang="en-US" sz="1000" dirty="0"/>
          </a:p>
        </p:txBody>
      </p:sp>
      <p:sp>
        <p:nvSpPr>
          <p:cNvPr id="10" name="Shape 8"/>
          <p:cNvSpPr/>
          <p:nvPr/>
        </p:nvSpPr>
        <p:spPr>
          <a:xfrm>
            <a:off x="3124505" y="2628900"/>
            <a:ext cx="152705" cy="95098"/>
          </a:xfrm>
          <a:prstGeom prst="rect">
            <a:avLst/>
          </a:prstGeom>
          <a:noFill/>
          <a:ln w="127000">
            <a:solidFill>
              <a:srgbClr val="76B900"/>
            </a:solidFill>
            <a:prstDash val="solid"/>
          </a:ln>
        </p:spPr>
      </p:sp>
      <p:sp>
        <p:nvSpPr>
          <p:cNvPr id="11" name="Shape 9"/>
          <p:cNvSpPr/>
          <p:nvPr/>
        </p:nvSpPr>
        <p:spPr>
          <a:xfrm>
            <a:off x="1500530" y="2723998"/>
            <a:ext cx="3400654" cy="476402"/>
          </a:xfrm>
          <a:prstGeom prst="roundRect">
            <a:avLst>
              <a:gd name="adj" fmla="val 23033"/>
            </a:avLst>
          </a:prstGeom>
          <a:solidFill>
            <a:srgbClr val="88C42C"/>
          </a:solidFill>
          <a:ln/>
          <a:effectLst>
            <a:outerShdw sx="100000" sy="100000" kx="0" ky="0" algn="bl" rotWithShape="0" blurRad="63500" dist="38100" dir="5400000">
              <a:srgbClr val="000000">
                <a:alpha val="10000"/>
              </a:srgbClr>
            </a:outerShdw>
          </a:effectLst>
        </p:spPr>
      </p:sp>
      <p:sp>
        <p:nvSpPr>
          <p:cNvPr id="12" name="Text 10"/>
          <p:cNvSpPr txBox="1"/>
          <p:nvPr/>
        </p:nvSpPr>
        <p:spPr>
          <a:xfrm>
            <a:off x="2307946" y="2752344"/>
            <a:ext cx="190561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Shared Memory (128KB)</a:t>
            </a:r>
            <a:endParaRPr lang="en-US" sz="1200" dirty="0"/>
          </a:p>
        </p:txBody>
      </p:sp>
      <p:sp>
        <p:nvSpPr>
          <p:cNvPr id="13" name="Text 11"/>
          <p:cNvSpPr txBox="1"/>
          <p:nvPr/>
        </p:nvSpPr>
        <p:spPr>
          <a:xfrm>
            <a:off x="2400300" y="2980944"/>
            <a:ext cx="1700784"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プログラマブル共有メモリ</a:t>
            </a:r>
            <a:endParaRPr lang="en-US" sz="1000" dirty="0"/>
          </a:p>
        </p:txBody>
      </p:sp>
      <p:sp>
        <p:nvSpPr>
          <p:cNvPr id="14" name="Shape 12"/>
          <p:cNvSpPr/>
          <p:nvPr/>
        </p:nvSpPr>
        <p:spPr>
          <a:xfrm>
            <a:off x="3124505" y="3200400"/>
            <a:ext cx="152705" cy="95098"/>
          </a:xfrm>
          <a:prstGeom prst="rect">
            <a:avLst/>
          </a:prstGeom>
          <a:noFill/>
          <a:ln w="127000">
            <a:solidFill>
              <a:srgbClr val="88C42C"/>
            </a:solidFill>
            <a:prstDash val="solid"/>
          </a:ln>
        </p:spPr>
      </p:sp>
      <p:sp>
        <p:nvSpPr>
          <p:cNvPr id="15" name="Shape 13"/>
          <p:cNvSpPr/>
          <p:nvPr/>
        </p:nvSpPr>
        <p:spPr>
          <a:xfrm>
            <a:off x="1742846" y="3295498"/>
            <a:ext cx="2915107" cy="476402"/>
          </a:xfrm>
          <a:prstGeom prst="roundRect">
            <a:avLst>
              <a:gd name="adj" fmla="val 23033"/>
            </a:avLst>
          </a:prstGeom>
          <a:solidFill>
            <a:srgbClr val="A5D569"/>
          </a:solidFill>
          <a:ln/>
          <a:effectLst>
            <a:outerShdw sx="100000" sy="100000" kx="0" ky="0" algn="bl" rotWithShape="0" blurRad="63500" dist="38100" dir="5400000">
              <a:srgbClr val="000000">
                <a:alpha val="10000"/>
              </a:srgbClr>
            </a:outerShdw>
          </a:effectLst>
        </p:spPr>
      </p:sp>
      <p:sp>
        <p:nvSpPr>
          <p:cNvPr id="16" name="Text 14"/>
          <p:cNvSpPr txBox="1"/>
          <p:nvPr/>
        </p:nvSpPr>
        <p:spPr>
          <a:xfrm>
            <a:off x="2593238" y="3323844"/>
            <a:ext cx="1334110"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L2 Cache (98MB)</a:t>
            </a:r>
            <a:endParaRPr lang="en-US" sz="1200" dirty="0"/>
          </a:p>
        </p:txBody>
      </p:sp>
      <p:sp>
        <p:nvSpPr>
          <p:cNvPr id="17" name="Text 15"/>
          <p:cNvSpPr txBox="1"/>
          <p:nvPr/>
        </p:nvSpPr>
        <p:spPr>
          <a:xfrm>
            <a:off x="2667305" y="3552444"/>
            <a:ext cx="1167689"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チップ全体で共有</a:t>
            </a:r>
            <a:endParaRPr lang="en-US" sz="1000" dirty="0"/>
          </a:p>
        </p:txBody>
      </p:sp>
      <p:sp>
        <p:nvSpPr>
          <p:cNvPr id="18" name="Shape 16"/>
          <p:cNvSpPr/>
          <p:nvPr/>
        </p:nvSpPr>
        <p:spPr>
          <a:xfrm>
            <a:off x="3124505" y="3771900"/>
            <a:ext cx="152705" cy="95098"/>
          </a:xfrm>
          <a:prstGeom prst="rect">
            <a:avLst/>
          </a:prstGeom>
          <a:noFill/>
          <a:ln w="127000">
            <a:solidFill>
              <a:srgbClr val="A5D569"/>
            </a:solidFill>
            <a:prstDash val="solid"/>
          </a:ln>
        </p:spPr>
      </p:sp>
      <p:sp>
        <p:nvSpPr>
          <p:cNvPr id="19" name="Shape 17"/>
          <p:cNvSpPr/>
          <p:nvPr/>
        </p:nvSpPr>
        <p:spPr>
          <a:xfrm>
            <a:off x="1986077" y="3866998"/>
            <a:ext cx="2428646" cy="476402"/>
          </a:xfrm>
          <a:prstGeom prst="roundRect">
            <a:avLst>
              <a:gd name="adj" fmla="val 23033"/>
            </a:avLst>
          </a:prstGeom>
          <a:solidFill>
            <a:srgbClr val="D8ECC2"/>
          </a:solidFill>
          <a:ln/>
          <a:effectLst>
            <a:outerShdw sx="100000" sy="100000" kx="0" ky="0" algn="bl" rotWithShape="0" blurRad="63500" dist="38100" dir="5400000">
              <a:srgbClr val="000000">
                <a:alpha val="10000"/>
              </a:srgbClr>
            </a:outerShdw>
          </a:effectLst>
        </p:spPr>
      </p:sp>
      <p:sp>
        <p:nvSpPr>
          <p:cNvPr id="20" name="Text 18"/>
          <p:cNvSpPr txBox="1"/>
          <p:nvPr/>
        </p:nvSpPr>
        <p:spPr>
          <a:xfrm>
            <a:off x="2377440" y="3895344"/>
            <a:ext cx="1762963"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HBM3/GDDR7 Memory</a:t>
            </a:r>
            <a:endParaRPr lang="en-US" sz="1200" dirty="0"/>
          </a:p>
        </p:txBody>
      </p:sp>
      <p:sp>
        <p:nvSpPr>
          <p:cNvPr id="21" name="Text 19"/>
          <p:cNvSpPr txBox="1"/>
          <p:nvPr/>
        </p:nvSpPr>
        <p:spPr>
          <a:xfrm>
            <a:off x="2602382" y="4123944"/>
            <a:ext cx="1300277"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高帯域メインメモリ</a:t>
            </a:r>
            <a:endParaRPr lang="en-US" sz="1000" dirty="0"/>
          </a:p>
        </p:txBody>
      </p:sp>
      <p:sp>
        <p:nvSpPr>
          <p:cNvPr id="22" name="Text 20"/>
          <p:cNvSpPr txBox="1"/>
          <p:nvPr/>
        </p:nvSpPr>
        <p:spPr>
          <a:xfrm>
            <a:off x="1541678" y="4839005"/>
            <a:ext cx="34244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Blackwell世代で導入された256KB Tensor Memoryは、</a:t>
            </a:r>
            <a:endParaRPr lang="en-US" sz="1000" dirty="0"/>
          </a:p>
        </p:txBody>
      </p:sp>
      <p:sp>
        <p:nvSpPr>
          <p:cNvPr id="23" name="Text 21"/>
          <p:cNvSpPr txBox="1"/>
          <p:nvPr/>
        </p:nvSpPr>
        <p:spPr>
          <a:xfrm>
            <a:off x="1176833" y="5029200"/>
            <a:ext cx="4148633"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Transformer/Attention処理の大規模テンソルデータを効率的に保持</a:t>
            </a:r>
            <a:endParaRPr lang="en-US" sz="1000" dirty="0"/>
          </a:p>
        </p:txBody>
      </p:sp>
      <p:sp>
        <p:nvSpPr>
          <p:cNvPr id="24" name="Text 22"/>
          <p:cNvSpPr txBox="1"/>
          <p:nvPr/>
        </p:nvSpPr>
        <p:spPr>
          <a:xfrm>
            <a:off x="609905" y="5524805"/>
            <a:ext cx="5205679"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従来の共有メモリとは別に確保された、テンソル演算に特化した高速キャッシュ。TMA/UMMAと組み合わせて最大限の効率を発揮。</a:t>
            </a:r>
            <a:endParaRPr lang="en-US" sz="1000" dirty="0"/>
          </a:p>
        </p:txBody>
      </p:sp>
      <p:sp>
        <p:nvSpPr>
          <p:cNvPr id="25" name="Text 23"/>
          <p:cNvSpPr txBox="1"/>
          <p:nvPr/>
        </p:nvSpPr>
        <p:spPr>
          <a:xfrm>
            <a:off x="6400800" y="1304849"/>
            <a:ext cx="27861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Memoryの主要機能と効果</a:t>
            </a:r>
            <a:endParaRPr lang="en-US" sz="1300" dirty="0"/>
          </a:p>
        </p:txBody>
      </p:sp>
      <p:pic>
        <p:nvPicPr>
          <p:cNvPr id="26"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7" name="Text 24"/>
          <p:cNvSpPr txBox="1"/>
          <p:nvPr/>
        </p:nvSpPr>
        <p:spPr>
          <a:xfrm>
            <a:off x="6772046" y="18004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SMごとの専用高速キャッシュ</a:t>
            </a:r>
            <a:endParaRPr lang="en-US" sz="1300" dirty="0"/>
          </a:p>
        </p:txBody>
      </p:sp>
      <p:sp>
        <p:nvSpPr>
          <p:cNvPr id="28" name="Text 25"/>
          <p:cNvSpPr txBox="1"/>
          <p:nvPr/>
        </p:nvSpPr>
        <p:spPr>
          <a:xfrm>
            <a:off x="6772046" y="2076602"/>
            <a:ext cx="4924958"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各SMに256KBの専用Tensor Memory領域を確保。共有メモリよりも大容量で、複雑なAttention計算やKVキャッシュを高速化。</a:t>
            </a:r>
            <a:endParaRPr lang="en-US" sz="1200" dirty="0"/>
          </a:p>
        </p:txBody>
      </p:sp>
      <p:pic>
        <p:nvPicPr>
          <p:cNvPr id="29" name="Image 1" descr="preencoded.png">    </p:cNvPr>
          <p:cNvPicPr>
            <a:picLocks noChangeAspect="1"/>
          </p:cNvPicPr>
          <p:nvPr/>
        </p:nvPicPr>
        <p:blipFill>
          <a:blip r:embed="rId2"/>
          <a:srcRect l="0" r="0" t="0" b="0"/>
          <a:stretch/>
        </p:blipFill>
        <p:spPr>
          <a:xfrm>
            <a:off x="6400800" y="2719426"/>
            <a:ext cx="190195" cy="190195"/>
          </a:xfrm>
          <a:prstGeom prst="rect">
            <a:avLst/>
          </a:prstGeom>
        </p:spPr>
      </p:pic>
      <p:sp>
        <p:nvSpPr>
          <p:cNvPr id="30" name="Text 26"/>
          <p:cNvSpPr txBox="1"/>
          <p:nvPr/>
        </p:nvSpPr>
        <p:spPr>
          <a:xfrm>
            <a:off x="6743700" y="2676449"/>
            <a:ext cx="34344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Transformerモデル用KVキャッシュ最適化</a:t>
            </a:r>
            <a:endParaRPr lang="en-US" sz="1300" dirty="0"/>
          </a:p>
        </p:txBody>
      </p:sp>
      <p:sp>
        <p:nvSpPr>
          <p:cNvPr id="31" name="Text 27"/>
          <p:cNvSpPr txBox="1"/>
          <p:nvPr/>
        </p:nvSpPr>
        <p:spPr>
          <a:xfrm>
            <a:off x="6743700"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大規模言語モデル(LLM)のKey-Valueキャッシュをオンチップに保持することで、レイテンシを劇的に削減し推論速度を向上。</a:t>
            </a:r>
            <a:endParaRPr lang="en-US" sz="1200" dirty="0"/>
          </a:p>
        </p:txBody>
      </p:sp>
      <p:pic>
        <p:nvPicPr>
          <p:cNvPr id="32" name="Image 2" descr="preencoded.png">    </p:cNvPr>
          <p:cNvPicPr>
            <a:picLocks noChangeAspect="1"/>
          </p:cNvPicPr>
          <p:nvPr/>
        </p:nvPicPr>
        <p:blipFill>
          <a:blip r:embed="rId3"/>
          <a:srcRect l="0" r="0" t="0" b="0"/>
          <a:stretch/>
        </p:blipFill>
        <p:spPr>
          <a:xfrm>
            <a:off x="6400800" y="3595421"/>
            <a:ext cx="190195" cy="190195"/>
          </a:xfrm>
          <a:prstGeom prst="rect">
            <a:avLst/>
          </a:prstGeom>
        </p:spPr>
      </p:pic>
      <p:sp>
        <p:nvSpPr>
          <p:cNvPr id="33" name="Text 28"/>
          <p:cNvSpPr txBox="1"/>
          <p:nvPr/>
        </p:nvSpPr>
        <p:spPr>
          <a:xfrm>
            <a:off x="6743700" y="3552444"/>
            <a:ext cx="2015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メモリレイテンシの隠蔽</a:t>
            </a:r>
            <a:endParaRPr lang="en-US" sz="1300" dirty="0"/>
          </a:p>
        </p:txBody>
      </p:sp>
      <p:sp>
        <p:nvSpPr>
          <p:cNvPr id="34" name="Text 29"/>
          <p:cNvSpPr txBox="1"/>
          <p:nvPr/>
        </p:nvSpPr>
        <p:spPr>
          <a:xfrm>
            <a:off x="6743700" y="3829507"/>
            <a:ext cx="487741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TMAによる先読みとTensor Memoryへの非同期ロードを組み合わせることで、メインメモリアクセスのレイテンシを効果的に隠蔽。計算効率を向上。</a:t>
            </a:r>
            <a:endParaRPr lang="en-US" sz="1200" dirty="0"/>
          </a:p>
        </p:txBody>
      </p:sp>
      <p:pic>
        <p:nvPicPr>
          <p:cNvPr id="35" name="Image 3" descr="preencoded.png">    </p:cNvPr>
          <p:cNvPicPr>
            <a:picLocks noChangeAspect="1"/>
          </p:cNvPicPr>
          <p:nvPr/>
        </p:nvPicPr>
        <p:blipFill>
          <a:blip r:embed="rId4"/>
          <a:srcRect l="-1282" r="-1282" t="0" b="0"/>
          <a:stretch/>
        </p:blipFill>
        <p:spPr>
          <a:xfrm>
            <a:off x="6400800" y="4662526"/>
            <a:ext cx="219456" cy="190195"/>
          </a:xfrm>
          <a:prstGeom prst="rect">
            <a:avLst/>
          </a:prstGeom>
        </p:spPr>
      </p:pic>
      <p:sp>
        <p:nvSpPr>
          <p:cNvPr id="36" name="Text 30"/>
          <p:cNvSpPr txBox="1"/>
          <p:nvPr/>
        </p:nvSpPr>
        <p:spPr>
          <a:xfrm>
            <a:off x="6772046" y="4619549"/>
            <a:ext cx="17675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TMA/UMMAとの連携</a:t>
            </a:r>
            <a:endParaRPr lang="en-US" sz="1300" dirty="0"/>
          </a:p>
        </p:txBody>
      </p:sp>
      <p:sp>
        <p:nvSpPr>
          <p:cNvPr id="37" name="Text 31"/>
          <p:cNvSpPr txBox="1"/>
          <p:nvPr/>
        </p:nvSpPr>
        <p:spPr>
          <a:xfrm>
            <a:off x="6772046"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AcceleratorとUnified Matrix Multiply-Accumulateユニットと密に連携し、データ転送と行列演算をパイプライン化。理論性能に近い実効性能を実現。</a:t>
            </a:r>
            <a:endParaRPr lang="en-US" sz="1200" dirty="0"/>
          </a:p>
        </p:txBody>
      </p:sp>
      <p:pic>
        <p:nvPicPr>
          <p:cNvPr id="38" name="Image 4" descr="preencoded.png">    </p:cNvPr>
          <p:cNvPicPr>
            <a:picLocks noChangeAspect="1"/>
          </p:cNvPicPr>
          <p:nvPr/>
        </p:nvPicPr>
        <p:blipFill>
          <a:blip r:embed="rId5"/>
          <a:srcRect l="0" r="0" t="0" b="0"/>
          <a:stretch/>
        </p:blipFill>
        <p:spPr>
          <a:xfrm>
            <a:off x="6400800" y="5729630"/>
            <a:ext cx="190195" cy="190195"/>
          </a:xfrm>
          <a:prstGeom prst="rect">
            <a:avLst/>
          </a:prstGeom>
        </p:spPr>
      </p:pic>
      <p:sp>
        <p:nvSpPr>
          <p:cNvPr id="39" name="Text 32"/>
          <p:cNvSpPr txBox="1"/>
          <p:nvPr/>
        </p:nvSpPr>
        <p:spPr>
          <a:xfrm>
            <a:off x="6743700" y="5686654"/>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自動運転向け大規模モデルの実時間処理</a:t>
            </a:r>
            <a:endParaRPr lang="en-US" sz="1300" dirty="0"/>
          </a:p>
        </p:txBody>
      </p:sp>
      <p:sp>
        <p:nvSpPr>
          <p:cNvPr id="40" name="Text 33"/>
          <p:cNvSpPr txBox="1"/>
          <p:nvPr/>
        </p:nvSpPr>
        <p:spPr>
          <a:xfrm>
            <a:off x="6743700" y="5962802"/>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BEV Transformerやビジョン-ポリシーモデルのような大規模ニューラルネットワークの車載リアルタイム実行を可能に。安全かつ高品質な自動運転機能を実現。</a:t>
            </a:r>
            <a:endParaRPr lang="en-US" sz="1200" dirty="0"/>
          </a:p>
        </p:txBody>
      </p:sp>
      <p:sp>
        <p:nvSpPr>
          <p:cNvPr id="41" name="Shape 34"/>
          <p:cNvSpPr/>
          <p:nvPr/>
        </p:nvSpPr>
        <p:spPr>
          <a:xfrm>
            <a:off x="0" y="6953098"/>
            <a:ext cx="12191695" cy="9144"/>
          </a:xfrm>
          <a:prstGeom prst="rect">
            <a:avLst/>
          </a:prstGeom>
          <a:solidFill>
            <a:srgbClr val="EAEAEA"/>
          </a:solidFill>
          <a:ln/>
        </p:spPr>
      </p:sp>
      <p:sp>
        <p:nvSpPr>
          <p:cNvPr id="42" name="Text 35"/>
          <p:cNvSpPr txBox="1"/>
          <p:nvPr/>
        </p:nvSpPr>
        <p:spPr>
          <a:xfrm>
            <a:off x="571500" y="705825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3" name="Text 36"/>
          <p:cNvSpPr txBox="1"/>
          <p:nvPr/>
        </p:nvSpPr>
        <p:spPr>
          <a:xfrm>
            <a:off x="11472062" y="705825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11</a:t>
            </a:r>
            <a:endParaRPr lang="en-US" sz="1000" dirty="0"/>
          </a:p>
        </p:txBody>
      </p:sp>
      <p:sp>
        <p:nvSpPr>
          <p:cNvPr id="44" name="Shape 37"/>
          <p:cNvSpPr/>
          <p:nvPr/>
        </p:nvSpPr>
        <p:spPr>
          <a:xfrm>
            <a:off x="10707624" y="6344107"/>
            <a:ext cx="1295705" cy="323698"/>
          </a:xfrm>
          <a:prstGeom prst="roundRect">
            <a:avLst>
              <a:gd name="adj" fmla="val 33234"/>
            </a:avLst>
          </a:prstGeom>
          <a:solidFill>
            <a:srgbClr val="333333"/>
          </a:solidFill>
          <a:ln/>
        </p:spPr>
      </p:sp>
      <p:pic>
        <p:nvPicPr>
          <p:cNvPr id="4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6" name="Shape 38"/>
          <p:cNvSpPr/>
          <p:nvPr/>
        </p:nvSpPr>
        <p:spPr>
          <a:xfrm>
            <a:off x="10707624" y="6344107"/>
            <a:ext cx="1295705" cy="323698"/>
          </a:xfrm>
          <a:prstGeom prst="roundRect">
            <a:avLst>
              <a:gd name="adj" fmla="val 33234"/>
            </a:avLst>
          </a:prstGeom>
          <a:solidFill>
            <a:srgbClr val="333333"/>
          </a:solidFill>
          <a:ln/>
        </p:spPr>
      </p:sp>
      <p:sp>
        <p:nvSpPr>
          <p:cNvPr id="47"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8"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49"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248595"/>
          </a:xfrm>
          <a:prstGeom prst="rect">
            <a:avLst/>
          </a:prstGeom>
          <a:solidFill>
            <a:srgbClr val="FFFFFF"/>
          </a:solidFill>
          <a:ln/>
        </p:spPr>
      </p:sp>
      <p:sp>
        <p:nvSpPr>
          <p:cNvPr id="3" name="Text 1"/>
          <p:cNvSpPr txBox="1"/>
          <p:nvPr/>
        </p:nvSpPr>
        <p:spPr>
          <a:xfrm>
            <a:off x="609905" y="323698"/>
            <a:ext cx="74871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WGMMA（Hopper） vs UMMA（Blackwell）</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2029054"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WGMMA Hopper世代</a:t>
            </a:r>
            <a:endParaRPr lang="en-US" sz="1500" dirty="0"/>
          </a:p>
        </p:txBody>
      </p:sp>
      <p:sp>
        <p:nvSpPr>
          <p:cNvPr id="8" name="Shape 6"/>
          <p:cNvSpPr/>
          <p:nvPr/>
        </p:nvSpPr>
        <p:spPr>
          <a:xfrm>
            <a:off x="609905" y="1923898"/>
            <a:ext cx="5257800" cy="2286000"/>
          </a:xfrm>
          <a:prstGeom prst="roundRect">
            <a:avLst>
              <a:gd name="adj" fmla="val 1000"/>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572207"/>
            <a:ext cx="342900" cy="342900"/>
          </a:xfrm>
          <a:prstGeom prst="rect">
            <a:avLst/>
          </a:prstGeom>
        </p:spPr>
      </p:pic>
      <p:sp>
        <p:nvSpPr>
          <p:cNvPr id="10" name="Text 7"/>
          <p:cNvSpPr txBox="1"/>
          <p:nvPr/>
        </p:nvSpPr>
        <p:spPr>
          <a:xfrm>
            <a:off x="1652321" y="3038551"/>
            <a:ext cx="331012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Warp Group Matrix Multiply-Accumulate</a:t>
            </a:r>
            <a:endParaRPr lang="en-US" sz="1300" dirty="0"/>
          </a:p>
        </p:txBody>
      </p:sp>
      <p:sp>
        <p:nvSpPr>
          <p:cNvPr id="11" name="Text 8"/>
          <p:cNvSpPr txBox="1"/>
          <p:nvPr/>
        </p:nvSpPr>
        <p:spPr>
          <a:xfrm>
            <a:off x="2100377" y="3372307"/>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Hopper H100: Warp単位での行列演算</a:t>
            </a:r>
            <a:endParaRPr lang="en-US" sz="1000" dirty="0"/>
          </a:p>
        </p:txBody>
      </p:sp>
      <p:sp>
        <p:nvSpPr>
          <p:cNvPr id="12" name="Shape 9"/>
          <p:cNvSpPr/>
          <p:nvPr/>
        </p:nvSpPr>
        <p:spPr>
          <a:xfrm>
            <a:off x="609905" y="4362602"/>
            <a:ext cx="5257800" cy="2704795"/>
          </a:xfrm>
          <a:prstGeom prst="roundRect">
            <a:avLst>
              <a:gd name="adj" fmla="val 952"/>
            </a:avLst>
          </a:prstGeom>
          <a:solidFill>
            <a:srgbClr val="F3F4F6"/>
          </a:solidFill>
          <a:ln/>
        </p:spPr>
      </p:sp>
      <p:sp>
        <p:nvSpPr>
          <p:cNvPr id="13" name="Shape 10"/>
          <p:cNvSpPr/>
          <p:nvPr/>
        </p:nvSpPr>
        <p:spPr>
          <a:xfrm>
            <a:off x="761695" y="4515307"/>
            <a:ext cx="28346" cy="685800"/>
          </a:xfrm>
          <a:prstGeom prst="rect">
            <a:avLst/>
          </a:prstGeom>
          <a:solidFill>
            <a:srgbClr val="76B900"/>
          </a:solidFill>
          <a:ln/>
        </p:spPr>
      </p:sp>
      <p:sp>
        <p:nvSpPr>
          <p:cNvPr id="14" name="Shape 11"/>
          <p:cNvSpPr/>
          <p:nvPr/>
        </p:nvSpPr>
        <p:spPr>
          <a:xfrm>
            <a:off x="761695" y="5315407"/>
            <a:ext cx="28346" cy="914400"/>
          </a:xfrm>
          <a:prstGeom prst="rect">
            <a:avLst/>
          </a:prstGeom>
          <a:solidFill>
            <a:srgbClr val="76B900"/>
          </a:solidFill>
          <a:ln/>
        </p:spPr>
      </p:sp>
      <p:sp>
        <p:nvSpPr>
          <p:cNvPr id="15" name="Text 12"/>
          <p:cNvSpPr txBox="1"/>
          <p:nvPr/>
        </p:nvSpPr>
        <p:spPr>
          <a:xfrm>
            <a:off x="905256" y="45153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原理：</a:t>
            </a:r>
            <a:endParaRPr lang="en-US" sz="1200" dirty="0"/>
          </a:p>
        </p:txBody>
      </p:sp>
      <p:sp>
        <p:nvSpPr>
          <p:cNvPr id="16" name="Text 13"/>
          <p:cNvSpPr txBox="1"/>
          <p:nvPr/>
        </p:nvSpPr>
        <p:spPr>
          <a:xfrm>
            <a:off x="905256" y="4743907"/>
            <a:ext cx="4877410"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 (Warp Group)をグループ化し、協調して単一SM内で行列演算を実行</a:t>
            </a:r>
            <a:endParaRPr lang="en-US" sz="1200" dirty="0"/>
          </a:p>
        </p:txBody>
      </p:sp>
      <p:sp>
        <p:nvSpPr>
          <p:cNvPr id="17" name="Text 14"/>
          <p:cNvSpPr txBox="1"/>
          <p:nvPr/>
        </p:nvSpPr>
        <p:spPr>
          <a:xfrm>
            <a:off x="905256" y="53154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特徴：</a:t>
            </a:r>
            <a:endParaRPr lang="en-US" sz="1200" dirty="0"/>
          </a:p>
        </p:txBody>
      </p:sp>
      <p:sp>
        <p:nvSpPr>
          <p:cNvPr id="18" name="Text 15"/>
          <p:cNvSpPr txBox="1"/>
          <p:nvPr/>
        </p:nvSpPr>
        <p:spPr>
          <a:xfrm>
            <a:off x="1133856" y="5544007"/>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4 Warps (128スレッド) を束ねて動作</a:t>
            </a:r>
            <a:endParaRPr lang="en-US" sz="1200" dirty="0"/>
          </a:p>
        </p:txBody>
      </p:sp>
      <p:sp>
        <p:nvSpPr>
          <p:cNvPr id="19" name="Text 16"/>
          <p:cNvSpPr txBox="1"/>
          <p:nvPr/>
        </p:nvSpPr>
        <p:spPr>
          <a:xfrm>
            <a:off x="1133856" y="57726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SM内のローカルスレッドで協調処理</a:t>
            </a:r>
            <a:endParaRPr lang="en-US" sz="1200" dirty="0"/>
          </a:p>
        </p:txBody>
      </p:sp>
      <p:sp>
        <p:nvSpPr>
          <p:cNvPr id="20" name="Text 17"/>
          <p:cNvSpPr txBox="1"/>
          <p:nvPr/>
        </p:nvSpPr>
        <p:spPr>
          <a:xfrm>
            <a:off x="1133856" y="60012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スレッドグループと共有メモリの親和性</a:t>
            </a:r>
            <a:endParaRPr lang="en-US" sz="1200" dirty="0"/>
          </a:p>
        </p:txBody>
      </p:sp>
      <p:sp>
        <p:nvSpPr>
          <p:cNvPr id="21" name="Shape 18"/>
          <p:cNvSpPr/>
          <p:nvPr/>
        </p:nvSpPr>
        <p:spPr>
          <a:xfrm>
            <a:off x="761695" y="6344107"/>
            <a:ext cx="28346" cy="457200"/>
          </a:xfrm>
          <a:prstGeom prst="rect">
            <a:avLst/>
          </a:prstGeom>
          <a:solidFill>
            <a:srgbClr val="76B900"/>
          </a:solidFill>
          <a:ln/>
        </p:spPr>
      </p:sp>
      <p:sp>
        <p:nvSpPr>
          <p:cNvPr id="22" name="Text 19"/>
          <p:cNvSpPr txBox="1"/>
          <p:nvPr/>
        </p:nvSpPr>
        <p:spPr>
          <a:xfrm>
            <a:off x="905256" y="63441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制約：</a:t>
            </a:r>
            <a:endParaRPr lang="en-US" sz="1200" dirty="0"/>
          </a:p>
        </p:txBody>
      </p:sp>
      <p:sp>
        <p:nvSpPr>
          <p:cNvPr id="23" name="Text 20"/>
          <p:cNvSpPr txBox="1"/>
          <p:nvPr/>
        </p:nvSpPr>
        <p:spPr>
          <a:xfrm>
            <a:off x="905256" y="6572707"/>
            <a:ext cx="34482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単一SM内での演算に限定され、SM間連携は不可</a:t>
            </a:r>
            <a:endParaRPr lang="en-US" sz="1200" dirty="0"/>
          </a:p>
        </p:txBody>
      </p:sp>
      <p:sp>
        <p:nvSpPr>
          <p:cNvPr id="24" name="Shape 21"/>
          <p:cNvSpPr/>
          <p:nvPr/>
        </p:nvSpPr>
        <p:spPr>
          <a:xfrm>
            <a:off x="6324905" y="1295705"/>
            <a:ext cx="5257800" cy="476402"/>
          </a:xfrm>
          <a:prstGeom prst="roundRect">
            <a:avLst>
              <a:gd name="adj" fmla="val 30710"/>
            </a:avLst>
          </a:prstGeom>
          <a:solidFill>
            <a:srgbClr val="F6F6F6"/>
          </a:solidFill>
          <a:ln/>
        </p:spPr>
      </p:sp>
      <p:sp>
        <p:nvSpPr>
          <p:cNvPr id="25" name="Shape 22"/>
          <p:cNvSpPr/>
          <p:nvPr/>
        </p:nvSpPr>
        <p:spPr>
          <a:xfrm>
            <a:off x="6324905" y="1752905"/>
            <a:ext cx="5257800" cy="19202"/>
          </a:xfrm>
          <a:prstGeom prst="rect">
            <a:avLst/>
          </a:prstGeom>
          <a:solidFill>
            <a:srgbClr val="76B900"/>
          </a:solidFill>
          <a:ln/>
        </p:spPr>
      </p:sp>
      <p:sp>
        <p:nvSpPr>
          <p:cNvPr id="26" name="Text 23"/>
          <p:cNvSpPr txBox="1"/>
          <p:nvPr/>
        </p:nvSpPr>
        <p:spPr>
          <a:xfrm>
            <a:off x="6420002" y="1380744"/>
            <a:ext cx="20674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UMMA Blackwell世代</a:t>
            </a:r>
            <a:endParaRPr lang="en-US" sz="1500" dirty="0"/>
          </a:p>
        </p:txBody>
      </p:sp>
      <p:sp>
        <p:nvSpPr>
          <p:cNvPr id="27" name="Shape 24"/>
          <p:cNvSpPr/>
          <p:nvPr/>
        </p:nvSpPr>
        <p:spPr>
          <a:xfrm>
            <a:off x="6324905" y="1923898"/>
            <a:ext cx="5257800" cy="2286000"/>
          </a:xfrm>
          <a:prstGeom prst="roundRect">
            <a:avLst>
              <a:gd name="adj" fmla="val 1000"/>
            </a:avLst>
          </a:prstGeom>
          <a:solidFill>
            <a:srgbClr val="F9F9F9"/>
          </a:solidFill>
          <a:ln w="12700">
            <a:solidFill>
              <a:srgbClr val="E0E0E0"/>
            </a:solidFill>
            <a:prstDash val="solid"/>
          </a:ln>
        </p:spPr>
      </p:sp>
      <p:pic>
        <p:nvPicPr>
          <p:cNvPr id="28" name="Image 1" descr="preencoded.png">    </p:cNvPr>
          <p:cNvPicPr>
            <a:picLocks noChangeAspect="1"/>
          </p:cNvPicPr>
          <p:nvPr/>
        </p:nvPicPr>
        <p:blipFill>
          <a:blip r:embed="rId2"/>
          <a:srcRect l="0" r="0" t="0" b="0"/>
          <a:stretch/>
        </p:blipFill>
        <p:spPr>
          <a:xfrm>
            <a:off x="8781898" y="2572207"/>
            <a:ext cx="342900" cy="342900"/>
          </a:xfrm>
          <a:prstGeom prst="rect">
            <a:avLst/>
          </a:prstGeom>
        </p:spPr>
      </p:pic>
      <p:sp>
        <p:nvSpPr>
          <p:cNvPr id="29" name="Text 25"/>
          <p:cNvSpPr txBox="1"/>
          <p:nvPr/>
        </p:nvSpPr>
        <p:spPr>
          <a:xfrm>
            <a:off x="7552944" y="3038551"/>
            <a:ext cx="292973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Unified Matrix Multiply-Accumulate</a:t>
            </a:r>
            <a:endParaRPr lang="en-US" sz="1300" dirty="0"/>
          </a:p>
        </p:txBody>
      </p:sp>
      <p:sp>
        <p:nvSpPr>
          <p:cNvPr id="30" name="Text 26"/>
          <p:cNvSpPr txBox="1"/>
          <p:nvPr/>
        </p:nvSpPr>
        <p:spPr>
          <a:xfrm>
            <a:off x="7726680" y="3372307"/>
            <a:ext cx="25575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Blackwell: 複数SMをまたぐ協調行列演算</a:t>
            </a:r>
            <a:endParaRPr lang="en-US" sz="1000" dirty="0"/>
          </a:p>
        </p:txBody>
      </p:sp>
      <p:sp>
        <p:nvSpPr>
          <p:cNvPr id="31" name="Shape 27"/>
          <p:cNvSpPr/>
          <p:nvPr/>
        </p:nvSpPr>
        <p:spPr>
          <a:xfrm>
            <a:off x="6324905" y="4362602"/>
            <a:ext cx="5257800" cy="2933395"/>
          </a:xfrm>
          <a:prstGeom prst="roundRect">
            <a:avLst>
              <a:gd name="adj" fmla="val 810"/>
            </a:avLst>
          </a:prstGeom>
          <a:solidFill>
            <a:srgbClr val="76B900">
              <a:alpha val="10000"/>
            </a:srgbClr>
          </a:solidFill>
          <a:ln/>
        </p:spPr>
      </p:sp>
      <p:sp>
        <p:nvSpPr>
          <p:cNvPr id="32" name="Shape 28"/>
          <p:cNvSpPr/>
          <p:nvPr/>
        </p:nvSpPr>
        <p:spPr>
          <a:xfrm>
            <a:off x="6476695" y="4515307"/>
            <a:ext cx="28346" cy="685800"/>
          </a:xfrm>
          <a:prstGeom prst="rect">
            <a:avLst/>
          </a:prstGeom>
          <a:solidFill>
            <a:srgbClr val="76B900"/>
          </a:solidFill>
          <a:ln/>
        </p:spPr>
      </p:sp>
      <p:sp>
        <p:nvSpPr>
          <p:cNvPr id="33" name="Shape 29"/>
          <p:cNvSpPr/>
          <p:nvPr/>
        </p:nvSpPr>
        <p:spPr>
          <a:xfrm>
            <a:off x="6476695" y="5315407"/>
            <a:ext cx="28346" cy="914400"/>
          </a:xfrm>
          <a:prstGeom prst="rect">
            <a:avLst/>
          </a:prstGeom>
          <a:solidFill>
            <a:srgbClr val="76B900"/>
          </a:solidFill>
          <a:ln/>
        </p:spPr>
      </p:sp>
      <p:sp>
        <p:nvSpPr>
          <p:cNvPr id="34" name="Text 30"/>
          <p:cNvSpPr txBox="1"/>
          <p:nvPr/>
        </p:nvSpPr>
        <p:spPr>
          <a:xfrm>
            <a:off x="6620256" y="4515307"/>
            <a:ext cx="5815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進化：</a:t>
            </a:r>
            <a:endParaRPr lang="en-US" sz="1200" dirty="0"/>
          </a:p>
        </p:txBody>
      </p:sp>
      <p:sp>
        <p:nvSpPr>
          <p:cNvPr id="35" name="Text 31"/>
          <p:cNvSpPr txBox="1"/>
          <p:nvPr/>
        </p:nvSpPr>
        <p:spPr>
          <a:xfrm>
            <a:off x="6620256" y="4743907"/>
            <a:ext cx="48966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複数SM間で協調する統合型行列演算機構。より大きなタイルサイズを効率的に処理</a:t>
            </a:r>
            <a:endParaRPr lang="en-US" sz="1200" dirty="0"/>
          </a:p>
        </p:txBody>
      </p:sp>
      <p:sp>
        <p:nvSpPr>
          <p:cNvPr id="36" name="Text 32"/>
          <p:cNvSpPr txBox="1"/>
          <p:nvPr/>
        </p:nvSpPr>
        <p:spPr>
          <a:xfrm>
            <a:off x="6620256" y="5315407"/>
            <a:ext cx="734263"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革新点：</a:t>
            </a:r>
            <a:endParaRPr lang="en-US" sz="1200" dirty="0"/>
          </a:p>
        </p:txBody>
      </p:sp>
      <p:sp>
        <p:nvSpPr>
          <p:cNvPr id="37" name="Text 33"/>
          <p:cNvSpPr txBox="1"/>
          <p:nvPr/>
        </p:nvSpPr>
        <p:spPr>
          <a:xfrm>
            <a:off x="6848856" y="5544007"/>
            <a:ext cx="31629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2つのSM間での協調計算をハードウェア対応</a:t>
            </a:r>
            <a:endParaRPr lang="en-US" sz="1200" dirty="0"/>
          </a:p>
        </p:txBody>
      </p:sp>
      <p:sp>
        <p:nvSpPr>
          <p:cNvPr id="38" name="Text 34"/>
          <p:cNvSpPr txBox="1"/>
          <p:nvPr/>
        </p:nvSpPr>
        <p:spPr>
          <a:xfrm>
            <a:off x="6848856" y="57726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大規模タイルの分散処理による効率向上</a:t>
            </a:r>
            <a:endParaRPr lang="en-US" sz="1200" dirty="0"/>
          </a:p>
        </p:txBody>
      </p:sp>
      <p:sp>
        <p:nvSpPr>
          <p:cNvPr id="39" name="Text 35"/>
          <p:cNvSpPr txBox="1"/>
          <p:nvPr/>
        </p:nvSpPr>
        <p:spPr>
          <a:xfrm>
            <a:off x="6848856" y="60012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TMとの組み合わせでレイテンシ隠蔽</a:t>
            </a:r>
            <a:endParaRPr lang="en-US" sz="1200" dirty="0"/>
          </a:p>
        </p:txBody>
      </p:sp>
      <p:sp>
        <p:nvSpPr>
          <p:cNvPr id="40" name="Shape 36"/>
          <p:cNvSpPr/>
          <p:nvPr/>
        </p:nvSpPr>
        <p:spPr>
          <a:xfrm>
            <a:off x="6476695" y="6344107"/>
            <a:ext cx="28346" cy="685800"/>
          </a:xfrm>
          <a:prstGeom prst="rect">
            <a:avLst/>
          </a:prstGeom>
          <a:solidFill>
            <a:srgbClr val="76B900"/>
          </a:solidFill>
          <a:ln/>
        </p:spPr>
      </p:sp>
      <p:sp>
        <p:nvSpPr>
          <p:cNvPr id="41" name="Text 37"/>
          <p:cNvSpPr txBox="1"/>
          <p:nvPr/>
        </p:nvSpPr>
        <p:spPr>
          <a:xfrm>
            <a:off x="6620256" y="6344107"/>
            <a:ext cx="886054"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性能向上：</a:t>
            </a:r>
            <a:endParaRPr lang="en-US" sz="1200" dirty="0"/>
          </a:p>
        </p:txBody>
      </p:sp>
      <p:sp>
        <p:nvSpPr>
          <p:cNvPr id="42" name="Text 38"/>
          <p:cNvSpPr txBox="1"/>
          <p:nvPr/>
        </p:nvSpPr>
        <p:spPr>
          <a:xfrm>
            <a:off x="6620256" y="6572707"/>
            <a:ext cx="47823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同クロックでの計算効率が2倍、Transformer向けAttention計算が大幅加速</a:t>
            </a:r>
            <a:endParaRPr lang="en-US" sz="1200" dirty="0"/>
          </a:p>
        </p:txBody>
      </p:sp>
      <p:sp>
        <p:nvSpPr>
          <p:cNvPr id="43" name="Shape 39"/>
          <p:cNvSpPr/>
          <p:nvPr/>
        </p:nvSpPr>
        <p:spPr>
          <a:xfrm>
            <a:off x="609905" y="7715707"/>
            <a:ext cx="2743200" cy="390449"/>
          </a:xfrm>
          <a:prstGeom prst="rect">
            <a:avLst/>
          </a:prstGeom>
          <a:solidFill>
            <a:srgbClr val="F6F6F6"/>
          </a:solidFill>
          <a:ln/>
        </p:spPr>
      </p:sp>
      <p:sp>
        <p:nvSpPr>
          <p:cNvPr id="44" name="Shape 40"/>
          <p:cNvSpPr/>
          <p:nvPr/>
        </p:nvSpPr>
        <p:spPr>
          <a:xfrm>
            <a:off x="609905" y="8086954"/>
            <a:ext cx="2743200" cy="19202"/>
          </a:xfrm>
          <a:prstGeom prst="rect">
            <a:avLst/>
          </a:prstGeom>
          <a:solidFill>
            <a:srgbClr val="76B900"/>
          </a:solidFill>
          <a:ln/>
        </p:spPr>
      </p:sp>
      <p:sp>
        <p:nvSpPr>
          <p:cNvPr id="45" name="Shape 41"/>
          <p:cNvSpPr/>
          <p:nvPr/>
        </p:nvSpPr>
        <p:spPr>
          <a:xfrm>
            <a:off x="3353105" y="7715707"/>
            <a:ext cx="3295498" cy="390449"/>
          </a:xfrm>
          <a:prstGeom prst="rect">
            <a:avLst/>
          </a:prstGeom>
          <a:solidFill>
            <a:srgbClr val="F6F6F6"/>
          </a:solidFill>
          <a:ln/>
        </p:spPr>
      </p:sp>
      <p:sp>
        <p:nvSpPr>
          <p:cNvPr id="46" name="Shape 42"/>
          <p:cNvSpPr/>
          <p:nvPr/>
        </p:nvSpPr>
        <p:spPr>
          <a:xfrm>
            <a:off x="3353105" y="8086954"/>
            <a:ext cx="3295498" cy="19202"/>
          </a:xfrm>
          <a:prstGeom prst="rect">
            <a:avLst/>
          </a:prstGeom>
          <a:solidFill>
            <a:srgbClr val="76B900"/>
          </a:solidFill>
          <a:ln/>
        </p:spPr>
      </p:sp>
      <p:sp>
        <p:nvSpPr>
          <p:cNvPr id="47" name="Shape 43"/>
          <p:cNvSpPr/>
          <p:nvPr/>
        </p:nvSpPr>
        <p:spPr>
          <a:xfrm>
            <a:off x="6644945" y="7715707"/>
            <a:ext cx="4943246" cy="390449"/>
          </a:xfrm>
          <a:prstGeom prst="rect">
            <a:avLst/>
          </a:prstGeom>
          <a:solidFill>
            <a:srgbClr val="F6F6F6"/>
          </a:solidFill>
          <a:ln/>
        </p:spPr>
      </p:sp>
      <p:sp>
        <p:nvSpPr>
          <p:cNvPr id="48" name="Shape 44"/>
          <p:cNvSpPr/>
          <p:nvPr/>
        </p:nvSpPr>
        <p:spPr>
          <a:xfrm>
            <a:off x="6644945" y="8086954"/>
            <a:ext cx="4943246" cy="19202"/>
          </a:xfrm>
          <a:prstGeom prst="rect">
            <a:avLst/>
          </a:prstGeom>
          <a:solidFill>
            <a:srgbClr val="76B900"/>
          </a:solidFill>
          <a:ln/>
        </p:spPr>
      </p:sp>
      <p:sp>
        <p:nvSpPr>
          <p:cNvPr id="49" name="Text 45"/>
          <p:cNvSpPr txBox="1"/>
          <p:nvPr/>
        </p:nvSpPr>
        <p:spPr>
          <a:xfrm>
            <a:off x="1828800" y="7791602"/>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50" name="Text 46"/>
          <p:cNvSpPr txBox="1"/>
          <p:nvPr/>
        </p:nvSpPr>
        <p:spPr>
          <a:xfrm>
            <a:off x="4339742" y="7791602"/>
            <a:ext cx="143835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WGMMA (Hopper)</a:t>
            </a:r>
            <a:endParaRPr lang="en-US" sz="1200" dirty="0"/>
          </a:p>
        </p:txBody>
      </p:sp>
      <p:sp>
        <p:nvSpPr>
          <p:cNvPr id="51" name="Text 47"/>
          <p:cNvSpPr txBox="1"/>
          <p:nvPr/>
        </p:nvSpPr>
        <p:spPr>
          <a:xfrm>
            <a:off x="8438998" y="7791602"/>
            <a:ext cx="146761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UMMA (Blackwell)</a:t>
            </a:r>
            <a:endParaRPr lang="en-US" sz="1200" dirty="0"/>
          </a:p>
        </p:txBody>
      </p:sp>
      <p:sp>
        <p:nvSpPr>
          <p:cNvPr id="52" name="Shape 48"/>
          <p:cNvSpPr/>
          <p:nvPr/>
        </p:nvSpPr>
        <p:spPr>
          <a:xfrm>
            <a:off x="609905" y="8497519"/>
            <a:ext cx="2743200" cy="9144"/>
          </a:xfrm>
          <a:prstGeom prst="rect">
            <a:avLst/>
          </a:prstGeom>
          <a:solidFill>
            <a:srgbClr val="E0E0E0"/>
          </a:solidFill>
          <a:ln/>
        </p:spPr>
      </p:sp>
      <p:sp>
        <p:nvSpPr>
          <p:cNvPr id="53" name="Shape 49"/>
          <p:cNvSpPr/>
          <p:nvPr/>
        </p:nvSpPr>
        <p:spPr>
          <a:xfrm>
            <a:off x="3353105" y="8497519"/>
            <a:ext cx="3295498" cy="9144"/>
          </a:xfrm>
          <a:prstGeom prst="rect">
            <a:avLst/>
          </a:prstGeom>
          <a:solidFill>
            <a:srgbClr val="E0E0E0"/>
          </a:solidFill>
          <a:ln/>
        </p:spPr>
      </p:sp>
      <p:sp>
        <p:nvSpPr>
          <p:cNvPr id="54" name="Shape 50"/>
          <p:cNvSpPr/>
          <p:nvPr/>
        </p:nvSpPr>
        <p:spPr>
          <a:xfrm>
            <a:off x="609905" y="8882482"/>
            <a:ext cx="2743200" cy="9144"/>
          </a:xfrm>
          <a:prstGeom prst="rect">
            <a:avLst/>
          </a:prstGeom>
          <a:solidFill>
            <a:srgbClr val="E0E0E0"/>
          </a:solidFill>
          <a:ln/>
        </p:spPr>
      </p:sp>
      <p:sp>
        <p:nvSpPr>
          <p:cNvPr id="55" name="Shape 51"/>
          <p:cNvSpPr/>
          <p:nvPr/>
        </p:nvSpPr>
        <p:spPr>
          <a:xfrm>
            <a:off x="3353105" y="8882482"/>
            <a:ext cx="3295498" cy="9144"/>
          </a:xfrm>
          <a:prstGeom prst="rect">
            <a:avLst/>
          </a:prstGeom>
          <a:solidFill>
            <a:srgbClr val="E0E0E0"/>
          </a:solidFill>
          <a:ln/>
        </p:spPr>
      </p:sp>
      <p:sp>
        <p:nvSpPr>
          <p:cNvPr id="56" name="Shape 52"/>
          <p:cNvSpPr/>
          <p:nvPr/>
        </p:nvSpPr>
        <p:spPr>
          <a:xfrm>
            <a:off x="609905" y="9272930"/>
            <a:ext cx="2743200" cy="9144"/>
          </a:xfrm>
          <a:prstGeom prst="rect">
            <a:avLst/>
          </a:prstGeom>
          <a:solidFill>
            <a:srgbClr val="E0E0E0"/>
          </a:solidFill>
          <a:ln/>
        </p:spPr>
      </p:sp>
      <p:sp>
        <p:nvSpPr>
          <p:cNvPr id="57" name="Shape 53"/>
          <p:cNvSpPr/>
          <p:nvPr/>
        </p:nvSpPr>
        <p:spPr>
          <a:xfrm>
            <a:off x="3353105" y="9272930"/>
            <a:ext cx="3295498" cy="9144"/>
          </a:xfrm>
          <a:prstGeom prst="rect">
            <a:avLst/>
          </a:prstGeom>
          <a:solidFill>
            <a:srgbClr val="E0E0E0"/>
          </a:solidFill>
          <a:ln/>
        </p:spPr>
      </p:sp>
      <p:sp>
        <p:nvSpPr>
          <p:cNvPr id="58" name="Shape 54"/>
          <p:cNvSpPr/>
          <p:nvPr/>
        </p:nvSpPr>
        <p:spPr>
          <a:xfrm>
            <a:off x="609905" y="9663379"/>
            <a:ext cx="2743200" cy="9144"/>
          </a:xfrm>
          <a:prstGeom prst="rect">
            <a:avLst/>
          </a:prstGeom>
          <a:solidFill>
            <a:srgbClr val="E0E0E0"/>
          </a:solidFill>
          <a:ln/>
        </p:spPr>
      </p:sp>
      <p:sp>
        <p:nvSpPr>
          <p:cNvPr id="59" name="Shape 55"/>
          <p:cNvSpPr/>
          <p:nvPr/>
        </p:nvSpPr>
        <p:spPr>
          <a:xfrm>
            <a:off x="3353105" y="9663379"/>
            <a:ext cx="3295498" cy="9144"/>
          </a:xfrm>
          <a:prstGeom prst="rect">
            <a:avLst/>
          </a:prstGeom>
          <a:solidFill>
            <a:srgbClr val="E0E0E0"/>
          </a:solidFill>
          <a:ln/>
        </p:spPr>
      </p:sp>
      <p:sp>
        <p:nvSpPr>
          <p:cNvPr id="60" name="Text 56"/>
          <p:cNvSpPr txBox="1"/>
          <p:nvPr/>
        </p:nvSpPr>
        <p:spPr>
          <a:xfrm>
            <a:off x="724205" y="8191195"/>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スレッドグループ</a:t>
            </a:r>
            <a:endParaRPr lang="en-US" sz="1200" dirty="0"/>
          </a:p>
        </p:txBody>
      </p:sp>
      <p:sp>
        <p:nvSpPr>
          <p:cNvPr id="61" name="Text 57"/>
          <p:cNvSpPr txBox="1"/>
          <p:nvPr/>
        </p:nvSpPr>
        <p:spPr>
          <a:xfrm>
            <a:off x="3467405" y="8191195"/>
            <a:ext cx="19623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単一Warp Group (4 Warps)</a:t>
            </a:r>
            <a:endParaRPr lang="en-US" sz="1200" dirty="0"/>
          </a:p>
        </p:txBody>
      </p:sp>
      <p:sp>
        <p:nvSpPr>
          <p:cNvPr id="62" name="Text 58"/>
          <p:cNvSpPr txBox="1"/>
          <p:nvPr/>
        </p:nvSpPr>
        <p:spPr>
          <a:xfrm>
            <a:off x="724205" y="8581644"/>
            <a:ext cx="10287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タイルサイズ</a:t>
            </a:r>
            <a:endParaRPr lang="en-US" sz="1200" dirty="0"/>
          </a:p>
        </p:txBody>
      </p:sp>
      <p:sp>
        <p:nvSpPr>
          <p:cNvPr id="63" name="Text 59"/>
          <p:cNvSpPr txBox="1"/>
          <p:nvPr/>
        </p:nvSpPr>
        <p:spPr>
          <a:xfrm>
            <a:off x="3467405" y="8581644"/>
            <a:ext cx="1705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中程度（SM内に制限）</a:t>
            </a:r>
            <a:endParaRPr lang="en-US" sz="1200" dirty="0"/>
          </a:p>
        </p:txBody>
      </p:sp>
      <p:sp>
        <p:nvSpPr>
          <p:cNvPr id="64" name="Text 60"/>
          <p:cNvSpPr txBox="1"/>
          <p:nvPr/>
        </p:nvSpPr>
        <p:spPr>
          <a:xfrm>
            <a:off x="724205" y="8973007"/>
            <a:ext cx="1181405"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メモリアクセス</a:t>
            </a:r>
            <a:endParaRPr lang="en-US" sz="1200" dirty="0"/>
          </a:p>
        </p:txBody>
      </p:sp>
      <p:sp>
        <p:nvSpPr>
          <p:cNvPr id="65" name="Text 61"/>
          <p:cNvSpPr txBox="1"/>
          <p:nvPr/>
        </p:nvSpPr>
        <p:spPr>
          <a:xfrm>
            <a:off x="3467405" y="8973007"/>
            <a:ext cx="15526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SM内共有メモリのみ</a:t>
            </a:r>
            <a:endParaRPr lang="en-US" sz="1200" dirty="0"/>
          </a:p>
        </p:txBody>
      </p:sp>
      <p:sp>
        <p:nvSpPr>
          <p:cNvPr id="66" name="Text 62"/>
          <p:cNvSpPr txBox="1"/>
          <p:nvPr/>
        </p:nvSpPr>
        <p:spPr>
          <a:xfrm>
            <a:off x="724205" y="9363456"/>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Transformer対応</a:t>
            </a:r>
            <a:endParaRPr lang="en-US" sz="1200" dirty="0"/>
          </a:p>
        </p:txBody>
      </p:sp>
      <p:sp>
        <p:nvSpPr>
          <p:cNvPr id="67" name="Text 63"/>
          <p:cNvSpPr txBox="1"/>
          <p:nvPr/>
        </p:nvSpPr>
        <p:spPr>
          <a:xfrm>
            <a:off x="3467405" y="9363456"/>
            <a:ext cx="16962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基本的なAttention計算</a:t>
            </a:r>
            <a:endParaRPr lang="en-US" sz="1200" dirty="0"/>
          </a:p>
        </p:txBody>
      </p:sp>
      <p:sp>
        <p:nvSpPr>
          <p:cNvPr id="68" name="Shape 64"/>
          <p:cNvSpPr/>
          <p:nvPr/>
        </p:nvSpPr>
        <p:spPr>
          <a:xfrm>
            <a:off x="6644945" y="8106156"/>
            <a:ext cx="4943246" cy="400507"/>
          </a:xfrm>
          <a:prstGeom prst="rect">
            <a:avLst/>
          </a:prstGeom>
          <a:solidFill>
            <a:srgbClr val="76B900">
              <a:alpha val="10000"/>
            </a:srgbClr>
          </a:solidFill>
          <a:ln/>
        </p:spPr>
      </p:sp>
      <p:sp>
        <p:nvSpPr>
          <p:cNvPr id="69" name="Shape 65"/>
          <p:cNvSpPr/>
          <p:nvPr/>
        </p:nvSpPr>
        <p:spPr>
          <a:xfrm>
            <a:off x="6644945" y="8497519"/>
            <a:ext cx="4943246" cy="9144"/>
          </a:xfrm>
          <a:prstGeom prst="rect">
            <a:avLst/>
          </a:prstGeom>
          <a:solidFill>
            <a:srgbClr val="E0E0E0"/>
          </a:solidFill>
          <a:ln/>
        </p:spPr>
      </p:sp>
      <p:sp>
        <p:nvSpPr>
          <p:cNvPr id="70" name="Shape 66"/>
          <p:cNvSpPr/>
          <p:nvPr/>
        </p:nvSpPr>
        <p:spPr>
          <a:xfrm>
            <a:off x="6644945" y="8501177"/>
            <a:ext cx="4943246" cy="390449"/>
          </a:xfrm>
          <a:prstGeom prst="rect">
            <a:avLst/>
          </a:prstGeom>
          <a:solidFill>
            <a:srgbClr val="76B900">
              <a:alpha val="10000"/>
            </a:srgbClr>
          </a:solidFill>
          <a:ln/>
        </p:spPr>
      </p:sp>
      <p:sp>
        <p:nvSpPr>
          <p:cNvPr id="71" name="Shape 67"/>
          <p:cNvSpPr/>
          <p:nvPr/>
        </p:nvSpPr>
        <p:spPr>
          <a:xfrm>
            <a:off x="6644945" y="8882482"/>
            <a:ext cx="4943246" cy="9144"/>
          </a:xfrm>
          <a:prstGeom prst="rect">
            <a:avLst/>
          </a:prstGeom>
          <a:solidFill>
            <a:srgbClr val="E0E0E0"/>
          </a:solidFill>
          <a:ln/>
        </p:spPr>
      </p:sp>
      <p:sp>
        <p:nvSpPr>
          <p:cNvPr id="72" name="Shape 68"/>
          <p:cNvSpPr/>
          <p:nvPr/>
        </p:nvSpPr>
        <p:spPr>
          <a:xfrm>
            <a:off x="6644945" y="8891626"/>
            <a:ext cx="4943246" cy="390449"/>
          </a:xfrm>
          <a:prstGeom prst="rect">
            <a:avLst/>
          </a:prstGeom>
          <a:solidFill>
            <a:srgbClr val="76B900">
              <a:alpha val="10000"/>
            </a:srgbClr>
          </a:solidFill>
          <a:ln/>
        </p:spPr>
      </p:sp>
      <p:sp>
        <p:nvSpPr>
          <p:cNvPr id="73" name="Shape 69"/>
          <p:cNvSpPr/>
          <p:nvPr/>
        </p:nvSpPr>
        <p:spPr>
          <a:xfrm>
            <a:off x="6644945" y="9272930"/>
            <a:ext cx="4943246" cy="9144"/>
          </a:xfrm>
          <a:prstGeom prst="rect">
            <a:avLst/>
          </a:prstGeom>
          <a:solidFill>
            <a:srgbClr val="E0E0E0"/>
          </a:solidFill>
          <a:ln/>
        </p:spPr>
      </p:sp>
      <p:sp>
        <p:nvSpPr>
          <p:cNvPr id="74" name="Text 70"/>
          <p:cNvSpPr txBox="1"/>
          <p:nvPr/>
        </p:nvSpPr>
        <p:spPr>
          <a:xfrm>
            <a:off x="6759245" y="8191195"/>
            <a:ext cx="25530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異なるSMの複数Warp Groupを連携</a:t>
            </a:r>
            <a:endParaRPr lang="en-US" sz="1200" dirty="0"/>
          </a:p>
        </p:txBody>
      </p:sp>
      <p:sp>
        <p:nvSpPr>
          <p:cNvPr id="75" name="Text 71"/>
          <p:cNvSpPr txBox="1"/>
          <p:nvPr/>
        </p:nvSpPr>
        <p:spPr>
          <a:xfrm>
            <a:off x="6759245" y="8581644"/>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大規模（複数SM間で分割処理）</a:t>
            </a:r>
            <a:endParaRPr lang="en-US" sz="1200" dirty="0"/>
          </a:p>
        </p:txBody>
      </p:sp>
      <p:sp>
        <p:nvSpPr>
          <p:cNvPr id="76" name="Text 72"/>
          <p:cNvSpPr txBox="1"/>
          <p:nvPr/>
        </p:nvSpPr>
        <p:spPr>
          <a:xfrm>
            <a:off x="6759245" y="8973007"/>
            <a:ext cx="32772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(TM) と連携した広域アクセス</a:t>
            </a:r>
            <a:endParaRPr lang="en-US" sz="1200" dirty="0"/>
          </a:p>
        </p:txBody>
      </p:sp>
      <p:sp>
        <p:nvSpPr>
          <p:cNvPr id="77" name="Shape 73"/>
          <p:cNvSpPr/>
          <p:nvPr/>
        </p:nvSpPr>
        <p:spPr>
          <a:xfrm>
            <a:off x="6644945" y="9282074"/>
            <a:ext cx="4943246" cy="390449"/>
          </a:xfrm>
          <a:prstGeom prst="rect">
            <a:avLst/>
          </a:prstGeom>
          <a:solidFill>
            <a:srgbClr val="76B900">
              <a:alpha val="10000"/>
            </a:srgbClr>
          </a:solidFill>
          <a:ln/>
        </p:spPr>
      </p:sp>
      <p:sp>
        <p:nvSpPr>
          <p:cNvPr id="78" name="Shape 74"/>
          <p:cNvSpPr/>
          <p:nvPr/>
        </p:nvSpPr>
        <p:spPr>
          <a:xfrm>
            <a:off x="6644945" y="9663379"/>
            <a:ext cx="4943246" cy="9144"/>
          </a:xfrm>
          <a:prstGeom prst="rect">
            <a:avLst/>
          </a:prstGeom>
          <a:solidFill>
            <a:srgbClr val="E0E0E0"/>
          </a:solidFill>
          <a:ln/>
        </p:spPr>
      </p:sp>
      <p:sp>
        <p:nvSpPr>
          <p:cNvPr id="79" name="Text 75"/>
          <p:cNvSpPr txBox="1"/>
          <p:nvPr/>
        </p:nvSpPr>
        <p:spPr>
          <a:xfrm>
            <a:off x="6759245" y="9363456"/>
            <a:ext cx="35533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大規模モデルのAttention・FFN層を大幅に高速化</a:t>
            </a:r>
            <a:endParaRPr lang="en-US" sz="1200" dirty="0"/>
          </a:p>
        </p:txBody>
      </p:sp>
      <p:pic>
        <p:nvPicPr>
          <p:cNvPr id="80" name="Image 2" descr="preencoded.png">    </p:cNvPr>
          <p:cNvPicPr>
            <a:picLocks noChangeAspect="1"/>
          </p:cNvPicPr>
          <p:nvPr/>
        </p:nvPicPr>
        <p:blipFill>
          <a:blip r:embed="rId3"/>
          <a:srcRect l="0" r="0" t="0" b="0"/>
          <a:stretch/>
        </p:blipFill>
        <p:spPr>
          <a:xfrm>
            <a:off x="609905" y="9865462"/>
            <a:ext cx="133502" cy="133502"/>
          </a:xfrm>
          <a:prstGeom prst="rect">
            <a:avLst/>
          </a:prstGeom>
        </p:spPr>
      </p:pic>
      <p:sp>
        <p:nvSpPr>
          <p:cNvPr id="81" name="Text 76"/>
          <p:cNvSpPr txBox="1"/>
          <p:nvPr/>
        </p:nvSpPr>
        <p:spPr>
          <a:xfrm>
            <a:off x="780898" y="9829800"/>
            <a:ext cx="62060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出典：CUTLASS Documentation、NVIDIA Developer Blog (Hopper/Blackwell Architecture In-Depth)</a:t>
            </a:r>
            <a:endParaRPr lang="en-US" sz="1000" dirty="0"/>
          </a:p>
        </p:txBody>
      </p:sp>
      <p:sp>
        <p:nvSpPr>
          <p:cNvPr id="82" name="Shape 77"/>
          <p:cNvSpPr/>
          <p:nvPr/>
        </p:nvSpPr>
        <p:spPr>
          <a:xfrm>
            <a:off x="0" y="9849002"/>
            <a:ext cx="12191695" cy="9144"/>
          </a:xfrm>
          <a:prstGeom prst="rect">
            <a:avLst/>
          </a:prstGeom>
          <a:solidFill>
            <a:srgbClr val="EAEAEA"/>
          </a:solidFill>
          <a:ln/>
        </p:spPr>
      </p:sp>
      <p:sp>
        <p:nvSpPr>
          <p:cNvPr id="83" name="Text 78"/>
          <p:cNvSpPr txBox="1"/>
          <p:nvPr/>
        </p:nvSpPr>
        <p:spPr>
          <a:xfrm>
            <a:off x="571500" y="99532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4" name="Text 79"/>
          <p:cNvSpPr txBox="1"/>
          <p:nvPr/>
        </p:nvSpPr>
        <p:spPr>
          <a:xfrm>
            <a:off x="11472062" y="99532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12</a:t>
            </a:r>
            <a:endParaRPr lang="en-US" sz="1000" dirty="0"/>
          </a:p>
        </p:txBody>
      </p:sp>
      <p:sp>
        <p:nvSpPr>
          <p:cNvPr id="85" name="Shape 80"/>
          <p:cNvSpPr/>
          <p:nvPr/>
        </p:nvSpPr>
        <p:spPr>
          <a:xfrm>
            <a:off x="10707624" y="6344107"/>
            <a:ext cx="1295705" cy="323698"/>
          </a:xfrm>
          <a:prstGeom prst="roundRect">
            <a:avLst>
              <a:gd name="adj" fmla="val 33234"/>
            </a:avLst>
          </a:prstGeom>
          <a:solidFill>
            <a:srgbClr val="333333"/>
          </a:solidFill>
          <a:ln/>
        </p:spPr>
      </p:sp>
      <p:pic>
        <p:nvPicPr>
          <p:cNvPr id="86"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87" name="Shape 81"/>
          <p:cNvSpPr/>
          <p:nvPr/>
        </p:nvSpPr>
        <p:spPr>
          <a:xfrm>
            <a:off x="10707624" y="6344107"/>
            <a:ext cx="1295705" cy="323698"/>
          </a:xfrm>
          <a:prstGeom prst="roundRect">
            <a:avLst>
              <a:gd name="adj" fmla="val 33234"/>
            </a:avLst>
          </a:prstGeom>
          <a:solidFill>
            <a:srgbClr val="333333"/>
          </a:solidFill>
          <a:ln/>
        </p:spPr>
      </p:sp>
      <p:sp>
        <p:nvSpPr>
          <p:cNvPr id="88" name="Text 8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9"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90" name="Text 8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591495"/>
          </a:xfrm>
          <a:prstGeom prst="rect">
            <a:avLst/>
          </a:prstGeom>
          <a:solidFill>
            <a:srgbClr val="FFFFFF"/>
          </a:solidFill>
          <a:ln/>
        </p:spPr>
      </p:sp>
      <p:sp>
        <p:nvSpPr>
          <p:cNvPr id="3" name="Text 1"/>
          <p:cNvSpPr txBox="1"/>
          <p:nvPr/>
        </p:nvSpPr>
        <p:spPr>
          <a:xfrm>
            <a:off x="609905" y="323698"/>
            <a:ext cx="82872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Transformer Engine: FP8/FP4（MXFP8, NVFP4）</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44677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FP8（E4M3/E5M2）とMXFP8Hopper/Blackwell</a:t>
            </a:r>
            <a:endParaRPr lang="en-US" sz="1500" dirty="0"/>
          </a:p>
        </p:txBody>
      </p:sp>
      <p:sp>
        <p:nvSpPr>
          <p:cNvPr id="8" name="Shape 6"/>
          <p:cNvSpPr/>
          <p:nvPr/>
        </p:nvSpPr>
        <p:spPr>
          <a:xfrm>
            <a:off x="609905" y="1923898"/>
            <a:ext cx="5257800" cy="2229307"/>
          </a:xfrm>
          <a:prstGeom prst="roundRect">
            <a:avLst>
              <a:gd name="adj" fmla="val 1402"/>
            </a:avLst>
          </a:prstGeom>
          <a:solidFill>
            <a:srgbClr val="F3F4F6"/>
          </a:solidFill>
          <a:ln/>
        </p:spPr>
      </p:sp>
      <p:sp>
        <p:nvSpPr>
          <p:cNvPr id="9" name="Text 7"/>
          <p:cNvSpPr txBox="1"/>
          <p:nvPr/>
        </p:nvSpPr>
        <p:spPr>
          <a:xfrm>
            <a:off x="761695" y="2076602"/>
            <a:ext cx="11622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FP8データ形式</a:t>
            </a:r>
            <a:endParaRPr lang="en-US" sz="1200" dirty="0"/>
          </a:p>
        </p:txBody>
      </p:sp>
      <p:sp>
        <p:nvSpPr>
          <p:cNvPr id="10" name="Text 8"/>
          <p:cNvSpPr txBox="1"/>
          <p:nvPr/>
        </p:nvSpPr>
        <p:spPr>
          <a:xfrm>
            <a:off x="2028139" y="2495398"/>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E4M3:</a:t>
            </a:r>
            <a:endParaRPr lang="en-US" sz="1000" dirty="0"/>
          </a:p>
        </p:txBody>
      </p:sp>
      <p:sp>
        <p:nvSpPr>
          <p:cNvPr id="11" name="Text 9"/>
          <p:cNvSpPr txBox="1"/>
          <p:nvPr/>
        </p:nvSpPr>
        <p:spPr>
          <a:xfrm>
            <a:off x="2028139" y="2924251"/>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E5M2:</a:t>
            </a:r>
            <a:endParaRPr lang="en-US" sz="1000" dirty="0"/>
          </a:p>
        </p:txBody>
      </p:sp>
      <p:sp>
        <p:nvSpPr>
          <p:cNvPr id="12" name="Shape 10"/>
          <p:cNvSpPr/>
          <p:nvPr/>
        </p:nvSpPr>
        <p:spPr>
          <a:xfrm>
            <a:off x="2476195" y="2447849"/>
            <a:ext cx="286207" cy="286207"/>
          </a:xfrm>
          <a:prstGeom prst="rect">
            <a:avLst/>
          </a:prstGeom>
          <a:solidFill>
            <a:srgbClr val="FFE0E0"/>
          </a:solidFill>
          <a:ln w="12700">
            <a:solidFill>
              <a:srgbClr val="CCCCCC"/>
            </a:solidFill>
            <a:prstDash val="solid"/>
          </a:ln>
        </p:spPr>
      </p:sp>
      <p:sp>
        <p:nvSpPr>
          <p:cNvPr id="13" name="Shape 11"/>
          <p:cNvSpPr/>
          <p:nvPr/>
        </p:nvSpPr>
        <p:spPr>
          <a:xfrm>
            <a:off x="2476195" y="2876702"/>
            <a:ext cx="286207" cy="286207"/>
          </a:xfrm>
          <a:prstGeom prst="rect">
            <a:avLst/>
          </a:prstGeom>
          <a:solidFill>
            <a:srgbClr val="FFE0E0"/>
          </a:solidFill>
          <a:ln w="12700">
            <a:solidFill>
              <a:srgbClr val="CCCCCC"/>
            </a:solidFill>
            <a:prstDash val="solid"/>
          </a:ln>
        </p:spPr>
      </p:sp>
      <p:sp>
        <p:nvSpPr>
          <p:cNvPr id="14" name="Text 12"/>
          <p:cNvSpPr txBox="1"/>
          <p:nvPr/>
        </p:nvSpPr>
        <p:spPr>
          <a:xfrm>
            <a:off x="2584094"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5" name="Text 13"/>
          <p:cNvSpPr txBox="1"/>
          <p:nvPr/>
        </p:nvSpPr>
        <p:spPr>
          <a:xfrm>
            <a:off x="2584094"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6" name="Shape 14"/>
          <p:cNvSpPr/>
          <p:nvPr/>
        </p:nvSpPr>
        <p:spPr>
          <a:xfrm>
            <a:off x="2752344" y="2447849"/>
            <a:ext cx="286207" cy="286207"/>
          </a:xfrm>
          <a:prstGeom prst="rect">
            <a:avLst/>
          </a:prstGeom>
          <a:solidFill>
            <a:srgbClr val="E0F0FF"/>
          </a:solidFill>
          <a:ln w="12700">
            <a:solidFill>
              <a:srgbClr val="CCCCCC"/>
            </a:solidFill>
            <a:prstDash val="solid"/>
          </a:ln>
        </p:spPr>
      </p:sp>
      <p:sp>
        <p:nvSpPr>
          <p:cNvPr id="17" name="Shape 15"/>
          <p:cNvSpPr/>
          <p:nvPr/>
        </p:nvSpPr>
        <p:spPr>
          <a:xfrm>
            <a:off x="3029407" y="2447849"/>
            <a:ext cx="286207" cy="286207"/>
          </a:xfrm>
          <a:prstGeom prst="rect">
            <a:avLst/>
          </a:prstGeom>
          <a:solidFill>
            <a:srgbClr val="E0F0FF"/>
          </a:solidFill>
          <a:ln w="12700">
            <a:solidFill>
              <a:srgbClr val="CCCCCC"/>
            </a:solidFill>
            <a:prstDash val="solid"/>
          </a:ln>
        </p:spPr>
      </p:sp>
      <p:sp>
        <p:nvSpPr>
          <p:cNvPr id="18" name="Shape 16"/>
          <p:cNvSpPr/>
          <p:nvPr/>
        </p:nvSpPr>
        <p:spPr>
          <a:xfrm>
            <a:off x="3305556" y="2447849"/>
            <a:ext cx="286207" cy="286207"/>
          </a:xfrm>
          <a:prstGeom prst="rect">
            <a:avLst/>
          </a:prstGeom>
          <a:solidFill>
            <a:srgbClr val="E0F0FF"/>
          </a:solidFill>
          <a:ln w="12700">
            <a:solidFill>
              <a:srgbClr val="CCCCCC"/>
            </a:solidFill>
            <a:prstDash val="solid"/>
          </a:ln>
        </p:spPr>
      </p:sp>
      <p:sp>
        <p:nvSpPr>
          <p:cNvPr id="19" name="Shape 17"/>
          <p:cNvSpPr/>
          <p:nvPr/>
        </p:nvSpPr>
        <p:spPr>
          <a:xfrm>
            <a:off x="3581705" y="2447849"/>
            <a:ext cx="286207" cy="286207"/>
          </a:xfrm>
          <a:prstGeom prst="rect">
            <a:avLst/>
          </a:prstGeom>
          <a:solidFill>
            <a:srgbClr val="E0F0FF"/>
          </a:solidFill>
          <a:ln w="12700">
            <a:solidFill>
              <a:srgbClr val="CCCCCC"/>
            </a:solidFill>
            <a:prstDash val="solid"/>
          </a:ln>
        </p:spPr>
      </p:sp>
      <p:sp>
        <p:nvSpPr>
          <p:cNvPr id="20" name="Shape 18"/>
          <p:cNvSpPr/>
          <p:nvPr/>
        </p:nvSpPr>
        <p:spPr>
          <a:xfrm>
            <a:off x="2752344" y="2876702"/>
            <a:ext cx="286207" cy="286207"/>
          </a:xfrm>
          <a:prstGeom prst="rect">
            <a:avLst/>
          </a:prstGeom>
          <a:solidFill>
            <a:srgbClr val="E0F0FF"/>
          </a:solidFill>
          <a:ln w="12700">
            <a:solidFill>
              <a:srgbClr val="CCCCCC"/>
            </a:solidFill>
            <a:prstDash val="solid"/>
          </a:ln>
        </p:spPr>
      </p:sp>
      <p:sp>
        <p:nvSpPr>
          <p:cNvPr id="21" name="Shape 19"/>
          <p:cNvSpPr/>
          <p:nvPr/>
        </p:nvSpPr>
        <p:spPr>
          <a:xfrm>
            <a:off x="3029407" y="2876702"/>
            <a:ext cx="286207" cy="286207"/>
          </a:xfrm>
          <a:prstGeom prst="rect">
            <a:avLst/>
          </a:prstGeom>
          <a:solidFill>
            <a:srgbClr val="E0F0FF"/>
          </a:solidFill>
          <a:ln w="12700">
            <a:solidFill>
              <a:srgbClr val="CCCCCC"/>
            </a:solidFill>
            <a:prstDash val="solid"/>
          </a:ln>
        </p:spPr>
      </p:sp>
      <p:sp>
        <p:nvSpPr>
          <p:cNvPr id="22" name="Shape 20"/>
          <p:cNvSpPr/>
          <p:nvPr/>
        </p:nvSpPr>
        <p:spPr>
          <a:xfrm>
            <a:off x="3305556" y="2876702"/>
            <a:ext cx="286207" cy="286207"/>
          </a:xfrm>
          <a:prstGeom prst="rect">
            <a:avLst/>
          </a:prstGeom>
          <a:solidFill>
            <a:srgbClr val="E0F0FF"/>
          </a:solidFill>
          <a:ln w="12700">
            <a:solidFill>
              <a:srgbClr val="CCCCCC"/>
            </a:solidFill>
            <a:prstDash val="solid"/>
          </a:ln>
        </p:spPr>
      </p:sp>
      <p:sp>
        <p:nvSpPr>
          <p:cNvPr id="23" name="Shape 21"/>
          <p:cNvSpPr/>
          <p:nvPr/>
        </p:nvSpPr>
        <p:spPr>
          <a:xfrm>
            <a:off x="3581705" y="2876702"/>
            <a:ext cx="286207" cy="286207"/>
          </a:xfrm>
          <a:prstGeom prst="rect">
            <a:avLst/>
          </a:prstGeom>
          <a:solidFill>
            <a:srgbClr val="E0F0FF"/>
          </a:solidFill>
          <a:ln w="12700">
            <a:solidFill>
              <a:srgbClr val="CCCCCC"/>
            </a:solidFill>
            <a:prstDash val="solid"/>
          </a:ln>
        </p:spPr>
      </p:sp>
      <p:sp>
        <p:nvSpPr>
          <p:cNvPr id="24" name="Shape 22"/>
          <p:cNvSpPr/>
          <p:nvPr/>
        </p:nvSpPr>
        <p:spPr>
          <a:xfrm>
            <a:off x="3857854" y="2876702"/>
            <a:ext cx="286207" cy="286207"/>
          </a:xfrm>
          <a:prstGeom prst="rect">
            <a:avLst/>
          </a:prstGeom>
          <a:solidFill>
            <a:srgbClr val="E0F0FF"/>
          </a:solidFill>
          <a:ln w="12700">
            <a:solidFill>
              <a:srgbClr val="CCCCCC"/>
            </a:solidFill>
            <a:prstDash val="solid"/>
          </a:ln>
        </p:spPr>
      </p:sp>
      <p:sp>
        <p:nvSpPr>
          <p:cNvPr id="25" name="Text 23"/>
          <p:cNvSpPr txBox="1"/>
          <p:nvPr/>
        </p:nvSpPr>
        <p:spPr>
          <a:xfrm>
            <a:off x="2860243"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6" name="Text 24"/>
          <p:cNvSpPr txBox="1"/>
          <p:nvPr/>
        </p:nvSpPr>
        <p:spPr>
          <a:xfrm>
            <a:off x="31363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7" name="Text 25"/>
          <p:cNvSpPr txBox="1"/>
          <p:nvPr/>
        </p:nvSpPr>
        <p:spPr>
          <a:xfrm>
            <a:off x="34125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8" name="Text 26"/>
          <p:cNvSpPr txBox="1"/>
          <p:nvPr/>
        </p:nvSpPr>
        <p:spPr>
          <a:xfrm>
            <a:off x="36886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9" name="Text 27"/>
          <p:cNvSpPr txBox="1"/>
          <p:nvPr/>
        </p:nvSpPr>
        <p:spPr>
          <a:xfrm>
            <a:off x="2860243"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0" name="Text 28"/>
          <p:cNvSpPr txBox="1"/>
          <p:nvPr/>
        </p:nvSpPr>
        <p:spPr>
          <a:xfrm>
            <a:off x="3136392"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1" name="Text 29"/>
          <p:cNvSpPr txBox="1"/>
          <p:nvPr/>
        </p:nvSpPr>
        <p:spPr>
          <a:xfrm>
            <a:off x="3412541"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2" name="Text 30"/>
          <p:cNvSpPr txBox="1"/>
          <p:nvPr/>
        </p:nvSpPr>
        <p:spPr>
          <a:xfrm>
            <a:off x="3688690"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3" name="Text 31"/>
          <p:cNvSpPr txBox="1"/>
          <p:nvPr/>
        </p:nvSpPr>
        <p:spPr>
          <a:xfrm>
            <a:off x="3964838"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4" name="Shape 32"/>
          <p:cNvSpPr/>
          <p:nvPr/>
        </p:nvSpPr>
        <p:spPr>
          <a:xfrm>
            <a:off x="3857854" y="2447849"/>
            <a:ext cx="286207" cy="286207"/>
          </a:xfrm>
          <a:prstGeom prst="rect">
            <a:avLst/>
          </a:prstGeom>
          <a:solidFill>
            <a:srgbClr val="E0FFE0"/>
          </a:solidFill>
          <a:ln w="12700">
            <a:solidFill>
              <a:srgbClr val="CCCCCC"/>
            </a:solidFill>
            <a:prstDash val="solid"/>
          </a:ln>
        </p:spPr>
      </p:sp>
      <p:sp>
        <p:nvSpPr>
          <p:cNvPr id="35" name="Shape 33"/>
          <p:cNvSpPr/>
          <p:nvPr/>
        </p:nvSpPr>
        <p:spPr>
          <a:xfrm>
            <a:off x="4134002" y="2447849"/>
            <a:ext cx="286207" cy="286207"/>
          </a:xfrm>
          <a:prstGeom prst="rect">
            <a:avLst/>
          </a:prstGeom>
          <a:solidFill>
            <a:srgbClr val="E0FFE0"/>
          </a:solidFill>
          <a:ln w="12700">
            <a:solidFill>
              <a:srgbClr val="CCCCCC"/>
            </a:solidFill>
            <a:prstDash val="solid"/>
          </a:ln>
        </p:spPr>
      </p:sp>
      <p:sp>
        <p:nvSpPr>
          <p:cNvPr id="36" name="Shape 34"/>
          <p:cNvSpPr/>
          <p:nvPr/>
        </p:nvSpPr>
        <p:spPr>
          <a:xfrm>
            <a:off x="4410151" y="2447849"/>
            <a:ext cx="286207" cy="286207"/>
          </a:xfrm>
          <a:prstGeom prst="rect">
            <a:avLst/>
          </a:prstGeom>
          <a:solidFill>
            <a:srgbClr val="E0FFE0"/>
          </a:solidFill>
          <a:ln w="12700">
            <a:solidFill>
              <a:srgbClr val="CCCCCC"/>
            </a:solidFill>
            <a:prstDash val="solid"/>
          </a:ln>
        </p:spPr>
      </p:sp>
      <p:sp>
        <p:nvSpPr>
          <p:cNvPr id="37" name="Shape 35"/>
          <p:cNvSpPr/>
          <p:nvPr/>
        </p:nvSpPr>
        <p:spPr>
          <a:xfrm>
            <a:off x="4134002" y="2876702"/>
            <a:ext cx="286207" cy="286207"/>
          </a:xfrm>
          <a:prstGeom prst="rect">
            <a:avLst/>
          </a:prstGeom>
          <a:solidFill>
            <a:srgbClr val="E0FFE0"/>
          </a:solidFill>
          <a:ln w="12700">
            <a:solidFill>
              <a:srgbClr val="CCCCCC"/>
            </a:solidFill>
            <a:prstDash val="solid"/>
          </a:ln>
        </p:spPr>
      </p:sp>
      <p:sp>
        <p:nvSpPr>
          <p:cNvPr id="38" name="Shape 36"/>
          <p:cNvSpPr/>
          <p:nvPr/>
        </p:nvSpPr>
        <p:spPr>
          <a:xfrm>
            <a:off x="4410151" y="2876702"/>
            <a:ext cx="286207" cy="286207"/>
          </a:xfrm>
          <a:prstGeom prst="rect">
            <a:avLst/>
          </a:prstGeom>
          <a:solidFill>
            <a:srgbClr val="E0FFE0"/>
          </a:solidFill>
          <a:ln w="12700">
            <a:solidFill>
              <a:srgbClr val="CCCCCC"/>
            </a:solidFill>
            <a:prstDash val="solid"/>
          </a:ln>
        </p:spPr>
      </p:sp>
      <p:sp>
        <p:nvSpPr>
          <p:cNvPr id="39" name="Text 37"/>
          <p:cNvSpPr txBox="1"/>
          <p:nvPr/>
        </p:nvSpPr>
        <p:spPr>
          <a:xfrm>
            <a:off x="39520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0" name="Text 38"/>
          <p:cNvSpPr txBox="1"/>
          <p:nvPr/>
        </p:nvSpPr>
        <p:spPr>
          <a:xfrm>
            <a:off x="4228186"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1" name="Text 39"/>
          <p:cNvSpPr txBox="1"/>
          <p:nvPr/>
        </p:nvSpPr>
        <p:spPr>
          <a:xfrm>
            <a:off x="4504334"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2" name="Text 40"/>
          <p:cNvSpPr txBox="1"/>
          <p:nvPr/>
        </p:nvSpPr>
        <p:spPr>
          <a:xfrm>
            <a:off x="4228186"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3" name="Text 41"/>
          <p:cNvSpPr txBox="1"/>
          <p:nvPr/>
        </p:nvSpPr>
        <p:spPr>
          <a:xfrm>
            <a:off x="4504334"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4" name="Text 42"/>
          <p:cNvSpPr txBox="1"/>
          <p:nvPr/>
        </p:nvSpPr>
        <p:spPr>
          <a:xfrm>
            <a:off x="990295" y="3314700"/>
            <a:ext cx="28008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E4M3: 高精度・小さい動的範囲 (±448)</a:t>
            </a:r>
            <a:endParaRPr lang="en-US" sz="1200" dirty="0"/>
          </a:p>
        </p:txBody>
      </p:sp>
      <p:sp>
        <p:nvSpPr>
          <p:cNvPr id="45" name="Text 43"/>
          <p:cNvSpPr txBox="1"/>
          <p:nvPr/>
        </p:nvSpPr>
        <p:spPr>
          <a:xfrm>
            <a:off x="990295" y="3543300"/>
            <a:ext cx="29718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E5M2: 低精度・大きい動的範囲 (±57344)</a:t>
            </a:r>
            <a:endParaRPr lang="en-US" sz="1200" dirty="0"/>
          </a:p>
        </p:txBody>
      </p:sp>
      <p:sp>
        <p:nvSpPr>
          <p:cNvPr id="46" name="Text 44"/>
          <p:cNvSpPr txBox="1"/>
          <p:nvPr/>
        </p:nvSpPr>
        <p:spPr>
          <a:xfrm>
            <a:off x="990295" y="3771900"/>
            <a:ext cx="3172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前向き計算はE4M3、勾配計算はE5M2が有効</a:t>
            </a:r>
            <a:endParaRPr lang="en-US" sz="1200" dirty="0"/>
          </a:p>
        </p:txBody>
      </p:sp>
      <p:sp>
        <p:nvSpPr>
          <p:cNvPr id="47" name="Shape 45"/>
          <p:cNvSpPr/>
          <p:nvPr/>
        </p:nvSpPr>
        <p:spPr>
          <a:xfrm>
            <a:off x="609905" y="4304995"/>
            <a:ext cx="5257800" cy="1886407"/>
          </a:xfrm>
          <a:prstGeom prst="roundRect">
            <a:avLst>
              <a:gd name="adj" fmla="val 1959"/>
            </a:avLst>
          </a:prstGeom>
          <a:solidFill>
            <a:srgbClr val="F9FAFB"/>
          </a:solidFill>
          <a:ln/>
        </p:spPr>
      </p:sp>
      <p:sp>
        <p:nvSpPr>
          <p:cNvPr id="48" name="Text 46"/>
          <p:cNvSpPr txBox="1"/>
          <p:nvPr/>
        </p:nvSpPr>
        <p:spPr>
          <a:xfrm>
            <a:off x="761695" y="4457700"/>
            <a:ext cx="21342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MXFP8ブロックスケーリング</a:t>
            </a:r>
            <a:endParaRPr lang="en-US" sz="1200" dirty="0"/>
          </a:p>
        </p:txBody>
      </p:sp>
      <p:sp>
        <p:nvSpPr>
          <p:cNvPr id="49" name="Shape 47"/>
          <p:cNvSpPr/>
          <p:nvPr/>
        </p:nvSpPr>
        <p:spPr>
          <a:xfrm>
            <a:off x="2286000" y="4828946"/>
            <a:ext cx="571500" cy="190195"/>
          </a:xfrm>
          <a:prstGeom prst="rect">
            <a:avLst/>
          </a:prstGeom>
          <a:solidFill>
            <a:srgbClr val="E0F0FF"/>
          </a:solidFill>
          <a:ln w="12700">
            <a:solidFill>
              <a:srgbClr val="CCCCCC"/>
            </a:solidFill>
            <a:prstDash val="solid"/>
          </a:ln>
        </p:spPr>
      </p:sp>
      <p:sp>
        <p:nvSpPr>
          <p:cNvPr id="50" name="Shape 48"/>
          <p:cNvSpPr/>
          <p:nvPr/>
        </p:nvSpPr>
        <p:spPr>
          <a:xfrm>
            <a:off x="2952598" y="4828946"/>
            <a:ext cx="571500" cy="190195"/>
          </a:xfrm>
          <a:prstGeom prst="rect">
            <a:avLst/>
          </a:prstGeom>
          <a:solidFill>
            <a:srgbClr val="E0F0FF"/>
          </a:solidFill>
          <a:ln w="12700">
            <a:solidFill>
              <a:srgbClr val="CCCCCC"/>
            </a:solidFill>
            <a:prstDash val="solid"/>
          </a:ln>
        </p:spPr>
      </p:sp>
      <p:sp>
        <p:nvSpPr>
          <p:cNvPr id="51" name="Shape 49"/>
          <p:cNvSpPr/>
          <p:nvPr/>
        </p:nvSpPr>
        <p:spPr>
          <a:xfrm>
            <a:off x="3619195" y="4828946"/>
            <a:ext cx="571500" cy="190195"/>
          </a:xfrm>
          <a:prstGeom prst="rect">
            <a:avLst/>
          </a:prstGeom>
          <a:solidFill>
            <a:srgbClr val="E0F0FF"/>
          </a:solidFill>
          <a:ln w="12700">
            <a:solidFill>
              <a:srgbClr val="CCCCCC"/>
            </a:solidFill>
            <a:prstDash val="solid"/>
          </a:ln>
        </p:spPr>
      </p:sp>
      <p:sp>
        <p:nvSpPr>
          <p:cNvPr id="52" name="Text 50"/>
          <p:cNvSpPr txBox="1"/>
          <p:nvPr/>
        </p:nvSpPr>
        <p:spPr>
          <a:xfrm>
            <a:off x="235458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スケール1</a:t>
            </a:r>
            <a:endParaRPr lang="en-US" sz="800" dirty="0"/>
          </a:p>
        </p:txBody>
      </p:sp>
      <p:sp>
        <p:nvSpPr>
          <p:cNvPr id="53" name="Text 51"/>
          <p:cNvSpPr txBox="1"/>
          <p:nvPr/>
        </p:nvSpPr>
        <p:spPr>
          <a:xfrm>
            <a:off x="3021178"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スケール2</a:t>
            </a:r>
            <a:endParaRPr lang="en-US" sz="800" dirty="0"/>
          </a:p>
        </p:txBody>
      </p:sp>
      <p:sp>
        <p:nvSpPr>
          <p:cNvPr id="54" name="Text 52"/>
          <p:cNvSpPr txBox="1"/>
          <p:nvPr/>
        </p:nvSpPr>
        <p:spPr>
          <a:xfrm>
            <a:off x="368869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スケール3</a:t>
            </a:r>
            <a:endParaRPr lang="en-US" sz="800" dirty="0"/>
          </a:p>
        </p:txBody>
      </p:sp>
      <p:sp>
        <p:nvSpPr>
          <p:cNvPr id="55" name="Shape 53"/>
          <p:cNvSpPr/>
          <p:nvPr/>
        </p:nvSpPr>
        <p:spPr>
          <a:xfrm>
            <a:off x="2305202" y="5067605"/>
            <a:ext cx="142646" cy="142646"/>
          </a:xfrm>
          <a:prstGeom prst="rect">
            <a:avLst/>
          </a:prstGeom>
          <a:solidFill>
            <a:srgbClr val="E0FFE0"/>
          </a:solidFill>
          <a:ln w="12700">
            <a:solidFill>
              <a:srgbClr val="CCCCCC"/>
            </a:solidFill>
            <a:prstDash val="solid"/>
          </a:ln>
        </p:spPr>
      </p:sp>
      <p:sp>
        <p:nvSpPr>
          <p:cNvPr id="56" name="Shape 54"/>
          <p:cNvSpPr/>
          <p:nvPr/>
        </p:nvSpPr>
        <p:spPr>
          <a:xfrm>
            <a:off x="2438705" y="5067605"/>
            <a:ext cx="142646" cy="142646"/>
          </a:xfrm>
          <a:prstGeom prst="rect">
            <a:avLst/>
          </a:prstGeom>
          <a:solidFill>
            <a:srgbClr val="E0FFE0"/>
          </a:solidFill>
          <a:ln w="12700">
            <a:solidFill>
              <a:srgbClr val="CCCCCC"/>
            </a:solidFill>
            <a:prstDash val="solid"/>
          </a:ln>
        </p:spPr>
      </p:sp>
      <p:sp>
        <p:nvSpPr>
          <p:cNvPr id="57" name="Shape 55"/>
          <p:cNvSpPr/>
          <p:nvPr/>
        </p:nvSpPr>
        <p:spPr>
          <a:xfrm>
            <a:off x="2572207" y="5067605"/>
            <a:ext cx="142646" cy="142646"/>
          </a:xfrm>
          <a:prstGeom prst="rect">
            <a:avLst/>
          </a:prstGeom>
          <a:solidFill>
            <a:srgbClr val="E0FFE0"/>
          </a:solidFill>
          <a:ln w="12700">
            <a:solidFill>
              <a:srgbClr val="CCCCCC"/>
            </a:solidFill>
            <a:prstDash val="solid"/>
          </a:ln>
        </p:spPr>
      </p:sp>
      <p:sp>
        <p:nvSpPr>
          <p:cNvPr id="58" name="Shape 56"/>
          <p:cNvSpPr/>
          <p:nvPr/>
        </p:nvSpPr>
        <p:spPr>
          <a:xfrm>
            <a:off x="2704795" y="5067605"/>
            <a:ext cx="142646" cy="142646"/>
          </a:xfrm>
          <a:prstGeom prst="rect">
            <a:avLst/>
          </a:prstGeom>
          <a:solidFill>
            <a:srgbClr val="E0FFE0"/>
          </a:solidFill>
          <a:ln w="12700">
            <a:solidFill>
              <a:srgbClr val="CCCCCC"/>
            </a:solidFill>
            <a:prstDash val="solid"/>
          </a:ln>
        </p:spPr>
      </p:sp>
      <p:sp>
        <p:nvSpPr>
          <p:cNvPr id="59" name="Shape 57"/>
          <p:cNvSpPr/>
          <p:nvPr/>
        </p:nvSpPr>
        <p:spPr>
          <a:xfrm>
            <a:off x="2971800" y="5067605"/>
            <a:ext cx="142646" cy="142646"/>
          </a:xfrm>
          <a:prstGeom prst="rect">
            <a:avLst/>
          </a:prstGeom>
          <a:solidFill>
            <a:srgbClr val="E0FFE0"/>
          </a:solidFill>
          <a:ln w="12700">
            <a:solidFill>
              <a:srgbClr val="CCCCCC"/>
            </a:solidFill>
            <a:prstDash val="solid"/>
          </a:ln>
        </p:spPr>
      </p:sp>
      <p:sp>
        <p:nvSpPr>
          <p:cNvPr id="60" name="Shape 58"/>
          <p:cNvSpPr/>
          <p:nvPr/>
        </p:nvSpPr>
        <p:spPr>
          <a:xfrm>
            <a:off x="3105302" y="5067605"/>
            <a:ext cx="142646" cy="142646"/>
          </a:xfrm>
          <a:prstGeom prst="rect">
            <a:avLst/>
          </a:prstGeom>
          <a:solidFill>
            <a:srgbClr val="E0FFE0"/>
          </a:solidFill>
          <a:ln w="12700">
            <a:solidFill>
              <a:srgbClr val="CCCCCC"/>
            </a:solidFill>
            <a:prstDash val="solid"/>
          </a:ln>
        </p:spPr>
      </p:sp>
      <p:sp>
        <p:nvSpPr>
          <p:cNvPr id="61" name="Shape 59"/>
          <p:cNvSpPr/>
          <p:nvPr/>
        </p:nvSpPr>
        <p:spPr>
          <a:xfrm>
            <a:off x="3238805" y="5067605"/>
            <a:ext cx="142646" cy="142646"/>
          </a:xfrm>
          <a:prstGeom prst="rect">
            <a:avLst/>
          </a:prstGeom>
          <a:solidFill>
            <a:srgbClr val="E0FFE0"/>
          </a:solidFill>
          <a:ln w="12700">
            <a:solidFill>
              <a:srgbClr val="CCCCCC"/>
            </a:solidFill>
            <a:prstDash val="solid"/>
          </a:ln>
        </p:spPr>
      </p:sp>
      <p:sp>
        <p:nvSpPr>
          <p:cNvPr id="62" name="Shape 60"/>
          <p:cNvSpPr/>
          <p:nvPr/>
        </p:nvSpPr>
        <p:spPr>
          <a:xfrm>
            <a:off x="3372307" y="5067605"/>
            <a:ext cx="142646" cy="142646"/>
          </a:xfrm>
          <a:prstGeom prst="rect">
            <a:avLst/>
          </a:prstGeom>
          <a:solidFill>
            <a:srgbClr val="E0FFE0"/>
          </a:solidFill>
          <a:ln w="12700">
            <a:solidFill>
              <a:srgbClr val="CCCCCC"/>
            </a:solidFill>
            <a:prstDash val="solid"/>
          </a:ln>
        </p:spPr>
      </p:sp>
      <p:sp>
        <p:nvSpPr>
          <p:cNvPr id="63" name="Shape 61"/>
          <p:cNvSpPr/>
          <p:nvPr/>
        </p:nvSpPr>
        <p:spPr>
          <a:xfrm>
            <a:off x="3638398" y="5067605"/>
            <a:ext cx="142646" cy="142646"/>
          </a:xfrm>
          <a:prstGeom prst="rect">
            <a:avLst/>
          </a:prstGeom>
          <a:solidFill>
            <a:srgbClr val="E0FFE0"/>
          </a:solidFill>
          <a:ln w="12700">
            <a:solidFill>
              <a:srgbClr val="CCCCCC"/>
            </a:solidFill>
            <a:prstDash val="solid"/>
          </a:ln>
        </p:spPr>
      </p:sp>
      <p:sp>
        <p:nvSpPr>
          <p:cNvPr id="64" name="Shape 62"/>
          <p:cNvSpPr/>
          <p:nvPr/>
        </p:nvSpPr>
        <p:spPr>
          <a:xfrm>
            <a:off x="3771900" y="5067605"/>
            <a:ext cx="142646" cy="142646"/>
          </a:xfrm>
          <a:prstGeom prst="rect">
            <a:avLst/>
          </a:prstGeom>
          <a:solidFill>
            <a:srgbClr val="E0FFE0"/>
          </a:solidFill>
          <a:ln w="12700">
            <a:solidFill>
              <a:srgbClr val="CCCCCC"/>
            </a:solidFill>
            <a:prstDash val="solid"/>
          </a:ln>
        </p:spPr>
      </p:sp>
      <p:sp>
        <p:nvSpPr>
          <p:cNvPr id="65" name="Shape 63"/>
          <p:cNvSpPr/>
          <p:nvPr/>
        </p:nvSpPr>
        <p:spPr>
          <a:xfrm>
            <a:off x="3905402" y="5067605"/>
            <a:ext cx="142646" cy="142646"/>
          </a:xfrm>
          <a:prstGeom prst="rect">
            <a:avLst/>
          </a:prstGeom>
          <a:solidFill>
            <a:srgbClr val="E0FFE0"/>
          </a:solidFill>
          <a:ln w="12700">
            <a:solidFill>
              <a:srgbClr val="CCCCCC"/>
            </a:solidFill>
            <a:prstDash val="solid"/>
          </a:ln>
        </p:spPr>
      </p:sp>
      <p:sp>
        <p:nvSpPr>
          <p:cNvPr id="66" name="Shape 64"/>
          <p:cNvSpPr/>
          <p:nvPr/>
        </p:nvSpPr>
        <p:spPr>
          <a:xfrm>
            <a:off x="4038905" y="5067605"/>
            <a:ext cx="142646" cy="142646"/>
          </a:xfrm>
          <a:prstGeom prst="rect">
            <a:avLst/>
          </a:prstGeom>
          <a:solidFill>
            <a:srgbClr val="E0FFE0"/>
          </a:solidFill>
          <a:ln w="12700">
            <a:solidFill>
              <a:srgbClr val="CCCCCC"/>
            </a:solidFill>
            <a:prstDash val="solid"/>
          </a:ln>
        </p:spPr>
      </p:sp>
      <p:sp>
        <p:nvSpPr>
          <p:cNvPr id="67" name="Text 65"/>
          <p:cNvSpPr txBox="1"/>
          <p:nvPr/>
        </p:nvSpPr>
        <p:spPr>
          <a:xfrm>
            <a:off x="990295" y="5352898"/>
            <a:ext cx="30294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32要素ごとに別のスケーリング係数を適用</a:t>
            </a:r>
            <a:endParaRPr lang="en-US" sz="1200" dirty="0"/>
          </a:p>
        </p:txBody>
      </p:sp>
      <p:sp>
        <p:nvSpPr>
          <p:cNvPr id="68" name="Text 66"/>
          <p:cNvSpPr txBox="1"/>
          <p:nvPr/>
        </p:nvSpPr>
        <p:spPr>
          <a:xfrm>
            <a:off x="990295" y="5581498"/>
            <a:ext cx="26389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E8M0形式でスケーリング係数を格納</a:t>
            </a:r>
            <a:endParaRPr lang="en-US" sz="1200" dirty="0"/>
          </a:p>
        </p:txBody>
      </p:sp>
      <p:sp>
        <p:nvSpPr>
          <p:cNvPr id="69" name="Text 67"/>
          <p:cNvSpPr txBox="1"/>
          <p:nvPr/>
        </p:nvSpPr>
        <p:spPr>
          <a:xfrm>
            <a:off x="990295" y="5810098"/>
            <a:ext cx="27916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全てE4M3で表現可能（動的範囲拡大）</a:t>
            </a:r>
            <a:endParaRPr lang="en-US" sz="1200" dirty="0"/>
          </a:p>
        </p:txBody>
      </p:sp>
      <p:sp>
        <p:nvSpPr>
          <p:cNvPr id="70" name="Shape 68"/>
          <p:cNvSpPr/>
          <p:nvPr/>
        </p:nvSpPr>
        <p:spPr>
          <a:xfrm>
            <a:off x="6324905" y="1295705"/>
            <a:ext cx="5257800" cy="476402"/>
          </a:xfrm>
          <a:prstGeom prst="roundRect">
            <a:avLst>
              <a:gd name="adj" fmla="val 30710"/>
            </a:avLst>
          </a:prstGeom>
          <a:solidFill>
            <a:srgbClr val="F6F6F6"/>
          </a:solidFill>
          <a:ln/>
        </p:spPr>
      </p:sp>
      <p:sp>
        <p:nvSpPr>
          <p:cNvPr id="71" name="Shape 69"/>
          <p:cNvSpPr/>
          <p:nvPr/>
        </p:nvSpPr>
        <p:spPr>
          <a:xfrm>
            <a:off x="6324905" y="1752905"/>
            <a:ext cx="5257800" cy="19202"/>
          </a:xfrm>
          <a:prstGeom prst="rect">
            <a:avLst/>
          </a:prstGeom>
          <a:solidFill>
            <a:srgbClr val="76B900"/>
          </a:solidFill>
          <a:ln/>
        </p:spPr>
      </p:sp>
      <p:sp>
        <p:nvSpPr>
          <p:cNvPr id="72" name="Text 70"/>
          <p:cNvSpPr txBox="1"/>
          <p:nvPr/>
        </p:nvSpPr>
        <p:spPr>
          <a:xfrm>
            <a:off x="6420002" y="1380744"/>
            <a:ext cx="3124505"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NVFP4（E2M1）Blackwell新機能</a:t>
            </a:r>
            <a:endParaRPr lang="en-US" sz="1500" dirty="0"/>
          </a:p>
        </p:txBody>
      </p:sp>
      <p:sp>
        <p:nvSpPr>
          <p:cNvPr id="73" name="Shape 71"/>
          <p:cNvSpPr/>
          <p:nvPr/>
        </p:nvSpPr>
        <p:spPr>
          <a:xfrm>
            <a:off x="6324905" y="1923898"/>
            <a:ext cx="5257800" cy="3924605"/>
          </a:xfrm>
          <a:prstGeom prst="roundRect">
            <a:avLst>
              <a:gd name="adj" fmla="val 452"/>
            </a:avLst>
          </a:prstGeom>
          <a:solidFill>
            <a:srgbClr val="F3F4F6"/>
          </a:solidFill>
          <a:ln/>
        </p:spPr>
      </p:sp>
      <p:sp>
        <p:nvSpPr>
          <p:cNvPr id="74" name="Text 72"/>
          <p:cNvSpPr txBox="1"/>
          <p:nvPr/>
        </p:nvSpPr>
        <p:spPr>
          <a:xfrm>
            <a:off x="6476695" y="2076602"/>
            <a:ext cx="20674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NVFP4データ形式（E2M1）</a:t>
            </a:r>
            <a:endParaRPr lang="en-US" sz="1200" dirty="0"/>
          </a:p>
        </p:txBody>
      </p:sp>
      <p:sp>
        <p:nvSpPr>
          <p:cNvPr id="75" name="Shape 73"/>
          <p:cNvSpPr/>
          <p:nvPr/>
        </p:nvSpPr>
        <p:spPr>
          <a:xfrm>
            <a:off x="8401507" y="2447849"/>
            <a:ext cx="286207" cy="286207"/>
          </a:xfrm>
          <a:prstGeom prst="rect">
            <a:avLst/>
          </a:prstGeom>
          <a:solidFill>
            <a:srgbClr val="FFE0E0"/>
          </a:solidFill>
          <a:ln w="12700">
            <a:solidFill>
              <a:srgbClr val="CCCCCC"/>
            </a:solidFill>
            <a:prstDash val="solid"/>
          </a:ln>
        </p:spPr>
      </p:sp>
      <p:sp>
        <p:nvSpPr>
          <p:cNvPr id="76" name="Text 74"/>
          <p:cNvSpPr txBox="1"/>
          <p:nvPr/>
        </p:nvSpPr>
        <p:spPr>
          <a:xfrm>
            <a:off x="85084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77" name="Shape 75"/>
          <p:cNvSpPr/>
          <p:nvPr/>
        </p:nvSpPr>
        <p:spPr>
          <a:xfrm>
            <a:off x="8677656" y="2447849"/>
            <a:ext cx="286207" cy="286207"/>
          </a:xfrm>
          <a:prstGeom prst="rect">
            <a:avLst/>
          </a:prstGeom>
          <a:solidFill>
            <a:srgbClr val="E0F0FF"/>
          </a:solidFill>
          <a:ln w="12700">
            <a:solidFill>
              <a:srgbClr val="CCCCCC"/>
            </a:solidFill>
            <a:prstDash val="solid"/>
          </a:ln>
        </p:spPr>
      </p:sp>
      <p:sp>
        <p:nvSpPr>
          <p:cNvPr id="78" name="Shape 76"/>
          <p:cNvSpPr/>
          <p:nvPr/>
        </p:nvSpPr>
        <p:spPr>
          <a:xfrm>
            <a:off x="8953805" y="2447849"/>
            <a:ext cx="286207" cy="286207"/>
          </a:xfrm>
          <a:prstGeom prst="rect">
            <a:avLst/>
          </a:prstGeom>
          <a:solidFill>
            <a:srgbClr val="E0F0FF"/>
          </a:solidFill>
          <a:ln w="12700">
            <a:solidFill>
              <a:srgbClr val="CCCCCC"/>
            </a:solidFill>
            <a:prstDash val="solid"/>
          </a:ln>
        </p:spPr>
      </p:sp>
      <p:sp>
        <p:nvSpPr>
          <p:cNvPr id="79" name="Text 77"/>
          <p:cNvSpPr txBox="1"/>
          <p:nvPr/>
        </p:nvSpPr>
        <p:spPr>
          <a:xfrm>
            <a:off x="87846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0" name="Text 78"/>
          <p:cNvSpPr txBox="1"/>
          <p:nvPr/>
        </p:nvSpPr>
        <p:spPr>
          <a:xfrm>
            <a:off x="90607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1" name="Shape 79"/>
          <p:cNvSpPr/>
          <p:nvPr/>
        </p:nvSpPr>
        <p:spPr>
          <a:xfrm>
            <a:off x="9229954" y="2447849"/>
            <a:ext cx="286207" cy="286207"/>
          </a:xfrm>
          <a:prstGeom prst="rect">
            <a:avLst/>
          </a:prstGeom>
          <a:solidFill>
            <a:srgbClr val="E0FFE0"/>
          </a:solidFill>
          <a:ln w="12700">
            <a:solidFill>
              <a:srgbClr val="CCCCCC"/>
            </a:solidFill>
            <a:prstDash val="solid"/>
          </a:ln>
        </p:spPr>
      </p:sp>
      <p:sp>
        <p:nvSpPr>
          <p:cNvPr id="82" name="Text 80"/>
          <p:cNvSpPr txBox="1"/>
          <p:nvPr/>
        </p:nvSpPr>
        <p:spPr>
          <a:xfrm>
            <a:off x="93241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83" name="Text 81"/>
          <p:cNvSpPr txBox="1"/>
          <p:nvPr/>
        </p:nvSpPr>
        <p:spPr>
          <a:xfrm>
            <a:off x="8249717" y="2876702"/>
            <a:ext cx="1510589"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±6までの値を表現可能</a:t>
            </a:r>
            <a:endParaRPr lang="en-US" sz="1000" dirty="0"/>
          </a:p>
        </p:txBody>
      </p:sp>
      <p:sp>
        <p:nvSpPr>
          <p:cNvPr id="84" name="Shape 82"/>
          <p:cNvSpPr/>
          <p:nvPr/>
        </p:nvSpPr>
        <p:spPr>
          <a:xfrm>
            <a:off x="6476695" y="3143707"/>
            <a:ext cx="4953305" cy="1333195"/>
          </a:xfrm>
          <a:prstGeom prst="roundRect">
            <a:avLst>
              <a:gd name="adj" fmla="val 1960"/>
            </a:avLst>
          </a:prstGeom>
          <a:solidFill>
            <a:srgbClr val="F9FAFB"/>
          </a:solidFill>
          <a:ln/>
        </p:spPr>
      </p:sp>
      <p:sp>
        <p:nvSpPr>
          <p:cNvPr id="85" name="Text 83"/>
          <p:cNvSpPr txBox="1"/>
          <p:nvPr/>
        </p:nvSpPr>
        <p:spPr>
          <a:xfrm>
            <a:off x="6553505" y="3219602"/>
            <a:ext cx="11146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NVFPの特徴：</a:t>
            </a:r>
            <a:endParaRPr lang="en-US" sz="1200" dirty="0"/>
          </a:p>
        </p:txBody>
      </p:sp>
      <p:sp>
        <p:nvSpPr>
          <p:cNvPr id="86" name="Text 84"/>
          <p:cNvSpPr txBox="1"/>
          <p:nvPr/>
        </p:nvSpPr>
        <p:spPr>
          <a:xfrm>
            <a:off x="6782105" y="3486607"/>
            <a:ext cx="25722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16要素ブロックごとにスケーリング</a:t>
            </a:r>
            <a:endParaRPr lang="en-US" sz="1200" dirty="0"/>
          </a:p>
        </p:txBody>
      </p:sp>
      <p:sp>
        <p:nvSpPr>
          <p:cNvPr id="87" name="Text 85"/>
          <p:cNvSpPr txBox="1"/>
          <p:nvPr/>
        </p:nvSpPr>
        <p:spPr>
          <a:xfrm>
            <a:off x="6782105" y="3715207"/>
            <a:ext cx="2029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スケール係数にE4M3を使用</a:t>
            </a:r>
            <a:endParaRPr lang="en-US" sz="1200" dirty="0"/>
          </a:p>
        </p:txBody>
      </p:sp>
      <p:sp>
        <p:nvSpPr>
          <p:cNvPr id="88" name="Text 86"/>
          <p:cNvSpPr txBox="1"/>
          <p:nvPr/>
        </p:nvSpPr>
        <p:spPr>
          <a:xfrm>
            <a:off x="6782105" y="3943807"/>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さらにテンソル全体でFP32スケール</a:t>
            </a:r>
            <a:endParaRPr lang="en-US" sz="1200" dirty="0"/>
          </a:p>
        </p:txBody>
      </p:sp>
      <p:sp>
        <p:nvSpPr>
          <p:cNvPr id="89" name="Text 87"/>
          <p:cNvSpPr txBox="1"/>
          <p:nvPr/>
        </p:nvSpPr>
        <p:spPr>
          <a:xfrm>
            <a:off x="6782105" y="4172407"/>
            <a:ext cx="25146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重み行列は16x16ブロックスケール</a:t>
            </a:r>
            <a:endParaRPr lang="en-US" sz="1200" dirty="0"/>
          </a:p>
        </p:txBody>
      </p:sp>
      <p:sp>
        <p:nvSpPr>
          <p:cNvPr id="90" name="Shape 88"/>
          <p:cNvSpPr/>
          <p:nvPr/>
        </p:nvSpPr>
        <p:spPr>
          <a:xfrm>
            <a:off x="6476695" y="4591202"/>
            <a:ext cx="4953305" cy="1104595"/>
          </a:xfrm>
          <a:prstGeom prst="roundRect">
            <a:avLst>
              <a:gd name="adj" fmla="val 2855"/>
            </a:avLst>
          </a:prstGeom>
          <a:solidFill>
            <a:srgbClr val="F9FAFB"/>
          </a:solidFill>
          <a:ln/>
        </p:spPr>
      </p:sp>
      <p:sp>
        <p:nvSpPr>
          <p:cNvPr id="91" name="Text 89"/>
          <p:cNvSpPr txBox="1"/>
          <p:nvPr/>
        </p:nvSpPr>
        <p:spPr>
          <a:xfrm>
            <a:off x="6553505" y="4667098"/>
            <a:ext cx="15051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NVFP4高度な技術：</a:t>
            </a:r>
            <a:endParaRPr lang="en-US" sz="1200" dirty="0"/>
          </a:p>
        </p:txBody>
      </p:sp>
      <p:sp>
        <p:nvSpPr>
          <p:cNvPr id="92" name="Text 90"/>
          <p:cNvSpPr txBox="1"/>
          <p:nvPr/>
        </p:nvSpPr>
        <p:spPr>
          <a:xfrm>
            <a:off x="6782105" y="4934102"/>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確率的丸め（量子化バイアス軽減）</a:t>
            </a:r>
            <a:endParaRPr lang="en-US" sz="1200" dirty="0"/>
          </a:p>
        </p:txBody>
      </p:sp>
      <p:sp>
        <p:nvSpPr>
          <p:cNvPr id="93" name="Text 91"/>
          <p:cNvSpPr txBox="1"/>
          <p:nvPr/>
        </p:nvSpPr>
        <p:spPr>
          <a:xfrm>
            <a:off x="6782105" y="5162702"/>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2D行列スケーリング（転置行列適応）</a:t>
            </a:r>
            <a:endParaRPr lang="en-US" sz="1200" dirty="0"/>
          </a:p>
        </p:txBody>
      </p:sp>
      <p:sp>
        <p:nvSpPr>
          <p:cNvPr id="94" name="Text 92"/>
          <p:cNvSpPr txBox="1"/>
          <p:nvPr/>
        </p:nvSpPr>
        <p:spPr>
          <a:xfrm>
            <a:off x="6782105" y="5391302"/>
            <a:ext cx="30102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Hadamardランダム変換（異常値平滑化）</a:t>
            </a:r>
            <a:endParaRPr lang="en-US" sz="1200" dirty="0"/>
          </a:p>
        </p:txBody>
      </p:sp>
      <p:sp>
        <p:nvSpPr>
          <p:cNvPr id="95" name="Shape 93"/>
          <p:cNvSpPr/>
          <p:nvPr/>
        </p:nvSpPr>
        <p:spPr>
          <a:xfrm>
            <a:off x="6324905" y="6001207"/>
            <a:ext cx="5257800" cy="1752905"/>
          </a:xfrm>
          <a:prstGeom prst="roundRect">
            <a:avLst>
              <a:gd name="adj" fmla="val 2268"/>
            </a:avLst>
          </a:prstGeom>
          <a:solidFill>
            <a:srgbClr val="76B900">
              <a:alpha val="10000"/>
            </a:srgbClr>
          </a:solidFill>
          <a:ln/>
        </p:spPr>
      </p:sp>
      <p:sp>
        <p:nvSpPr>
          <p:cNvPr id="96" name="Text 94"/>
          <p:cNvSpPr txBox="1"/>
          <p:nvPr/>
        </p:nvSpPr>
        <p:spPr>
          <a:xfrm>
            <a:off x="6476695" y="6152998"/>
            <a:ext cx="19723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NVFP4トレーニングレシピ</a:t>
            </a:r>
            <a:endParaRPr lang="en-US" sz="1200" dirty="0"/>
          </a:p>
        </p:txBody>
      </p:sp>
      <p:sp>
        <p:nvSpPr>
          <p:cNvPr id="97" name="Text 95"/>
          <p:cNvSpPr txBox="1"/>
          <p:nvPr/>
        </p:nvSpPr>
        <p:spPr>
          <a:xfrm>
            <a:off x="6705295" y="6458407"/>
            <a:ext cx="36201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アクティベーション：16要素ブロックスケーリング</a:t>
            </a:r>
            <a:endParaRPr lang="en-US" sz="1200" dirty="0"/>
          </a:p>
        </p:txBody>
      </p:sp>
      <p:sp>
        <p:nvSpPr>
          <p:cNvPr id="98" name="Text 96"/>
          <p:cNvSpPr txBox="1"/>
          <p:nvPr/>
        </p:nvSpPr>
        <p:spPr>
          <a:xfrm>
            <a:off x="6705295" y="6687007"/>
            <a:ext cx="2848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重み：16x16の2Dブロックスケーリング</a:t>
            </a:r>
            <a:endParaRPr lang="en-US" sz="1200" dirty="0"/>
          </a:p>
        </p:txBody>
      </p:sp>
      <p:sp>
        <p:nvSpPr>
          <p:cNvPr id="99" name="Text 97"/>
          <p:cNvSpPr txBox="1"/>
          <p:nvPr/>
        </p:nvSpPr>
        <p:spPr>
          <a:xfrm>
            <a:off x="6705295" y="6915607"/>
            <a:ext cx="24295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最後の数層はMXFP8で高精度維持</a:t>
            </a:r>
            <a:endParaRPr lang="en-US" sz="1200" dirty="0"/>
          </a:p>
        </p:txBody>
      </p:sp>
      <p:sp>
        <p:nvSpPr>
          <p:cNvPr id="100" name="Text 98"/>
          <p:cNvSpPr txBox="1"/>
          <p:nvPr/>
        </p:nvSpPr>
        <p:spPr>
          <a:xfrm>
            <a:off x="6705295" y="7144207"/>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メモリ使用量：FP16の1/4、FP8の1/2</a:t>
            </a:r>
            <a:endParaRPr lang="en-US" sz="1200" dirty="0"/>
          </a:p>
        </p:txBody>
      </p:sp>
      <p:sp>
        <p:nvSpPr>
          <p:cNvPr id="101" name="Text 99"/>
          <p:cNvSpPr txBox="1"/>
          <p:nvPr/>
        </p:nvSpPr>
        <p:spPr>
          <a:xfrm>
            <a:off x="6705295" y="7372807"/>
            <a:ext cx="2477110"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計算速度：FP16比4倍、FP8比2倍</a:t>
            </a:r>
            <a:endParaRPr lang="en-US" sz="1200" dirty="0"/>
          </a:p>
        </p:txBody>
      </p:sp>
      <p:sp>
        <p:nvSpPr>
          <p:cNvPr id="102" name="Text 100"/>
          <p:cNvSpPr txBox="1"/>
          <p:nvPr/>
        </p:nvSpPr>
        <p:spPr>
          <a:xfrm>
            <a:off x="609905" y="7991856"/>
            <a:ext cx="3482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Engine自動スケーリング機能</a:t>
            </a:r>
            <a:endParaRPr lang="en-US" sz="1300" dirty="0"/>
          </a:p>
        </p:txBody>
      </p:sp>
      <p:sp>
        <p:nvSpPr>
          <p:cNvPr id="103" name="Shape 101"/>
          <p:cNvSpPr/>
          <p:nvPr/>
        </p:nvSpPr>
        <p:spPr>
          <a:xfrm>
            <a:off x="609905" y="8324698"/>
            <a:ext cx="10972800" cy="2038198"/>
          </a:xfrm>
          <a:prstGeom prst="roundRect">
            <a:avLst>
              <a:gd name="adj" fmla="val 1677"/>
            </a:avLst>
          </a:prstGeom>
          <a:solidFill>
            <a:srgbClr val="F9FAFB"/>
          </a:solidFill>
          <a:ln/>
        </p:spPr>
      </p:sp>
      <p:sp>
        <p:nvSpPr>
          <p:cNvPr id="104" name="Text 102"/>
          <p:cNvSpPr txBox="1"/>
          <p:nvPr/>
        </p:nvSpPr>
        <p:spPr>
          <a:xfrm>
            <a:off x="761695" y="8477402"/>
            <a:ext cx="22768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TEの自動キャスティング機能：</a:t>
            </a:r>
            <a:endParaRPr lang="en-US" sz="1200" dirty="0"/>
          </a:p>
        </p:txBody>
      </p:sp>
      <p:sp>
        <p:nvSpPr>
          <p:cNvPr id="105" name="Text 103"/>
          <p:cNvSpPr txBox="1"/>
          <p:nvPr/>
        </p:nvSpPr>
        <p:spPr>
          <a:xfrm>
            <a:off x="6096305" y="8477402"/>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NVIDIA推奨レシピ：</a:t>
            </a:r>
            <a:endParaRPr lang="en-US" sz="1200" dirty="0"/>
          </a:p>
        </p:txBody>
      </p:sp>
      <p:sp>
        <p:nvSpPr>
          <p:cNvPr id="106" name="Text 104"/>
          <p:cNvSpPr txBox="1"/>
          <p:nvPr/>
        </p:nvSpPr>
        <p:spPr>
          <a:xfrm>
            <a:off x="990295" y="8781898"/>
            <a:ext cx="40389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fp8_autocastコンテキストマネージャでFP8演算を有効化</a:t>
            </a:r>
            <a:endParaRPr lang="en-US" sz="1200" dirty="0"/>
          </a:p>
        </p:txBody>
      </p:sp>
      <p:sp>
        <p:nvSpPr>
          <p:cNvPr id="107" name="Text 105"/>
          <p:cNvSpPr txBox="1"/>
          <p:nvPr/>
        </p:nvSpPr>
        <p:spPr>
          <a:xfrm>
            <a:off x="990295" y="9010498"/>
            <a:ext cx="3706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自動的にamaxヒストリ更新とスケーリング係数計算</a:t>
            </a:r>
            <a:endParaRPr lang="en-US" sz="1200" dirty="0"/>
          </a:p>
        </p:txBody>
      </p:sp>
      <p:sp>
        <p:nvSpPr>
          <p:cNvPr id="108" name="Text 106"/>
          <p:cNvSpPr txBox="1"/>
          <p:nvPr/>
        </p:nvSpPr>
        <p:spPr>
          <a:xfrm>
            <a:off x="990295" y="9239098"/>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複数GPU間でスケーリング情報を同期</a:t>
            </a:r>
            <a:endParaRPr lang="en-US" sz="1200" dirty="0"/>
          </a:p>
        </p:txBody>
      </p:sp>
      <p:sp>
        <p:nvSpPr>
          <p:cNvPr id="109" name="Text 107"/>
          <p:cNvSpPr txBox="1"/>
          <p:nvPr/>
        </p:nvSpPr>
        <p:spPr>
          <a:xfrm>
            <a:off x="6324905" y="8781898"/>
            <a:ext cx="33339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標準学習：DelayedScaling (遅延スケーリング)</a:t>
            </a:r>
            <a:endParaRPr lang="en-US" sz="1200" dirty="0"/>
          </a:p>
        </p:txBody>
      </p:sp>
      <p:sp>
        <p:nvSpPr>
          <p:cNvPr id="110" name="Text 108"/>
          <p:cNvSpPr txBox="1"/>
          <p:nvPr/>
        </p:nvSpPr>
        <p:spPr>
          <a:xfrm>
            <a:off x="6324905" y="9010498"/>
            <a:ext cx="29910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Transformer高速化：MXFP8BlockScaling</a:t>
            </a:r>
            <a:endParaRPr lang="en-US" sz="1200" dirty="0"/>
          </a:p>
        </p:txBody>
      </p:sp>
      <p:sp>
        <p:nvSpPr>
          <p:cNvPr id="111" name="Text 109"/>
          <p:cNvSpPr txBox="1"/>
          <p:nvPr/>
        </p:nvSpPr>
        <p:spPr>
          <a:xfrm>
            <a:off x="6324905" y="9239098"/>
            <a:ext cx="30202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最大限の圧縮・加速：NVFP4BlockScaling</a:t>
            </a:r>
            <a:endParaRPr lang="en-US" sz="1200" dirty="0"/>
          </a:p>
        </p:txBody>
      </p:sp>
      <p:sp>
        <p:nvSpPr>
          <p:cNvPr id="112" name="Text 110"/>
          <p:cNvSpPr txBox="1"/>
          <p:nvPr/>
        </p:nvSpPr>
        <p:spPr>
          <a:xfrm>
            <a:off x="6324905" y="94676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混合精度：fp8_autocastで精度切替可能</a:t>
            </a:r>
            <a:endParaRPr lang="en-US" sz="1200" dirty="0"/>
          </a:p>
        </p:txBody>
      </p:sp>
      <p:sp>
        <p:nvSpPr>
          <p:cNvPr id="113" name="Shape 111"/>
          <p:cNvSpPr/>
          <p:nvPr/>
        </p:nvSpPr>
        <p:spPr>
          <a:xfrm>
            <a:off x="761695" y="9773107"/>
            <a:ext cx="10668305" cy="437998"/>
          </a:xfrm>
          <a:prstGeom prst="roundRect">
            <a:avLst>
              <a:gd name="adj" fmla="val 18154"/>
            </a:avLst>
          </a:prstGeom>
          <a:solidFill>
            <a:srgbClr val="FFFBEB"/>
          </a:solidFill>
          <a:ln w="12700">
            <a:solidFill>
              <a:srgbClr val="FDE68A"/>
            </a:solidFill>
            <a:prstDash val="solid"/>
          </a:ln>
        </p:spPr>
      </p:sp>
      <p:sp>
        <p:nvSpPr>
          <p:cNvPr id="114" name="Text 112"/>
          <p:cNvSpPr txBox="1"/>
          <p:nvPr/>
        </p:nvSpPr>
        <p:spPr>
          <a:xfrm>
            <a:off x="886054" y="9896551"/>
            <a:ext cx="897757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注意点： FP8/FP4での演算は学習/推論で精度に若干の差異が出るが、TEのスケーリング機能で最適化されており、実用上問題ない精度が確保される</a:t>
            </a:r>
            <a:endParaRPr lang="en-US" sz="1000" dirty="0"/>
          </a:p>
        </p:txBody>
      </p:sp>
      <p:sp>
        <p:nvSpPr>
          <p:cNvPr id="115" name="Shape 113"/>
          <p:cNvSpPr/>
          <p:nvPr/>
        </p:nvSpPr>
        <p:spPr>
          <a:xfrm>
            <a:off x="0" y="10191902"/>
            <a:ext cx="12191695" cy="9144"/>
          </a:xfrm>
          <a:prstGeom prst="rect">
            <a:avLst/>
          </a:prstGeom>
          <a:solidFill>
            <a:srgbClr val="EAEAEA"/>
          </a:solidFill>
          <a:ln/>
        </p:spPr>
      </p:sp>
      <p:sp>
        <p:nvSpPr>
          <p:cNvPr id="116" name="Text 114"/>
          <p:cNvSpPr txBox="1"/>
          <p:nvPr/>
        </p:nvSpPr>
        <p:spPr>
          <a:xfrm>
            <a:off x="571500" y="10296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17" name="Text 115"/>
          <p:cNvSpPr txBox="1"/>
          <p:nvPr/>
        </p:nvSpPr>
        <p:spPr>
          <a:xfrm>
            <a:off x="11472062" y="102961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13</a:t>
            </a:r>
            <a:endParaRPr lang="en-US" sz="1000" dirty="0"/>
          </a:p>
        </p:txBody>
      </p:sp>
      <p:sp>
        <p:nvSpPr>
          <p:cNvPr id="118" name="Shape 116"/>
          <p:cNvSpPr/>
          <p:nvPr/>
        </p:nvSpPr>
        <p:spPr>
          <a:xfrm>
            <a:off x="10707624" y="6344107"/>
            <a:ext cx="1295705" cy="323698"/>
          </a:xfrm>
          <a:prstGeom prst="roundRect">
            <a:avLst>
              <a:gd name="adj" fmla="val 33234"/>
            </a:avLst>
          </a:prstGeom>
          <a:solidFill>
            <a:srgbClr val="333333"/>
          </a:solidFill>
          <a:ln/>
        </p:spPr>
      </p:sp>
      <p:pic>
        <p:nvPicPr>
          <p:cNvPr id="119" name="Image 0" descr="preencoded.png">    </p:cNvPr>
          <p:cNvPicPr>
            <a:picLocks noChangeAspect="1"/>
          </p:cNvPicPr>
          <p:nvPr/>
        </p:nvPicPr>
        <p:blipFill>
          <a:blip r:embed="rId1"/>
          <a:srcRect l="0" r="0" t="0" b="0"/>
          <a:stretch/>
        </p:blipFill>
        <p:spPr>
          <a:xfrm>
            <a:off x="10821924" y="6439205"/>
            <a:ext cx="133502" cy="133502"/>
          </a:xfrm>
          <a:prstGeom prst="rect">
            <a:avLst/>
          </a:prstGeom>
        </p:spPr>
      </p:pic>
      <p:sp>
        <p:nvSpPr>
          <p:cNvPr id="120" name="Shape 117"/>
          <p:cNvSpPr/>
          <p:nvPr/>
        </p:nvSpPr>
        <p:spPr>
          <a:xfrm>
            <a:off x="10707624" y="6344107"/>
            <a:ext cx="1295705" cy="323698"/>
          </a:xfrm>
          <a:prstGeom prst="roundRect">
            <a:avLst>
              <a:gd name="adj" fmla="val 33234"/>
            </a:avLst>
          </a:prstGeom>
          <a:solidFill>
            <a:srgbClr val="333333"/>
          </a:solidFill>
          <a:ln/>
        </p:spPr>
      </p:sp>
      <p:sp>
        <p:nvSpPr>
          <p:cNvPr id="121" name="Text 11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22" name="Image 1" descr="preencoded.png">    </p:cNvPr>
          <p:cNvPicPr>
            <a:picLocks noChangeAspect="1"/>
          </p:cNvPicPr>
          <p:nvPr/>
        </p:nvPicPr>
        <p:blipFill>
          <a:blip r:embed="rId2"/>
          <a:srcRect l="0" r="0" t="0" b="0"/>
          <a:stretch/>
        </p:blipFill>
        <p:spPr>
          <a:xfrm>
            <a:off x="10821924" y="6439205"/>
            <a:ext cx="133502" cy="133502"/>
          </a:xfrm>
          <a:prstGeom prst="rect">
            <a:avLst/>
          </a:prstGeom>
        </p:spPr>
      </p:pic>
      <p:sp>
        <p:nvSpPr>
          <p:cNvPr id="123" name="Text 11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429500"/>
          </a:xfrm>
          <a:prstGeom prst="rect">
            <a:avLst/>
          </a:prstGeom>
          <a:solidFill>
            <a:srgbClr val="FFFFFF"/>
          </a:solidFill>
          <a:ln/>
        </p:spPr>
      </p:sp>
      <p:sp>
        <p:nvSpPr>
          <p:cNvPr id="3" name="Text 1"/>
          <p:cNvSpPr txBox="1"/>
          <p:nvPr/>
        </p:nvSpPr>
        <p:spPr>
          <a:xfrm>
            <a:off x="609905" y="323698"/>
            <a:ext cx="5067605"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キャッシュ・メモリ階層の進化</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1104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L2/オンチップメモリ比較</a:t>
            </a:r>
            <a:endParaRPr lang="en-US" sz="1300" dirty="0"/>
          </a:p>
        </p:txBody>
      </p:sp>
      <p:sp>
        <p:nvSpPr>
          <p:cNvPr id="6" name="Shape 4"/>
          <p:cNvSpPr/>
          <p:nvPr/>
        </p:nvSpPr>
        <p:spPr>
          <a:xfrm>
            <a:off x="609905" y="1714500"/>
            <a:ext cx="5181905" cy="3886200"/>
          </a:xfrm>
          <a:prstGeom prst="roundRect">
            <a:avLst>
              <a:gd name="adj" fmla="val 461"/>
            </a:avLst>
          </a:prstGeom>
          <a:solidFill>
            <a:srgbClr val="F9F9F9"/>
          </a:solidFill>
          <a:ln w="12700">
            <a:solidFill>
              <a:srgbClr val="E0E0E0"/>
            </a:solidFill>
            <a:prstDash val="solid"/>
          </a:ln>
        </p:spPr>
      </p:sp>
      <p:sp>
        <p:nvSpPr>
          <p:cNvPr id="7" name="Shape 5"/>
          <p:cNvSpPr/>
          <p:nvPr/>
        </p:nvSpPr>
        <p:spPr>
          <a:xfrm>
            <a:off x="771754" y="1933956"/>
            <a:ext cx="4858207" cy="629107"/>
          </a:xfrm>
          <a:prstGeom prst="roundRect">
            <a:avLst>
              <a:gd name="adj" fmla="val 13214"/>
            </a:avLst>
          </a:prstGeom>
          <a:solidFill>
            <a:srgbClr val="F3F4F6"/>
          </a:solidFill>
          <a:ln w="12700">
            <a:solidFill>
              <a:srgbClr val="D1D5DB"/>
            </a:solidFill>
            <a:prstDash val="solid"/>
          </a:ln>
        </p:spPr>
      </p:sp>
      <p:sp>
        <p:nvSpPr>
          <p:cNvPr id="8" name="Text 6"/>
          <p:cNvSpPr txBox="1"/>
          <p:nvPr/>
        </p:nvSpPr>
        <p:spPr>
          <a:xfrm>
            <a:off x="2196389" y="2048256"/>
            <a:ext cx="2138782"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Ampere L2 Cache: 40MB</a:t>
            </a:r>
            <a:endParaRPr lang="en-US" sz="1300" dirty="0"/>
          </a:p>
        </p:txBody>
      </p:sp>
      <p:sp>
        <p:nvSpPr>
          <p:cNvPr id="9" name="Shape 7"/>
          <p:cNvSpPr/>
          <p:nvPr/>
        </p:nvSpPr>
        <p:spPr>
          <a:xfrm>
            <a:off x="2038198" y="2305202"/>
            <a:ext cx="2324405" cy="152705"/>
          </a:xfrm>
          <a:prstGeom prst="roundRect">
            <a:avLst>
              <a:gd name="adj" fmla="val 149700"/>
            </a:avLst>
          </a:prstGeom>
          <a:solidFill>
            <a:srgbClr val="76B900"/>
          </a:solidFill>
          <a:ln/>
        </p:spPr>
      </p:sp>
      <p:sp>
        <p:nvSpPr>
          <p:cNvPr id="10" name="Shape 8"/>
          <p:cNvSpPr/>
          <p:nvPr/>
        </p:nvSpPr>
        <p:spPr>
          <a:xfrm>
            <a:off x="771754" y="2619756"/>
            <a:ext cx="4858207" cy="629107"/>
          </a:xfrm>
          <a:prstGeom prst="roundRect">
            <a:avLst>
              <a:gd name="adj" fmla="val 13214"/>
            </a:avLst>
          </a:prstGeom>
          <a:solidFill>
            <a:srgbClr val="F3F4F6"/>
          </a:solidFill>
          <a:ln w="12700">
            <a:solidFill>
              <a:srgbClr val="D1D5DB"/>
            </a:solidFill>
            <a:prstDash val="solid"/>
          </a:ln>
        </p:spPr>
      </p:sp>
      <p:sp>
        <p:nvSpPr>
          <p:cNvPr id="11" name="Text 9"/>
          <p:cNvSpPr txBox="1"/>
          <p:nvPr/>
        </p:nvSpPr>
        <p:spPr>
          <a:xfrm>
            <a:off x="2208276" y="2734056"/>
            <a:ext cx="2119579"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Hopper L2 Cache: 50MB</a:t>
            </a:r>
            <a:endParaRPr lang="en-US" sz="1300" dirty="0"/>
          </a:p>
        </p:txBody>
      </p:sp>
      <p:sp>
        <p:nvSpPr>
          <p:cNvPr id="12" name="Shape 10"/>
          <p:cNvSpPr/>
          <p:nvPr/>
        </p:nvSpPr>
        <p:spPr>
          <a:xfrm>
            <a:off x="1805940" y="2991002"/>
            <a:ext cx="2790749" cy="152705"/>
          </a:xfrm>
          <a:prstGeom prst="roundRect">
            <a:avLst>
              <a:gd name="adj" fmla="val 149700"/>
            </a:avLst>
          </a:prstGeom>
          <a:solidFill>
            <a:srgbClr val="76B900"/>
          </a:solidFill>
          <a:ln/>
        </p:spPr>
      </p:sp>
      <p:sp>
        <p:nvSpPr>
          <p:cNvPr id="13" name="Shape 11"/>
          <p:cNvSpPr/>
          <p:nvPr/>
        </p:nvSpPr>
        <p:spPr>
          <a:xfrm>
            <a:off x="771754" y="3305556"/>
            <a:ext cx="4858207" cy="629107"/>
          </a:xfrm>
          <a:prstGeom prst="roundRect">
            <a:avLst>
              <a:gd name="adj" fmla="val 13214"/>
            </a:avLst>
          </a:prstGeom>
          <a:solidFill>
            <a:srgbClr val="F3F4F6"/>
          </a:solidFill>
          <a:ln w="12700">
            <a:solidFill>
              <a:srgbClr val="D1D5DB"/>
            </a:solidFill>
            <a:prstDash val="solid"/>
          </a:ln>
        </p:spPr>
      </p:sp>
      <p:sp>
        <p:nvSpPr>
          <p:cNvPr id="14" name="Text 12"/>
          <p:cNvSpPr txBox="1"/>
          <p:nvPr/>
        </p:nvSpPr>
        <p:spPr>
          <a:xfrm>
            <a:off x="1964131" y="3419856"/>
            <a:ext cx="26051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Blackwell L2 Cache: 拡張＋TM</a:t>
            </a:r>
            <a:endParaRPr lang="en-US" sz="1300" dirty="0"/>
          </a:p>
        </p:txBody>
      </p:sp>
      <p:sp>
        <p:nvSpPr>
          <p:cNvPr id="15" name="Shape 13"/>
          <p:cNvSpPr/>
          <p:nvPr/>
        </p:nvSpPr>
        <p:spPr>
          <a:xfrm>
            <a:off x="1341425" y="3676802"/>
            <a:ext cx="3724351" cy="152705"/>
          </a:xfrm>
          <a:prstGeom prst="roundRect">
            <a:avLst>
              <a:gd name="adj" fmla="val 149700"/>
            </a:avLst>
          </a:prstGeom>
          <a:solidFill>
            <a:srgbClr val="76B900"/>
          </a:solidFill>
          <a:ln/>
        </p:spPr>
      </p:sp>
      <p:sp>
        <p:nvSpPr>
          <p:cNvPr id="16" name="Shape 14"/>
          <p:cNvSpPr/>
          <p:nvPr/>
        </p:nvSpPr>
        <p:spPr>
          <a:xfrm>
            <a:off x="771754" y="3991356"/>
            <a:ext cx="4858207" cy="1047902"/>
          </a:xfrm>
          <a:prstGeom prst="roundRect">
            <a:avLst>
              <a:gd name="adj" fmla="val 4760"/>
            </a:avLst>
          </a:prstGeom>
          <a:solidFill>
            <a:srgbClr val="F9FAFB"/>
          </a:solidFill>
          <a:ln w="12700">
            <a:solidFill>
              <a:srgbClr val="E5E7EB"/>
            </a:solidFill>
            <a:prstDash val="solid"/>
          </a:ln>
        </p:spPr>
      </p:sp>
      <p:sp>
        <p:nvSpPr>
          <p:cNvPr id="17" name="Text 15"/>
          <p:cNvSpPr txBox="1"/>
          <p:nvPr/>
        </p:nvSpPr>
        <p:spPr>
          <a:xfrm>
            <a:off x="2590495" y="4095598"/>
            <a:ext cx="13432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メモリ帯域幅比較</a:t>
            </a:r>
            <a:endParaRPr lang="en-US" sz="1200" dirty="0"/>
          </a:p>
        </p:txBody>
      </p:sp>
      <p:sp>
        <p:nvSpPr>
          <p:cNvPr id="18" name="Text 16"/>
          <p:cNvSpPr txBox="1"/>
          <p:nvPr/>
        </p:nvSpPr>
        <p:spPr>
          <a:xfrm>
            <a:off x="1782166" y="4401007"/>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LPDDR5</a:t>
            </a:r>
            <a:endParaRPr lang="en-US" sz="1000" dirty="0"/>
          </a:p>
        </p:txBody>
      </p:sp>
      <p:sp>
        <p:nvSpPr>
          <p:cNvPr id="19" name="Text 17"/>
          <p:cNvSpPr txBox="1"/>
          <p:nvPr/>
        </p:nvSpPr>
        <p:spPr>
          <a:xfrm>
            <a:off x="1518818" y="4591202"/>
            <a:ext cx="11484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204.8 GB/s (Orin)</a:t>
            </a:r>
            <a:endParaRPr lang="en-US" sz="1000" dirty="0"/>
          </a:p>
        </p:txBody>
      </p:sp>
      <p:sp>
        <p:nvSpPr>
          <p:cNvPr id="20" name="Text 18"/>
          <p:cNvSpPr txBox="1"/>
          <p:nvPr/>
        </p:nvSpPr>
        <p:spPr>
          <a:xfrm>
            <a:off x="4065422" y="4401007"/>
            <a:ext cx="700430"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LPDDR5X</a:t>
            </a:r>
            <a:endParaRPr lang="en-US" sz="1000" dirty="0"/>
          </a:p>
        </p:txBody>
      </p:sp>
      <p:sp>
        <p:nvSpPr>
          <p:cNvPr id="21" name="Text 19"/>
          <p:cNvSpPr txBox="1"/>
          <p:nvPr/>
        </p:nvSpPr>
        <p:spPr>
          <a:xfrm>
            <a:off x="3848710" y="4591202"/>
            <a:ext cx="1138428" cy="191110"/>
          </a:xfrm>
          <a:prstGeom prst="rect">
            <a:avLst/>
          </a:prstGeom>
          <a:noFill/>
          <a:ln/>
        </p:spPr>
        <p:txBody>
          <a:bodyPr wrap="square" lIns="0" tIns="0" rIns="0" bIns="0" rtlCol="0" anchor="ctr"/>
          <a:lstStyle/>
          <a:p>
            <a:pPr algn="ctr" indent="0" marL="0">
              <a:buNone/>
            </a:pPr>
            <a:r>
              <a:rPr lang="en-US" sz="1000" dirty="0">
                <a:solidFill>
                  <a:srgbClr val="76B900"/>
                </a:solidFill>
                <a:latin typeface="Noto Sans JP" pitchFamily="34" charset="0"/>
                <a:ea typeface="Noto Sans JP" pitchFamily="34" charset="-122"/>
                <a:cs typeface="Noto Sans JP" pitchFamily="34" charset="-120"/>
              </a:rPr>
              <a:t>~273 GB/s (Thor)</a:t>
            </a:r>
            <a:endParaRPr lang="en-US" sz="1000" dirty="0"/>
          </a:p>
        </p:txBody>
      </p:sp>
      <p:sp>
        <p:nvSpPr>
          <p:cNvPr id="22" name="Text 20"/>
          <p:cNvSpPr txBox="1"/>
          <p:nvPr/>
        </p:nvSpPr>
        <p:spPr>
          <a:xfrm>
            <a:off x="3906317" y="4772254"/>
            <a:ext cx="1010412" cy="162763"/>
          </a:xfrm>
          <a:prstGeom prst="rect">
            <a:avLst/>
          </a:prstGeom>
          <a:noFill/>
          <a:ln/>
        </p:spPr>
        <p:txBody>
          <a:bodyPr wrap="square" lIns="0" tIns="0" rIns="0" bIns="0" rtlCol="0" anchor="ctr"/>
          <a:lstStyle/>
          <a:p>
            <a:pPr algn="ctr" indent="0" marL="0">
              <a:buNone/>
            </a:pPr>
            <a:r>
              <a:rPr lang="en-US" sz="900" dirty="0">
                <a:solidFill>
                  <a:srgbClr val="76B900"/>
                </a:solidFill>
                <a:latin typeface="Noto Sans JP" pitchFamily="34" charset="0"/>
                <a:ea typeface="Noto Sans JP" pitchFamily="34" charset="-122"/>
                <a:cs typeface="Noto Sans JP" pitchFamily="34" charset="-120"/>
              </a:rPr>
              <a:t>※最大約33%向上</a:t>
            </a:r>
            <a:endParaRPr lang="en-US" sz="900" dirty="0"/>
          </a:p>
        </p:txBody>
      </p:sp>
      <p:sp>
        <p:nvSpPr>
          <p:cNvPr id="23" name="Text 21"/>
          <p:cNvSpPr txBox="1"/>
          <p:nvPr/>
        </p:nvSpPr>
        <p:spPr>
          <a:xfrm>
            <a:off x="1383487" y="5248656"/>
            <a:ext cx="3738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Compute Data Compressionにより実効帯域はさらに向上</a:t>
            </a:r>
            <a:endParaRPr lang="en-US" sz="1000" dirty="0"/>
          </a:p>
        </p:txBody>
      </p:sp>
      <p:sp>
        <p:nvSpPr>
          <p:cNvPr id="24" name="Text 22"/>
          <p:cNvSpPr txBox="1"/>
          <p:nvPr/>
        </p:nvSpPr>
        <p:spPr>
          <a:xfrm>
            <a:off x="6400800" y="1304849"/>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キャッシュ・メモリ進化のポイント</a:t>
            </a:r>
            <a:endParaRPr lang="en-US" sz="1300" dirty="0"/>
          </a:p>
        </p:txBody>
      </p:sp>
      <p:pic>
        <p:nvPicPr>
          <p:cNvPr id="25"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6" name="Text 23"/>
          <p:cNvSpPr txBox="1"/>
          <p:nvPr/>
        </p:nvSpPr>
        <p:spPr>
          <a:xfrm>
            <a:off x="6772046" y="1800454"/>
            <a:ext cx="1700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大容量L2キャッシュ</a:t>
            </a:r>
            <a:endParaRPr lang="en-US" sz="1300" dirty="0"/>
          </a:p>
        </p:txBody>
      </p:sp>
      <p:sp>
        <p:nvSpPr>
          <p:cNvPr id="27" name="Text 24"/>
          <p:cNvSpPr txBox="1"/>
          <p:nvPr/>
        </p:nvSpPr>
        <p:spPr>
          <a:xfrm>
            <a:off x="6772046" y="2076602"/>
            <a:ext cx="4819802"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(40MB) → Hopper (50MB) → Blackwell (拡張＋TM)へと世代ごとに拡充。複雑な計算グラフやTransformerモデルの中間データを効率的にキャッシュし、DRAM転送を削減。分割クロスバー構造でL2帯域も2.3倍に向上（vs Ampere）。</a:t>
            </a:r>
            <a:endParaRPr lang="en-US" sz="1200" dirty="0"/>
          </a:p>
        </p:txBody>
      </p:sp>
      <p:pic>
        <p:nvPicPr>
          <p:cNvPr id="28" name="Image 1" descr="preencoded.png">    </p:cNvPr>
          <p:cNvPicPr>
            <a:picLocks noChangeAspect="1"/>
          </p:cNvPicPr>
          <p:nvPr/>
        </p:nvPicPr>
        <p:blipFill>
          <a:blip r:embed="rId2"/>
          <a:srcRect l="0" r="0" t="0" b="0"/>
          <a:stretch/>
        </p:blipFill>
        <p:spPr>
          <a:xfrm>
            <a:off x="6400800" y="3100730"/>
            <a:ext cx="190195" cy="190195"/>
          </a:xfrm>
          <a:prstGeom prst="rect">
            <a:avLst/>
          </a:prstGeom>
        </p:spPr>
      </p:pic>
      <p:sp>
        <p:nvSpPr>
          <p:cNvPr id="29" name="Text 25"/>
          <p:cNvSpPr txBox="1"/>
          <p:nvPr/>
        </p:nvSpPr>
        <p:spPr>
          <a:xfrm>
            <a:off x="6743700" y="30577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Compute Data Compression</a:t>
            </a:r>
            <a:endParaRPr lang="en-US" sz="1300" dirty="0"/>
          </a:p>
        </p:txBody>
      </p:sp>
      <p:sp>
        <p:nvSpPr>
          <p:cNvPr id="30" name="Text 26"/>
          <p:cNvSpPr txBox="1"/>
          <p:nvPr/>
        </p:nvSpPr>
        <p:spPr>
          <a:xfrm>
            <a:off x="6743700" y="3333902"/>
            <a:ext cx="4944161"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2キャッシュとDRAM間のデータ転送を自動圧縮。非構造化疎データやその他の圧縮可能なデータパターンを検出・圧縮し、DRAM読み書き帯域を最大4倍、L2読み込み帯域を最大4倍、L2容量を最大2倍に効率化。レイテンシも削減。</a:t>
            </a:r>
            <a:endParaRPr lang="en-US" sz="1200" dirty="0"/>
          </a:p>
        </p:txBody>
      </p:sp>
      <p:pic>
        <p:nvPicPr>
          <p:cNvPr id="31" name="Image 2" descr="preencoded.png">    </p:cNvPr>
          <p:cNvPicPr>
            <a:picLocks noChangeAspect="1"/>
          </p:cNvPicPr>
          <p:nvPr/>
        </p:nvPicPr>
        <p:blipFill>
          <a:blip r:embed="rId3"/>
          <a:srcRect l="0" r="0" t="0" b="0"/>
          <a:stretch/>
        </p:blipFill>
        <p:spPr>
          <a:xfrm>
            <a:off x="6400800" y="4358030"/>
            <a:ext cx="190195" cy="190195"/>
          </a:xfrm>
          <a:prstGeom prst="rect">
            <a:avLst/>
          </a:prstGeom>
        </p:spPr>
      </p:pic>
      <p:sp>
        <p:nvSpPr>
          <p:cNvPr id="32" name="Text 27"/>
          <p:cNvSpPr txBox="1"/>
          <p:nvPr/>
        </p:nvSpPr>
        <p:spPr>
          <a:xfrm>
            <a:off x="6743700" y="4315054"/>
            <a:ext cx="182422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LPDDR5 → LPDDR5X</a:t>
            </a:r>
            <a:endParaRPr lang="en-US" sz="1300" dirty="0"/>
          </a:p>
        </p:txBody>
      </p:sp>
      <p:sp>
        <p:nvSpPr>
          <p:cNvPr id="33" name="Text 28"/>
          <p:cNvSpPr txBox="1"/>
          <p:nvPr/>
        </p:nvSpPr>
        <p:spPr>
          <a:xfrm>
            <a:off x="6743700" y="4591202"/>
            <a:ext cx="49533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車載SoCにおけるメモリ規格が進化。Thor（LPDDR5X）ではOrinのLPDDR5に比べて帯域幅が約33%向上し、同時により低電圧で動作するためエネルギー効率も改善。高速なAIワークロード処理と省電力の両立を実現。</a:t>
            </a:r>
            <a:endParaRPr lang="en-US" sz="1200" dirty="0"/>
          </a:p>
        </p:txBody>
      </p:sp>
      <p:pic>
        <p:nvPicPr>
          <p:cNvPr id="34" name="Image 3" descr="preencoded.png">    </p:cNvPr>
          <p:cNvPicPr>
            <a:picLocks noChangeAspect="1"/>
          </p:cNvPicPr>
          <p:nvPr/>
        </p:nvPicPr>
        <p:blipFill>
          <a:blip r:embed="rId4"/>
          <a:srcRect l="0" r="0" t="0" b="0"/>
          <a:stretch/>
        </p:blipFill>
        <p:spPr>
          <a:xfrm>
            <a:off x="6400800" y="5615330"/>
            <a:ext cx="237744" cy="190195"/>
          </a:xfrm>
          <a:prstGeom prst="rect">
            <a:avLst/>
          </a:prstGeom>
        </p:spPr>
      </p:pic>
      <p:sp>
        <p:nvSpPr>
          <p:cNvPr id="35" name="Text 29"/>
          <p:cNvSpPr txBox="1"/>
          <p:nvPr/>
        </p:nvSpPr>
        <p:spPr>
          <a:xfrm>
            <a:off x="6791249" y="5572354"/>
            <a:ext cx="18717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L2キャッシュ常駐制御</a:t>
            </a:r>
            <a:endParaRPr lang="en-US" sz="1300" dirty="0"/>
          </a:p>
        </p:txBody>
      </p:sp>
      <p:sp>
        <p:nvSpPr>
          <p:cNvPr id="36" name="Text 30"/>
          <p:cNvSpPr txBox="1"/>
          <p:nvPr/>
        </p:nvSpPr>
        <p:spPr>
          <a:xfrm>
            <a:off x="6791249" y="5848502"/>
            <a:ext cx="48390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プリケーションによるキャッシュ制御機能を拡充。永続的に保持すべきデータを指定可能になり、DL推論のping-pongバッファやLSTM/Transformerの再帰的重みなど、頻繁に再利用されるデータの高速アクセスを実現。</a:t>
            </a:r>
            <a:endParaRPr lang="en-US" sz="1200" dirty="0"/>
          </a:p>
        </p:txBody>
      </p:sp>
      <p:sp>
        <p:nvSpPr>
          <p:cNvPr id="37" name="Shape 31"/>
          <p:cNvSpPr/>
          <p:nvPr/>
        </p:nvSpPr>
        <p:spPr>
          <a:xfrm>
            <a:off x="0" y="7029907"/>
            <a:ext cx="12191695" cy="9144"/>
          </a:xfrm>
          <a:prstGeom prst="rect">
            <a:avLst/>
          </a:prstGeom>
          <a:solidFill>
            <a:srgbClr val="EAEAEA"/>
          </a:solidFill>
          <a:ln/>
        </p:spPr>
      </p:sp>
      <p:sp>
        <p:nvSpPr>
          <p:cNvPr id="38" name="Text 32"/>
          <p:cNvSpPr txBox="1"/>
          <p:nvPr/>
        </p:nvSpPr>
        <p:spPr>
          <a:xfrm>
            <a:off x="571500" y="71341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71341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14</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543800"/>
          </a:xfrm>
          <a:prstGeom prst="rect">
            <a:avLst/>
          </a:prstGeom>
          <a:solidFill>
            <a:srgbClr val="FFFFFF"/>
          </a:solidFill>
          <a:ln/>
        </p:spPr>
      </p:sp>
      <p:sp>
        <p:nvSpPr>
          <p:cNvPr id="3" name="Text 1"/>
          <p:cNvSpPr txBox="1"/>
          <p:nvPr/>
        </p:nvSpPr>
        <p:spPr>
          <a:xfrm>
            <a:off x="609905" y="323698"/>
            <a:ext cx="4734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I/O拡充・MIG・NVLink-C2C</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033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車載ネットワーク統合アーキテクチャ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2438705" y="1962302"/>
            <a:ext cx="1524305" cy="1143000"/>
          </a:xfrm>
          <a:prstGeom prst="roundRect">
            <a:avLst>
              <a:gd name="adj" fmla="val 5333"/>
            </a:avLst>
          </a:prstGeom>
          <a:solidFill>
            <a:srgbClr val="EFEFEF"/>
          </a:solidFill>
          <a:ln w="25400">
            <a:solidFill>
              <a:srgbClr val="76B900"/>
            </a:solidFill>
            <a:prstDash val="solid"/>
          </a:ln>
        </p:spPr>
      </p:sp>
      <p:sp>
        <p:nvSpPr>
          <p:cNvPr id="8" name="Text 6"/>
          <p:cNvSpPr txBox="1"/>
          <p:nvPr/>
        </p:nvSpPr>
        <p:spPr>
          <a:xfrm>
            <a:off x="2504542" y="2419502"/>
            <a:ext cx="15151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Thor</a:t>
            </a:r>
            <a:endParaRPr lang="en-US" sz="1200" dirty="0"/>
          </a:p>
        </p:txBody>
      </p:sp>
      <p:sp>
        <p:nvSpPr>
          <p:cNvPr id="9" name="Shape 7"/>
          <p:cNvSpPr/>
          <p:nvPr/>
        </p:nvSpPr>
        <p:spPr>
          <a:xfrm>
            <a:off x="1014070" y="3390595"/>
            <a:ext cx="19202" cy="476402"/>
          </a:xfrm>
          <a:prstGeom prst="rect">
            <a:avLst/>
          </a:prstGeom>
          <a:solidFill>
            <a:srgbClr val="76B900"/>
          </a:solidFill>
          <a:ln/>
        </p:spPr>
      </p:sp>
      <p:sp>
        <p:nvSpPr>
          <p:cNvPr id="10" name="Shape 8"/>
          <p:cNvSpPr/>
          <p:nvPr/>
        </p:nvSpPr>
        <p:spPr>
          <a:xfrm>
            <a:off x="2102206" y="3390595"/>
            <a:ext cx="19202" cy="476402"/>
          </a:xfrm>
          <a:prstGeom prst="rect">
            <a:avLst/>
          </a:prstGeom>
          <a:solidFill>
            <a:srgbClr val="76B900"/>
          </a:solidFill>
          <a:ln/>
        </p:spPr>
      </p:sp>
      <p:sp>
        <p:nvSpPr>
          <p:cNvPr id="11" name="Shape 9"/>
          <p:cNvSpPr/>
          <p:nvPr/>
        </p:nvSpPr>
        <p:spPr>
          <a:xfrm>
            <a:off x="3191256" y="3390595"/>
            <a:ext cx="19202" cy="476402"/>
          </a:xfrm>
          <a:prstGeom prst="rect">
            <a:avLst/>
          </a:prstGeom>
          <a:solidFill>
            <a:srgbClr val="76B900"/>
          </a:solidFill>
          <a:ln/>
        </p:spPr>
      </p:sp>
      <p:sp>
        <p:nvSpPr>
          <p:cNvPr id="12" name="Shape 10"/>
          <p:cNvSpPr/>
          <p:nvPr/>
        </p:nvSpPr>
        <p:spPr>
          <a:xfrm>
            <a:off x="4279392" y="3390595"/>
            <a:ext cx="19202" cy="476402"/>
          </a:xfrm>
          <a:prstGeom prst="rect">
            <a:avLst/>
          </a:prstGeom>
          <a:solidFill>
            <a:srgbClr val="76B900"/>
          </a:solidFill>
          <a:ln/>
        </p:spPr>
      </p:sp>
      <p:sp>
        <p:nvSpPr>
          <p:cNvPr id="13" name="Shape 11"/>
          <p:cNvSpPr/>
          <p:nvPr/>
        </p:nvSpPr>
        <p:spPr>
          <a:xfrm>
            <a:off x="5367528" y="3390595"/>
            <a:ext cx="19202" cy="476402"/>
          </a:xfrm>
          <a:prstGeom prst="rect">
            <a:avLst/>
          </a:prstGeom>
          <a:solidFill>
            <a:srgbClr val="76B900"/>
          </a:solidFill>
          <a:ln/>
        </p:spPr>
      </p:sp>
      <p:sp>
        <p:nvSpPr>
          <p:cNvPr id="14" name="Shape 12"/>
          <p:cNvSpPr/>
          <p:nvPr/>
        </p:nvSpPr>
        <p:spPr>
          <a:xfrm>
            <a:off x="771754" y="4058107"/>
            <a:ext cx="952805" cy="571500"/>
          </a:xfrm>
          <a:prstGeom prst="roundRect">
            <a:avLst>
              <a:gd name="adj" fmla="val 16000"/>
            </a:avLst>
          </a:prstGeom>
          <a:solidFill>
            <a:srgbClr val="F5F5F5"/>
          </a:solidFill>
          <a:ln w="12700">
            <a:solidFill>
              <a:srgbClr val="CCCCCC"/>
            </a:solidFill>
            <a:prstDash val="solid"/>
          </a:ln>
        </p:spPr>
      </p:sp>
      <p:sp>
        <p:nvSpPr>
          <p:cNvPr id="15" name="Text 13"/>
          <p:cNvSpPr txBox="1"/>
          <p:nvPr/>
        </p:nvSpPr>
        <p:spPr>
          <a:xfrm>
            <a:off x="884225" y="4172407"/>
            <a:ext cx="819302"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GMSL2/3 カメラ</a:t>
            </a:r>
            <a:endParaRPr lang="en-US" sz="900" dirty="0"/>
          </a:p>
        </p:txBody>
      </p:sp>
      <p:sp>
        <p:nvSpPr>
          <p:cNvPr id="16" name="Shape 14"/>
          <p:cNvSpPr/>
          <p:nvPr/>
        </p:nvSpPr>
        <p:spPr>
          <a:xfrm>
            <a:off x="1747418" y="4058107"/>
            <a:ext cx="952805" cy="571500"/>
          </a:xfrm>
          <a:prstGeom prst="roundRect">
            <a:avLst>
              <a:gd name="adj" fmla="val 16000"/>
            </a:avLst>
          </a:prstGeom>
          <a:solidFill>
            <a:srgbClr val="F5F5F5"/>
          </a:solidFill>
          <a:ln w="12700">
            <a:solidFill>
              <a:srgbClr val="CCCCCC"/>
            </a:solidFill>
            <a:prstDash val="solid"/>
          </a:ln>
        </p:spPr>
      </p:sp>
      <p:sp>
        <p:nvSpPr>
          <p:cNvPr id="17" name="Text 15"/>
          <p:cNvSpPr txBox="1"/>
          <p:nvPr/>
        </p:nvSpPr>
        <p:spPr>
          <a:xfrm>
            <a:off x="1855318" y="4172407"/>
            <a:ext cx="829361"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10G-T1 イーサネット</a:t>
            </a:r>
            <a:endParaRPr lang="en-US" sz="900" dirty="0"/>
          </a:p>
        </p:txBody>
      </p:sp>
      <p:sp>
        <p:nvSpPr>
          <p:cNvPr id="18" name="Shape 16"/>
          <p:cNvSpPr/>
          <p:nvPr/>
        </p:nvSpPr>
        <p:spPr>
          <a:xfrm>
            <a:off x="2723998" y="4058107"/>
            <a:ext cx="952805" cy="571500"/>
          </a:xfrm>
          <a:prstGeom prst="roundRect">
            <a:avLst>
              <a:gd name="adj" fmla="val 16000"/>
            </a:avLst>
          </a:prstGeom>
          <a:solidFill>
            <a:srgbClr val="F5F5F5"/>
          </a:solidFill>
          <a:ln w="12700">
            <a:solidFill>
              <a:srgbClr val="CCCCCC"/>
            </a:solidFill>
            <a:prstDash val="solid"/>
          </a:ln>
        </p:spPr>
      </p:sp>
      <p:sp>
        <p:nvSpPr>
          <p:cNvPr id="19" name="Text 17"/>
          <p:cNvSpPr txBox="1"/>
          <p:nvPr/>
        </p:nvSpPr>
        <p:spPr>
          <a:xfrm>
            <a:off x="2860243" y="4257446"/>
            <a:ext cx="771754"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CAN/FlexRay</a:t>
            </a:r>
            <a:endParaRPr lang="en-US" sz="900" dirty="0"/>
          </a:p>
        </p:txBody>
      </p:sp>
      <p:sp>
        <p:nvSpPr>
          <p:cNvPr id="20" name="Shape 18"/>
          <p:cNvSpPr/>
          <p:nvPr/>
        </p:nvSpPr>
        <p:spPr>
          <a:xfrm>
            <a:off x="3700577" y="4058107"/>
            <a:ext cx="952805" cy="571500"/>
          </a:xfrm>
          <a:prstGeom prst="roundRect">
            <a:avLst>
              <a:gd name="adj" fmla="val 16000"/>
            </a:avLst>
          </a:prstGeom>
          <a:solidFill>
            <a:srgbClr val="F5F5F5"/>
          </a:solidFill>
          <a:ln w="12700">
            <a:solidFill>
              <a:srgbClr val="CCCCCC"/>
            </a:solidFill>
            <a:prstDash val="solid"/>
          </a:ln>
        </p:spPr>
      </p:sp>
      <p:sp>
        <p:nvSpPr>
          <p:cNvPr id="21" name="Text 19"/>
          <p:cNvSpPr txBox="1"/>
          <p:nvPr/>
        </p:nvSpPr>
        <p:spPr>
          <a:xfrm>
            <a:off x="3905402" y="4257446"/>
            <a:ext cx="638251"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PCIe Gen5</a:t>
            </a:r>
            <a:endParaRPr lang="en-US" sz="900" dirty="0"/>
          </a:p>
        </p:txBody>
      </p:sp>
      <p:sp>
        <p:nvSpPr>
          <p:cNvPr id="22" name="Shape 20"/>
          <p:cNvSpPr/>
          <p:nvPr/>
        </p:nvSpPr>
        <p:spPr>
          <a:xfrm>
            <a:off x="4677156" y="4058107"/>
            <a:ext cx="952805" cy="571500"/>
          </a:xfrm>
          <a:prstGeom prst="roundRect">
            <a:avLst>
              <a:gd name="adj" fmla="val 16000"/>
            </a:avLst>
          </a:prstGeom>
          <a:solidFill>
            <a:srgbClr val="F5F5F5"/>
          </a:solidFill>
          <a:ln w="12700">
            <a:solidFill>
              <a:srgbClr val="CCCCCC"/>
            </a:solidFill>
            <a:prstDash val="solid"/>
          </a:ln>
        </p:spPr>
      </p:sp>
      <p:sp>
        <p:nvSpPr>
          <p:cNvPr id="23" name="Text 21"/>
          <p:cNvSpPr txBox="1"/>
          <p:nvPr/>
        </p:nvSpPr>
        <p:spPr>
          <a:xfrm>
            <a:off x="4843577" y="4257446"/>
            <a:ext cx="705002"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NVLink-C2C</a:t>
            </a:r>
            <a:endParaRPr lang="en-US" sz="900" dirty="0"/>
          </a:p>
        </p:txBody>
      </p:sp>
      <p:sp>
        <p:nvSpPr>
          <p:cNvPr id="24" name="Text 22"/>
          <p:cNvSpPr txBox="1"/>
          <p:nvPr/>
        </p:nvSpPr>
        <p:spPr>
          <a:xfrm>
            <a:off x="2007108" y="4934102"/>
            <a:ext cx="24908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車載機器と高速インターフェースの統合</a:t>
            </a:r>
            <a:endParaRPr lang="en-US" sz="1000" dirty="0"/>
          </a:p>
        </p:txBody>
      </p:sp>
      <p:sp>
        <p:nvSpPr>
          <p:cNvPr id="25" name="Text 23"/>
          <p:cNvSpPr txBox="1"/>
          <p:nvPr/>
        </p:nvSpPr>
        <p:spPr>
          <a:xfrm>
            <a:off x="609905" y="5524805"/>
            <a:ext cx="5224882"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Thor DevKitはSKU10（ベンチ開発用）とSKU12（車載用）の2種類が提供され、車載開発を効率化</a:t>
            </a:r>
            <a:endParaRPr lang="en-US" sz="1000" dirty="0"/>
          </a:p>
        </p:txBody>
      </p:sp>
      <p:sp>
        <p:nvSpPr>
          <p:cNvPr id="26" name="Text 24"/>
          <p:cNvSpPr txBox="1"/>
          <p:nvPr/>
        </p:nvSpPr>
        <p:spPr>
          <a:xfrm>
            <a:off x="6400800" y="1304849"/>
            <a:ext cx="21003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拡張I/O・統合・安全分離</a:t>
            </a:r>
            <a:endParaRPr lang="en-US" sz="1300" dirty="0"/>
          </a:p>
        </p:txBody>
      </p:sp>
      <p:pic>
        <p:nvPicPr>
          <p:cNvPr id="27" name="Image 0" descr="preencoded.png">    </p:cNvPr>
          <p:cNvPicPr>
            <a:picLocks noChangeAspect="1"/>
          </p:cNvPicPr>
          <p:nvPr/>
        </p:nvPicPr>
        <p:blipFill>
          <a:blip r:embed="rId1"/>
          <a:srcRect l="0" r="0" t="0" b="0"/>
          <a:stretch/>
        </p:blipFill>
        <p:spPr>
          <a:xfrm>
            <a:off x="6400800" y="1843430"/>
            <a:ext cx="237744" cy="190195"/>
          </a:xfrm>
          <a:prstGeom prst="rect">
            <a:avLst/>
          </a:prstGeom>
        </p:spPr>
      </p:pic>
      <p:sp>
        <p:nvSpPr>
          <p:cNvPr id="28" name="Text 25"/>
          <p:cNvSpPr txBox="1"/>
          <p:nvPr/>
        </p:nvSpPr>
        <p:spPr>
          <a:xfrm>
            <a:off x="6791249" y="1800454"/>
            <a:ext cx="20820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高速I/Oインターフェース</a:t>
            </a:r>
            <a:endParaRPr lang="en-US" sz="1300" dirty="0"/>
          </a:p>
        </p:txBody>
      </p:sp>
      <p:sp>
        <p:nvSpPr>
          <p:cNvPr id="29" name="Text 26"/>
          <p:cNvSpPr txBox="1"/>
          <p:nvPr/>
        </p:nvSpPr>
        <p:spPr>
          <a:xfrm>
            <a:off x="6791249" y="2076602"/>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GMSL2/3カメラ接続、10G-T1イーサネット、PCIe Gen5対応により、高解像度センサーデータの低遅延転送を実現。最大6ポートのH-MTDコネクタを搭載。</a:t>
            </a:r>
            <a:endParaRPr lang="en-US" sz="1200" dirty="0"/>
          </a:p>
        </p:txBody>
      </p:sp>
      <p:pic>
        <p:nvPicPr>
          <p:cNvPr id="30" name="Image 1" descr="preencoded.png">    </p:cNvPr>
          <p:cNvPicPr>
            <a:picLocks noChangeAspect="1"/>
          </p:cNvPicPr>
          <p:nvPr/>
        </p:nvPicPr>
        <p:blipFill>
          <a:blip r:embed="rId2"/>
          <a:srcRect l="0" r="0" t="0" b="0"/>
          <a:stretch/>
        </p:blipFill>
        <p:spPr>
          <a:xfrm>
            <a:off x="6400800" y="2909621"/>
            <a:ext cx="190195" cy="190195"/>
          </a:xfrm>
          <a:prstGeom prst="rect">
            <a:avLst/>
          </a:prstGeom>
        </p:spPr>
      </p:pic>
      <p:sp>
        <p:nvSpPr>
          <p:cNvPr id="31" name="Text 27"/>
          <p:cNvSpPr txBox="1"/>
          <p:nvPr/>
        </p:nvSpPr>
        <p:spPr>
          <a:xfrm>
            <a:off x="6743700" y="2866644"/>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車載プロトコル統合</a:t>
            </a:r>
            <a:endParaRPr lang="en-US" sz="1300" dirty="0"/>
          </a:p>
        </p:txBody>
      </p:sp>
      <p:sp>
        <p:nvSpPr>
          <p:cNvPr id="32" name="Text 28"/>
          <p:cNvSpPr txBox="1"/>
          <p:nvPr/>
        </p:nvSpPr>
        <p:spPr>
          <a:xfrm>
            <a:off x="6743700" y="3143707"/>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CAN、FlexRay、LIN、A2Bなど多様な車載プロトコルに対応。単一プラットフォームでADAS/AD機能とインフォテインメント統合が可能に。</a:t>
            </a:r>
            <a:endParaRPr lang="en-US" sz="1200" dirty="0"/>
          </a:p>
        </p:txBody>
      </p:sp>
      <p:pic>
        <p:nvPicPr>
          <p:cNvPr id="33" name="Image 2" descr="preencoded.png">    </p:cNvPr>
          <p:cNvPicPr>
            <a:picLocks noChangeAspect="1"/>
          </p:cNvPicPr>
          <p:nvPr/>
        </p:nvPicPr>
        <p:blipFill>
          <a:blip r:embed="rId3"/>
          <a:srcRect l="0" r="0" t="0" b="0"/>
          <a:stretch/>
        </p:blipFill>
        <p:spPr>
          <a:xfrm>
            <a:off x="6400800" y="3976726"/>
            <a:ext cx="190195" cy="190195"/>
          </a:xfrm>
          <a:prstGeom prst="rect">
            <a:avLst/>
          </a:prstGeom>
        </p:spPr>
      </p:pic>
      <p:sp>
        <p:nvSpPr>
          <p:cNvPr id="34" name="Text 29"/>
          <p:cNvSpPr txBox="1"/>
          <p:nvPr/>
        </p:nvSpPr>
        <p:spPr>
          <a:xfrm>
            <a:off x="6743700" y="3933749"/>
            <a:ext cx="2339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MIGによる安全ドメイン分離</a:t>
            </a:r>
            <a:endParaRPr lang="en-US" sz="1300" dirty="0"/>
          </a:p>
        </p:txBody>
      </p:sp>
      <p:sp>
        <p:nvSpPr>
          <p:cNvPr id="35" name="Text 30"/>
          <p:cNvSpPr txBox="1"/>
          <p:nvPr/>
        </p:nvSpPr>
        <p:spPr>
          <a:xfrm>
            <a:off x="6743700" y="4209898"/>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Multi-Instance GPU (MIG) 機能が安全クリティカルなAD処理と非クリティカルなIVIワークロードの分離を実現。各GPUインスタンスに専用のNVDEC/NVJPGを割当可能。</a:t>
            </a:r>
            <a:endParaRPr lang="en-US" sz="1200" dirty="0"/>
          </a:p>
        </p:txBody>
      </p:sp>
      <p:pic>
        <p:nvPicPr>
          <p:cNvPr id="36" name="Image 3" descr="preencoded.png">    </p:cNvPr>
          <p:cNvPicPr>
            <a:picLocks noChangeAspect="1"/>
          </p:cNvPicPr>
          <p:nvPr/>
        </p:nvPicPr>
        <p:blipFill>
          <a:blip r:embed="rId4"/>
          <a:srcRect l="0" r="0" t="0" b="0"/>
          <a:stretch/>
        </p:blipFill>
        <p:spPr>
          <a:xfrm>
            <a:off x="6400800" y="5043830"/>
            <a:ext cx="237744" cy="190195"/>
          </a:xfrm>
          <a:prstGeom prst="rect">
            <a:avLst/>
          </a:prstGeom>
        </p:spPr>
      </p:pic>
      <p:sp>
        <p:nvSpPr>
          <p:cNvPr id="37" name="Text 31"/>
          <p:cNvSpPr txBox="1"/>
          <p:nvPr/>
        </p:nvSpPr>
        <p:spPr>
          <a:xfrm>
            <a:off x="6791249" y="5000854"/>
            <a:ext cx="1090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NVLink-C2C</a:t>
            </a:r>
            <a:endParaRPr lang="en-US" sz="1300" dirty="0"/>
          </a:p>
        </p:txBody>
      </p:sp>
      <p:sp>
        <p:nvSpPr>
          <p:cNvPr id="38" name="Text 32"/>
          <p:cNvSpPr txBox="1"/>
          <p:nvPr/>
        </p:nvSpPr>
        <p:spPr>
          <a:xfrm>
            <a:off x="6791249" y="5277002"/>
            <a:ext cx="4896612"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チップ間を高速接続するNVLink-C2C技術により、PCIe Gen5の7倍のスループット（900GB/秒）を実現。システム拡張性とスケーラビリティを確保。</a:t>
            </a:r>
            <a:endParaRPr lang="en-US" sz="1200" dirty="0"/>
          </a:p>
        </p:txBody>
      </p:sp>
      <p:pic>
        <p:nvPicPr>
          <p:cNvPr id="39" name="Image 4" descr="preencoded.png">    </p:cNvPr>
          <p:cNvPicPr>
            <a:picLocks noChangeAspect="1"/>
          </p:cNvPicPr>
          <p:nvPr/>
        </p:nvPicPr>
        <p:blipFill>
          <a:blip r:embed="rId5"/>
          <a:srcRect l="0" r="0" t="0" b="0"/>
          <a:stretch/>
        </p:blipFill>
        <p:spPr>
          <a:xfrm>
            <a:off x="6400800" y="6110021"/>
            <a:ext cx="190195" cy="190195"/>
          </a:xfrm>
          <a:prstGeom prst="rect">
            <a:avLst/>
          </a:prstGeom>
        </p:spPr>
      </p:pic>
      <p:sp>
        <p:nvSpPr>
          <p:cNvPr id="40" name="Text 33"/>
          <p:cNvSpPr txBox="1"/>
          <p:nvPr/>
        </p:nvSpPr>
        <p:spPr>
          <a:xfrm>
            <a:off x="6743700" y="6067044"/>
            <a:ext cx="21296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Confidential Computing</a:t>
            </a:r>
            <a:endParaRPr lang="en-US" sz="1300" dirty="0"/>
          </a:p>
        </p:txBody>
      </p:sp>
      <p:sp>
        <p:nvSpPr>
          <p:cNvPr id="41" name="Text 34"/>
          <p:cNvSpPr txBox="1"/>
          <p:nvPr/>
        </p:nvSpPr>
        <p:spPr>
          <a:xfrm>
            <a:off x="6743700" y="6344107"/>
            <a:ext cx="47530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Trusted Execution Environment (TEE) による高度なセキュリティ機能。仮想化環境でのワークロード分離とデータ保護を強化。</a:t>
            </a:r>
            <a:endParaRPr lang="en-US" sz="1200" dirty="0"/>
          </a:p>
        </p:txBody>
      </p:sp>
      <p:sp>
        <p:nvSpPr>
          <p:cNvPr id="42" name="Shape 35"/>
          <p:cNvSpPr/>
          <p:nvPr/>
        </p:nvSpPr>
        <p:spPr>
          <a:xfrm>
            <a:off x="0" y="7144207"/>
            <a:ext cx="12191695" cy="9144"/>
          </a:xfrm>
          <a:prstGeom prst="rect">
            <a:avLst/>
          </a:prstGeom>
          <a:solidFill>
            <a:srgbClr val="EAEAEA"/>
          </a:solidFill>
          <a:ln/>
        </p:spPr>
      </p:sp>
      <p:sp>
        <p:nvSpPr>
          <p:cNvPr id="43" name="Text 36"/>
          <p:cNvSpPr txBox="1"/>
          <p:nvPr/>
        </p:nvSpPr>
        <p:spPr>
          <a:xfrm>
            <a:off x="571500" y="72484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7"/>
          <p:cNvSpPr txBox="1"/>
          <p:nvPr/>
        </p:nvSpPr>
        <p:spPr>
          <a:xfrm>
            <a:off x="11472062" y="72484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15</a:t>
            </a:r>
            <a:endParaRPr lang="en-US" sz="1000" dirty="0"/>
          </a:p>
        </p:txBody>
      </p:sp>
      <p:sp>
        <p:nvSpPr>
          <p:cNvPr id="45" name="Shape 38"/>
          <p:cNvSpPr/>
          <p:nvPr/>
        </p:nvSpPr>
        <p:spPr>
          <a:xfrm>
            <a:off x="10707624" y="6344107"/>
            <a:ext cx="1295705" cy="323698"/>
          </a:xfrm>
          <a:prstGeom prst="roundRect">
            <a:avLst>
              <a:gd name="adj" fmla="val 33234"/>
            </a:avLst>
          </a:prstGeom>
          <a:solidFill>
            <a:srgbClr val="333333"/>
          </a:solidFill>
          <a:ln/>
        </p:spPr>
      </p:sp>
      <p:pic>
        <p:nvPicPr>
          <p:cNvPr id="46"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7" name="Shape 39"/>
          <p:cNvSpPr/>
          <p:nvPr/>
        </p:nvSpPr>
        <p:spPr>
          <a:xfrm>
            <a:off x="10707624" y="6344107"/>
            <a:ext cx="1295705" cy="323698"/>
          </a:xfrm>
          <a:prstGeom prst="roundRect">
            <a:avLst>
              <a:gd name="adj" fmla="val 33234"/>
            </a:avLst>
          </a:prstGeom>
          <a:solidFill>
            <a:srgbClr val="333333"/>
          </a:solidFill>
          <a:ln/>
        </p:spPr>
      </p:sp>
      <p:sp>
        <p:nvSpPr>
          <p:cNvPr id="48"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50" name="Text 41"/>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6778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使いこなし① BEVFusion（Perception）</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多センサー融合の統合BEV表現 Camera/LiDAR/Radarの特徴をBEVに統一して高精度認識を実現</a:t>
            </a:r>
            <a:endParaRPr lang="en-US" sz="1300" dirty="0"/>
          </a:p>
        </p:txBody>
      </p:sp>
      <p:pic>
        <p:nvPicPr>
          <p:cNvPr id="7" name="Image 1" descr="preencoded.png">    </p:cNvPr>
          <p:cNvPicPr>
            <a:picLocks noChangeAspect="1"/>
          </p:cNvPicPr>
          <p:nvPr/>
        </p:nvPicPr>
        <p:blipFill>
          <a:blip r:embed="rId2"/>
          <a:srcRect l="-1648" r="-1648" t="0" b="0"/>
          <a:stretch/>
        </p:blipFill>
        <p:spPr>
          <a:xfrm>
            <a:off x="571500" y="2290572"/>
            <a:ext cx="171907" cy="190195"/>
          </a:xfrm>
          <a:prstGeom prst="rect">
            <a:avLst/>
          </a:prstGeom>
        </p:spPr>
      </p:pic>
      <p:sp>
        <p:nvSpPr>
          <p:cNvPr id="8" name="Text 4"/>
          <p:cNvSpPr txBox="1"/>
          <p:nvPr/>
        </p:nvSpPr>
        <p:spPr>
          <a:xfrm>
            <a:off x="895198" y="2200046"/>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TMAによるセンサ特徴量の先読み テンソル形状を維持したまま非同期データ転送でレイテンシを隠蔽</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6005779"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UMMAで大タイルGEMM処理 2つのSM間協調でBEVエンコード/デコードを高速化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57012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SER2.0で分岐効率向上 実行順序の最適化で検出器のGPU利用効率を改善</a:t>
            </a:r>
            <a:endParaRPr lang="en-US" sz="1300" dirty="0"/>
          </a:p>
        </p:txBody>
      </p:sp>
      <p:pic>
        <p:nvPicPr>
          <p:cNvPr id="13" name="Image 4" descr="preencoded.png">    </p:cNvPr>
          <p:cNvPicPr>
            <a:picLocks noChangeAspect="1"/>
          </p:cNvPicPr>
          <p:nvPr/>
        </p:nvPicPr>
        <p:blipFill>
          <a:blip r:embed="rId5"/>
          <a:srcRect l="0" r="0" t="0" b="0"/>
          <a:stretch/>
        </p:blipFill>
        <p:spPr>
          <a:xfrm>
            <a:off x="7239305" y="972007"/>
            <a:ext cx="4381805" cy="4381805"/>
          </a:xfrm>
          <a:prstGeom prst="rect">
            <a:avLst/>
          </a:prstGeom>
        </p:spPr>
      </p:pic>
      <p:sp>
        <p:nvSpPr>
          <p:cNvPr id="14" name="Text 7"/>
          <p:cNvSpPr txBox="1"/>
          <p:nvPr/>
        </p:nvSpPr>
        <p:spPr>
          <a:xfrm>
            <a:off x="7972654" y="5505602"/>
            <a:ext cx="3014777"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BEVFusion：多センサー統合認識アーキテクチャ</a:t>
            </a:r>
            <a:endParaRPr lang="en-US" sz="1000" dirty="0"/>
          </a:p>
        </p:txBody>
      </p:sp>
      <p:sp>
        <p:nvSpPr>
          <p:cNvPr id="15" name="Text 8"/>
          <p:cNvSpPr txBox="1"/>
          <p:nvPr/>
        </p:nvSpPr>
        <p:spPr>
          <a:xfrm>
            <a:off x="7940650" y="5695798"/>
            <a:ext cx="30815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MIT-HAN Lab BEVFusion (arXiv 2205.13542)</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16</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4724705"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使いこなし② Driving Policy Transformer（Planning）</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Attention重依存のポリシーネットワーク 自己注意機構と交差注意機構による高精度な経路計画</a:t>
            </a:r>
            <a:endParaRPr lang="en-US" sz="1300" dirty="0"/>
          </a:p>
        </p:txBody>
      </p:sp>
      <p:pic>
        <p:nvPicPr>
          <p:cNvPr id="7" name="Image 1" descr="preencoded.png">    </p:cNvPr>
          <p:cNvPicPr>
            <a:picLocks noChangeAspect="1"/>
          </p:cNvPicPr>
          <p:nvPr/>
        </p:nvPicPr>
        <p:blipFill>
          <a:blip r:embed="rId2"/>
          <a:srcRect l="0" r="0" t="0" b="0"/>
          <a:stretch/>
        </p:blipFill>
        <p:spPr>
          <a:xfrm>
            <a:off x="571500" y="2671877"/>
            <a:ext cx="190195" cy="190195"/>
          </a:xfrm>
          <a:prstGeom prst="rect">
            <a:avLst/>
          </a:prstGeom>
        </p:spPr>
      </p:pic>
      <p:sp>
        <p:nvSpPr>
          <p:cNvPr id="8" name="Text 4"/>
          <p:cNvSpPr txBox="1"/>
          <p:nvPr/>
        </p:nvSpPr>
        <p:spPr>
          <a:xfrm>
            <a:off x="914400" y="2581351"/>
            <a:ext cx="58155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TEのFP8/MXFP8で学習・推論を 大幅に高速化（最大5倍のスループット）</a:t>
            </a:r>
            <a:endParaRPr lang="en-US" sz="1300" dirty="0"/>
          </a:p>
        </p:txBody>
      </p:sp>
      <p:pic>
        <p:nvPicPr>
          <p:cNvPr id="9" name="Image 2" descr="preencoded.png">    </p:cNvPr>
          <p:cNvPicPr>
            <a:picLocks noChangeAspect="1"/>
          </p:cNvPicPr>
          <p:nvPr/>
        </p:nvPicPr>
        <p:blipFill>
          <a:blip r:embed="rId3"/>
          <a:srcRect l="0" r="0" t="0" b="0"/>
          <a:stretch/>
        </p:blipFill>
        <p:spPr>
          <a:xfrm>
            <a:off x="571500" y="3185770"/>
            <a:ext cx="190195" cy="190195"/>
          </a:xfrm>
          <a:prstGeom prst="rect">
            <a:avLst/>
          </a:prstGeom>
        </p:spPr>
      </p:pic>
      <p:sp>
        <p:nvSpPr>
          <p:cNvPr id="10" name="Text 5"/>
          <p:cNvSpPr txBox="1"/>
          <p:nvPr/>
        </p:nvSpPr>
        <p:spPr>
          <a:xfrm>
            <a:off x="914400" y="3095244"/>
            <a:ext cx="593902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KVキャッシュをTMで保持し レイテンシを低減（50%以上の応答時間短縮）</a:t>
            </a:r>
            <a:endParaRPr lang="en-US" sz="1300" dirty="0"/>
          </a:p>
        </p:txBody>
      </p:sp>
      <p:pic>
        <p:nvPicPr>
          <p:cNvPr id="11" name="Image 3" descr="preencoded.png">    </p:cNvPr>
          <p:cNvPicPr>
            <a:picLocks noChangeAspect="1"/>
          </p:cNvPicPr>
          <p:nvPr/>
        </p:nvPicPr>
        <p:blipFill>
          <a:blip r:embed="rId4"/>
          <a:srcRect l="0" r="0" t="0" b="0"/>
          <a:stretch/>
        </p:blipFill>
        <p:spPr>
          <a:xfrm>
            <a:off x="571500" y="3700577"/>
            <a:ext cx="190195" cy="190195"/>
          </a:xfrm>
          <a:prstGeom prst="rect">
            <a:avLst/>
          </a:prstGeom>
        </p:spPr>
      </p:pic>
      <p:sp>
        <p:nvSpPr>
          <p:cNvPr id="12" name="Text 6"/>
          <p:cNvSpPr txBox="1"/>
          <p:nvPr/>
        </p:nvSpPr>
        <p:spPr>
          <a:xfrm>
            <a:off x="914400" y="3610051"/>
            <a:ext cx="5796382"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末層のみ高精度（MXFP8/FP16）で運用し 精度と速度のバランスを最適化</a:t>
            </a:r>
            <a:endParaRPr lang="en-US" sz="1300" dirty="0"/>
          </a:p>
        </p:txBody>
      </p:sp>
      <p:pic>
        <p:nvPicPr>
          <p:cNvPr id="13" name="Image 4" descr="preencoded.png">    </p:cNvPr>
          <p:cNvPicPr>
            <a:picLocks noChangeAspect="1"/>
          </p:cNvPicPr>
          <p:nvPr/>
        </p:nvPicPr>
        <p:blipFill>
          <a:blip r:embed="rId5"/>
          <a:srcRect l="-6" r="-6" t="0" b="0"/>
          <a:stretch/>
        </p:blipFill>
        <p:spPr>
          <a:xfrm>
            <a:off x="7239305" y="1628546"/>
            <a:ext cx="4381805" cy="3066898"/>
          </a:xfrm>
          <a:prstGeom prst="rect">
            <a:avLst/>
          </a:prstGeom>
        </p:spPr>
      </p:pic>
      <p:sp>
        <p:nvSpPr>
          <p:cNvPr id="14" name="Text 7"/>
          <p:cNvSpPr txBox="1"/>
          <p:nvPr/>
        </p:nvSpPr>
        <p:spPr>
          <a:xfrm>
            <a:off x="8079638" y="4848149"/>
            <a:ext cx="28053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 Attentionモデルによる経路計画</a:t>
            </a:r>
            <a:endParaRPr lang="en-US" sz="1000" dirty="0"/>
          </a:p>
        </p:txBody>
      </p:sp>
      <p:sp>
        <p:nvSpPr>
          <p:cNvPr id="15" name="Text 8"/>
          <p:cNvSpPr txBox="1"/>
          <p:nvPr/>
        </p:nvSpPr>
        <p:spPr>
          <a:xfrm>
            <a:off x="7926019" y="5038344"/>
            <a:ext cx="311078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FP8/MXFP8で高速化、末層のみFP16で精度を確保</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17</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991356"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使いこなし③ IVI/生成AI</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車内対話LLM/画像生成/音声合成 自然な対話と高品質コンテンツ生成でUX向上</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MIGで安全系とIVI/エンタメを分離 安全性確保と高度なエンターテインメントを両立</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NVFP4でモデル圧縮＋スループット確保 メモリ使用量半減、推論速度2倍の効率化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459668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TM＋TMAでI/O隠蔽 レスポンス向上と滑らかな体験を実現</a:t>
            </a:r>
            <a:endParaRPr lang="en-US" sz="1300" dirty="0"/>
          </a:p>
        </p:txBody>
      </p:sp>
      <p:pic>
        <p:nvPicPr>
          <p:cNvPr id="13" name="Image 4" descr="preencoded.png">    </p:cNvPr>
          <p:cNvPicPr>
            <a:picLocks noChangeAspect="1"/>
          </p:cNvPicPr>
          <p:nvPr/>
        </p:nvPicPr>
        <p:blipFill>
          <a:blip r:embed="rId5"/>
          <a:srcRect l="83" r="83" t="0" b="0"/>
          <a:stretch/>
        </p:blipFill>
        <p:spPr>
          <a:xfrm>
            <a:off x="7239305" y="1750162"/>
            <a:ext cx="4381805" cy="2829154"/>
          </a:xfrm>
          <a:prstGeom prst="rect">
            <a:avLst/>
          </a:prstGeom>
        </p:spPr>
      </p:pic>
      <p:sp>
        <p:nvSpPr>
          <p:cNvPr id="14" name="Text 7"/>
          <p:cNvSpPr txBox="1"/>
          <p:nvPr/>
        </p:nvSpPr>
        <p:spPr>
          <a:xfrm>
            <a:off x="7786116" y="4726534"/>
            <a:ext cx="3396082"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車内での対話AI・生成AIによる次世代エクスペリエンス</a:t>
            </a:r>
            <a:endParaRPr lang="en-US" sz="1000" dirty="0"/>
          </a:p>
        </p:txBody>
      </p:sp>
      <p:sp>
        <p:nvSpPr>
          <p:cNvPr id="15" name="Text 8"/>
          <p:cNvSpPr txBox="1"/>
          <p:nvPr/>
        </p:nvSpPr>
        <p:spPr>
          <a:xfrm>
            <a:off x="7851038" y="4917643"/>
            <a:ext cx="32625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Blog - Autonomous Vehicle Experience</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18</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496812"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まとめ: Orin→Thor 二世代ジャンプの意義</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48756"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Blackwell × TE(FP8/FP4) × TM/UMMAで Transformer/BEV系を世代加速</a:t>
            </a:r>
            <a:endParaRPr lang="en-US" sz="1500" dirty="0"/>
          </a:p>
        </p:txBody>
      </p:sp>
      <p:pic>
        <p:nvPicPr>
          <p:cNvPr id="7" name="Image 1" descr="preencoded.png">    </p:cNvPr>
          <p:cNvPicPr>
            <a:picLocks noChangeAspect="1"/>
          </p:cNvPicPr>
          <p:nvPr/>
        </p:nvPicPr>
        <p:blipFill>
          <a:blip r:embed="rId2"/>
          <a:srcRect l="0" r="0" t="0" b="0"/>
          <a:stretch/>
        </p:blipFill>
        <p:spPr>
          <a:xfrm>
            <a:off x="571500" y="2757830"/>
            <a:ext cx="190195" cy="190195"/>
          </a:xfrm>
          <a:prstGeom prst="rect">
            <a:avLst/>
          </a:prstGeom>
        </p:spPr>
      </p:pic>
      <p:sp>
        <p:nvSpPr>
          <p:cNvPr id="8" name="Text 4"/>
          <p:cNvSpPr txBox="1"/>
          <p:nvPr/>
        </p:nvSpPr>
        <p:spPr>
          <a:xfrm>
            <a:off x="914400" y="2667305"/>
            <a:ext cx="4258361" cy="277063"/>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I/O/MIG/NVLink-C2Cで 安全×統合×拡張を両立</a:t>
            </a:r>
            <a:endParaRPr lang="en-US" sz="1500" dirty="0"/>
          </a:p>
        </p:txBody>
      </p:sp>
      <p:pic>
        <p:nvPicPr>
          <p:cNvPr id="9" name="Image 2" descr="preencoded.png">    </p:cNvPr>
          <p:cNvPicPr>
            <a:picLocks noChangeAspect="1"/>
          </p:cNvPicPr>
          <p:nvPr/>
        </p:nvPicPr>
        <p:blipFill>
          <a:blip r:embed="rId3"/>
          <a:srcRect l="0" r="0" t="0" b="0"/>
          <a:stretch/>
        </p:blipFill>
        <p:spPr>
          <a:xfrm>
            <a:off x="571500" y="3310128"/>
            <a:ext cx="190195" cy="190195"/>
          </a:xfrm>
          <a:prstGeom prst="rect">
            <a:avLst/>
          </a:prstGeom>
        </p:spPr>
      </p:pic>
      <p:sp>
        <p:nvSpPr>
          <p:cNvPr id="10" name="Text 5"/>
          <p:cNvSpPr txBox="1"/>
          <p:nvPr/>
        </p:nvSpPr>
        <p:spPr>
          <a:xfrm>
            <a:off x="914400" y="3219602"/>
            <a:ext cx="6087161"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車載AIコンピューティングの中枢として AD/IVI/生成AIを単一基盤に統合</a:t>
            </a:r>
            <a:endParaRPr lang="en-US" sz="1500" dirty="0"/>
          </a:p>
        </p:txBody>
      </p:sp>
      <p:sp>
        <p:nvSpPr>
          <p:cNvPr id="11" name="Shape 6"/>
          <p:cNvSpPr/>
          <p:nvPr/>
        </p:nvSpPr>
        <p:spPr>
          <a:xfrm>
            <a:off x="7239305" y="1633118"/>
            <a:ext cx="4381805" cy="3247949"/>
          </a:xfrm>
          <a:prstGeom prst="roundRect">
            <a:avLst>
              <a:gd name="adj" fmla="val 660"/>
            </a:avLst>
          </a:prstGeom>
          <a:solidFill>
            <a:srgbClr val="F8F8F8"/>
          </a:solidFill>
          <a:ln/>
          <a:effectLst>
            <a:outerShdw sx="100000" sy="100000" kx="0" ky="0" algn="bl" rotWithShape="0" blurRad="241300" dist="101600" dir="5400000">
              <a:srgbClr val="000000">
                <a:alpha val="10000"/>
              </a:srgbClr>
            </a:outerShdw>
          </a:effectLst>
        </p:spPr>
      </p:sp>
      <p:sp>
        <p:nvSpPr>
          <p:cNvPr id="12" name="Shape 7"/>
          <p:cNvSpPr/>
          <p:nvPr/>
        </p:nvSpPr>
        <p:spPr>
          <a:xfrm>
            <a:off x="7429500"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3" name="Text 8"/>
          <p:cNvSpPr txBox="1"/>
          <p:nvPr/>
        </p:nvSpPr>
        <p:spPr>
          <a:xfrm>
            <a:off x="7697419" y="1976018"/>
            <a:ext cx="11192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NVIDIA Orin</a:t>
            </a:r>
            <a:endParaRPr lang="en-US" sz="1300" dirty="0"/>
          </a:p>
        </p:txBody>
      </p:sp>
      <p:sp>
        <p:nvSpPr>
          <p:cNvPr id="14" name="Text 9"/>
          <p:cNvSpPr txBox="1"/>
          <p:nvPr/>
        </p:nvSpPr>
        <p:spPr>
          <a:xfrm>
            <a:off x="7741310" y="2233879"/>
            <a:ext cx="100492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Ampere (2022)</a:t>
            </a:r>
            <a:endParaRPr lang="en-US" sz="1000" dirty="0"/>
          </a:p>
        </p:txBody>
      </p:sp>
      <p:pic>
        <p:nvPicPr>
          <p:cNvPr id="15" name="Image 3" descr="preencoded.png">    </p:cNvPr>
          <p:cNvPicPr>
            <a:picLocks noChangeAspect="1"/>
          </p:cNvPicPr>
          <p:nvPr/>
        </p:nvPicPr>
        <p:blipFill>
          <a:blip r:embed="rId4"/>
          <a:srcRect l="0" r="0" t="0" b="0"/>
          <a:stretch/>
        </p:blipFill>
        <p:spPr>
          <a:xfrm>
            <a:off x="9258300" y="2048256"/>
            <a:ext cx="342900" cy="342900"/>
          </a:xfrm>
          <a:prstGeom prst="rect">
            <a:avLst/>
          </a:prstGeom>
        </p:spPr>
      </p:pic>
      <p:sp>
        <p:nvSpPr>
          <p:cNvPr id="16" name="Shape 10"/>
          <p:cNvSpPr/>
          <p:nvPr/>
        </p:nvSpPr>
        <p:spPr>
          <a:xfrm>
            <a:off x="9905695"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7" name="Text 11"/>
          <p:cNvSpPr txBox="1"/>
          <p:nvPr/>
        </p:nvSpPr>
        <p:spPr>
          <a:xfrm>
            <a:off x="10158984" y="1976018"/>
            <a:ext cx="1148486" cy="247802"/>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NVIDIA Thor</a:t>
            </a:r>
            <a:endParaRPr lang="en-US" sz="1300" dirty="0"/>
          </a:p>
        </p:txBody>
      </p:sp>
      <p:sp>
        <p:nvSpPr>
          <p:cNvPr id="18" name="Text 12"/>
          <p:cNvSpPr txBox="1"/>
          <p:nvPr/>
        </p:nvSpPr>
        <p:spPr>
          <a:xfrm>
            <a:off x="10160813" y="2233879"/>
            <a:ext cx="1119226"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Blackwell (2025)</a:t>
            </a:r>
            <a:endParaRPr lang="en-US" sz="1000" dirty="0"/>
          </a:p>
        </p:txBody>
      </p:sp>
      <p:sp>
        <p:nvSpPr>
          <p:cNvPr id="19" name="Text 13"/>
          <p:cNvSpPr txBox="1"/>
          <p:nvPr/>
        </p:nvSpPr>
        <p:spPr>
          <a:xfrm>
            <a:off x="7429500" y="2805379"/>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AI性能</a:t>
            </a:r>
            <a:endParaRPr lang="en-US" sz="1000" dirty="0"/>
          </a:p>
        </p:txBody>
      </p:sp>
      <p:sp>
        <p:nvSpPr>
          <p:cNvPr id="20" name="Text 14"/>
          <p:cNvSpPr txBox="1"/>
          <p:nvPr/>
        </p:nvSpPr>
        <p:spPr>
          <a:xfrm>
            <a:off x="7429500" y="3424428"/>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メモリ</a:t>
            </a:r>
            <a:endParaRPr lang="en-US" sz="1000" dirty="0"/>
          </a:p>
        </p:txBody>
      </p:sp>
      <p:sp>
        <p:nvSpPr>
          <p:cNvPr id="21" name="Shape 15"/>
          <p:cNvSpPr/>
          <p:nvPr/>
        </p:nvSpPr>
        <p:spPr>
          <a:xfrm>
            <a:off x="7972654" y="2862072"/>
            <a:ext cx="1505102" cy="75895"/>
          </a:xfrm>
          <a:prstGeom prst="roundRect">
            <a:avLst>
              <a:gd name="adj" fmla="val 1204822"/>
            </a:avLst>
          </a:prstGeom>
          <a:solidFill>
            <a:srgbClr val="E5E7EB"/>
          </a:solidFill>
          <a:ln/>
        </p:spPr>
      </p:sp>
      <p:sp>
        <p:nvSpPr>
          <p:cNvPr id="22" name="Shape 16"/>
          <p:cNvSpPr/>
          <p:nvPr/>
        </p:nvSpPr>
        <p:spPr>
          <a:xfrm>
            <a:off x="9777679" y="2862072"/>
            <a:ext cx="1505102" cy="75895"/>
          </a:xfrm>
          <a:prstGeom prst="roundRect">
            <a:avLst>
              <a:gd name="adj" fmla="val 1204822"/>
            </a:avLst>
          </a:prstGeom>
          <a:solidFill>
            <a:srgbClr val="E5E7EB"/>
          </a:solidFill>
          <a:ln/>
        </p:spPr>
      </p:sp>
      <p:sp>
        <p:nvSpPr>
          <p:cNvPr id="23" name="Shape 17"/>
          <p:cNvSpPr/>
          <p:nvPr/>
        </p:nvSpPr>
        <p:spPr>
          <a:xfrm>
            <a:off x="7981798" y="3481121"/>
            <a:ext cx="1495044" cy="75895"/>
          </a:xfrm>
          <a:prstGeom prst="roundRect">
            <a:avLst>
              <a:gd name="adj" fmla="val 1204822"/>
            </a:avLst>
          </a:prstGeom>
          <a:solidFill>
            <a:srgbClr val="E5E7EB"/>
          </a:solidFill>
          <a:ln/>
        </p:spPr>
      </p:sp>
      <p:sp>
        <p:nvSpPr>
          <p:cNvPr id="24" name="Shape 18"/>
          <p:cNvSpPr/>
          <p:nvPr/>
        </p:nvSpPr>
        <p:spPr>
          <a:xfrm>
            <a:off x="9782251" y="3481121"/>
            <a:ext cx="1495044" cy="75895"/>
          </a:xfrm>
          <a:prstGeom prst="roundRect">
            <a:avLst>
              <a:gd name="adj" fmla="val 1204822"/>
            </a:avLst>
          </a:prstGeom>
          <a:solidFill>
            <a:srgbClr val="E5E7EB"/>
          </a:solidFill>
          <a:ln/>
        </p:spPr>
      </p:sp>
      <p:sp>
        <p:nvSpPr>
          <p:cNvPr id="25" name="Shape 19"/>
          <p:cNvSpPr/>
          <p:nvPr/>
        </p:nvSpPr>
        <p:spPr>
          <a:xfrm>
            <a:off x="7972654" y="2862072"/>
            <a:ext cx="247802" cy="75895"/>
          </a:xfrm>
          <a:prstGeom prst="roundRect">
            <a:avLst>
              <a:gd name="adj" fmla="val 1204822"/>
            </a:avLst>
          </a:prstGeom>
          <a:solidFill>
            <a:srgbClr val="76B900"/>
          </a:solidFill>
          <a:ln/>
        </p:spPr>
      </p:sp>
      <p:sp>
        <p:nvSpPr>
          <p:cNvPr id="26" name="Shape 20"/>
          <p:cNvSpPr/>
          <p:nvPr/>
        </p:nvSpPr>
        <p:spPr>
          <a:xfrm>
            <a:off x="9777679" y="2862072"/>
            <a:ext cx="1505102" cy="75895"/>
          </a:xfrm>
          <a:prstGeom prst="roundRect">
            <a:avLst>
              <a:gd name="adj" fmla="val 1204822"/>
            </a:avLst>
          </a:prstGeom>
          <a:solidFill>
            <a:srgbClr val="76B900"/>
          </a:solidFill>
          <a:ln/>
        </p:spPr>
      </p:sp>
      <p:sp>
        <p:nvSpPr>
          <p:cNvPr id="27" name="Shape 21"/>
          <p:cNvSpPr/>
          <p:nvPr/>
        </p:nvSpPr>
        <p:spPr>
          <a:xfrm>
            <a:off x="7981798" y="3481121"/>
            <a:ext cx="752551" cy="75895"/>
          </a:xfrm>
          <a:prstGeom prst="roundRect">
            <a:avLst>
              <a:gd name="adj" fmla="val 1204822"/>
            </a:avLst>
          </a:prstGeom>
          <a:solidFill>
            <a:srgbClr val="76B900"/>
          </a:solidFill>
          <a:ln/>
        </p:spPr>
      </p:sp>
      <p:sp>
        <p:nvSpPr>
          <p:cNvPr id="28" name="Shape 22"/>
          <p:cNvSpPr/>
          <p:nvPr/>
        </p:nvSpPr>
        <p:spPr>
          <a:xfrm>
            <a:off x="9782251" y="3481121"/>
            <a:ext cx="1495044" cy="75895"/>
          </a:xfrm>
          <a:prstGeom prst="roundRect">
            <a:avLst>
              <a:gd name="adj" fmla="val 1204822"/>
            </a:avLst>
          </a:prstGeom>
          <a:solidFill>
            <a:srgbClr val="76B900"/>
          </a:solidFill>
          <a:ln/>
        </p:spPr>
      </p:sp>
      <p:sp>
        <p:nvSpPr>
          <p:cNvPr id="29" name="Text 23"/>
          <p:cNvSpPr txBox="1"/>
          <p:nvPr/>
        </p:nvSpPr>
        <p:spPr>
          <a:xfrm>
            <a:off x="7429500" y="3023921"/>
            <a:ext cx="59070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275 TOPS</a:t>
            </a:r>
            <a:endParaRPr lang="en-US" sz="900" dirty="0"/>
          </a:p>
        </p:txBody>
      </p:sp>
      <p:sp>
        <p:nvSpPr>
          <p:cNvPr id="30" name="Text 24"/>
          <p:cNvSpPr txBox="1"/>
          <p:nvPr/>
        </p:nvSpPr>
        <p:spPr>
          <a:xfrm>
            <a:off x="7429500" y="3642970"/>
            <a:ext cx="11814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 (204.8 GB/s)</a:t>
            </a:r>
            <a:endParaRPr lang="en-US" sz="900" dirty="0"/>
          </a:p>
        </p:txBody>
      </p:sp>
      <p:sp>
        <p:nvSpPr>
          <p:cNvPr id="31" name="Text 25"/>
          <p:cNvSpPr txBox="1"/>
          <p:nvPr/>
        </p:nvSpPr>
        <p:spPr>
          <a:xfrm>
            <a:off x="9732874" y="3023921"/>
            <a:ext cx="17913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~1000 TOPS / 2000 TFLOPS(FP4)</a:t>
            </a:r>
            <a:endParaRPr lang="en-US" sz="900" dirty="0"/>
          </a:p>
        </p:txBody>
      </p:sp>
      <p:sp>
        <p:nvSpPr>
          <p:cNvPr id="32" name="Text 26"/>
          <p:cNvSpPr txBox="1"/>
          <p:nvPr/>
        </p:nvSpPr>
        <p:spPr>
          <a:xfrm>
            <a:off x="10302545" y="3642970"/>
            <a:ext cx="12198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LPDDR5X (~273 GB/s)</a:t>
            </a:r>
            <a:endParaRPr lang="en-US" sz="900" dirty="0"/>
          </a:p>
        </p:txBody>
      </p:sp>
      <p:sp>
        <p:nvSpPr>
          <p:cNvPr id="33" name="Text 27"/>
          <p:cNvSpPr txBox="1"/>
          <p:nvPr/>
        </p:nvSpPr>
        <p:spPr>
          <a:xfrm>
            <a:off x="8743493" y="4043477"/>
            <a:ext cx="14959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技術革新の総合効果</a:t>
            </a:r>
            <a:endParaRPr lang="en-US" sz="1200" dirty="0"/>
          </a:p>
        </p:txBody>
      </p:sp>
      <p:sp>
        <p:nvSpPr>
          <p:cNvPr id="34" name="Text 28"/>
          <p:cNvSpPr txBox="1"/>
          <p:nvPr/>
        </p:nvSpPr>
        <p:spPr>
          <a:xfrm>
            <a:off x="8342986" y="4310482"/>
            <a:ext cx="2281428"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I/O、MIG、Tensor機能拡張により、</a:t>
            </a:r>
            <a:endParaRPr lang="en-US" sz="1000" dirty="0"/>
          </a:p>
        </p:txBody>
      </p:sp>
      <p:sp>
        <p:nvSpPr>
          <p:cNvPr id="35" name="Text 29"/>
          <p:cNvSpPr txBox="1"/>
          <p:nvPr/>
        </p:nvSpPr>
        <p:spPr>
          <a:xfrm>
            <a:off x="7860182" y="4500677"/>
            <a:ext cx="3243377"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複雑なAI/ADワークロードを単一チップで安全に統合</a:t>
            </a:r>
            <a:endParaRPr lang="en-US" sz="1000" dirty="0"/>
          </a:p>
        </p:txBody>
      </p:sp>
      <p:sp>
        <p:nvSpPr>
          <p:cNvPr id="36" name="Text 30"/>
          <p:cNvSpPr txBox="1"/>
          <p:nvPr/>
        </p:nvSpPr>
        <p:spPr>
          <a:xfrm>
            <a:off x="8816645" y="5033772"/>
            <a:ext cx="2910535" cy="191110"/>
          </a:xfrm>
          <a:prstGeom prst="rect">
            <a:avLst/>
          </a:prstGeom>
          <a:noFill/>
          <a:ln/>
        </p:spPr>
        <p:txBody>
          <a:bodyPr wrap="square" lIns="0" tIns="0" rIns="0" bIns="0" rtlCol="0" anchor="ctr"/>
          <a:lstStyle/>
          <a:p>
            <a:pPr algn="r" indent="0" marL="0">
              <a:buNone/>
            </a:pPr>
            <a:r>
              <a:rPr lang="en-US" sz="1000" dirty="0">
                <a:solidFill>
                  <a:srgbClr val="4B5563"/>
                </a:solidFill>
                <a:latin typeface="Noto Sans JP" pitchFamily="34" charset="0"/>
                <a:ea typeface="Noto Sans JP" pitchFamily="34" charset="-122"/>
                <a:cs typeface="Noto Sans JP" pitchFamily="34" charset="-120"/>
              </a:rPr>
              <a:t>出典: NVIDIA DRIVE Thor / Orin Technical Brief</a:t>
            </a:r>
            <a:endParaRPr lang="en-US" sz="1000" dirty="0"/>
          </a:p>
        </p:txBody>
      </p:sp>
      <p:sp>
        <p:nvSpPr>
          <p:cNvPr id="37" name="Shape 31"/>
          <p:cNvSpPr/>
          <p:nvPr/>
        </p:nvSpPr>
        <p:spPr>
          <a:xfrm>
            <a:off x="0" y="6458407"/>
            <a:ext cx="12191695" cy="9144"/>
          </a:xfrm>
          <a:prstGeom prst="rect">
            <a:avLst/>
          </a:prstGeom>
          <a:solidFill>
            <a:srgbClr val="EAEAEA"/>
          </a:solidFill>
          <a:ln/>
        </p:spPr>
      </p:sp>
      <p:sp>
        <p:nvSpPr>
          <p:cNvPr id="38" name="Text 32"/>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19</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7105802"/>
          </a:xfrm>
          <a:prstGeom prst="rect">
            <a:avLst/>
          </a:prstGeom>
          <a:solidFill>
            <a:srgbClr val="FFFFFF"/>
          </a:solidFill>
          <a:ln/>
        </p:spPr>
      </p:sp>
      <p:sp>
        <p:nvSpPr>
          <p:cNvPr id="3" name="Text 1"/>
          <p:cNvSpPr txBox="1"/>
          <p:nvPr/>
        </p:nvSpPr>
        <p:spPr>
          <a:xfrm>
            <a:off x="609905" y="323698"/>
            <a:ext cx="2448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参考文献/出典</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3353105" cy="4686300"/>
          </a:xfrm>
          <a:prstGeom prst="roundRect">
            <a:avLst>
              <a:gd name="adj" fmla="val 620"/>
            </a:avLst>
          </a:prstGeom>
          <a:solidFill>
            <a:srgbClr val="F9F9F9"/>
          </a:solidFill>
          <a:ln w="12700">
            <a:solidFill>
              <a:srgbClr val="E0E0E0"/>
            </a:solidFill>
            <a:prstDash val="solid"/>
          </a:ln>
        </p:spPr>
      </p:sp>
      <p:pic>
        <p:nvPicPr>
          <p:cNvPr id="6" name="Image 0" descr="preencoded.png">    </p:cNvPr>
          <p:cNvPicPr>
            <a:picLocks noChangeAspect="1"/>
          </p:cNvPicPr>
          <p:nvPr/>
        </p:nvPicPr>
        <p:blipFill>
          <a:blip r:embed="rId1"/>
          <a:srcRect l="0" r="0" t="0" b="0"/>
          <a:stretch/>
        </p:blipFill>
        <p:spPr>
          <a:xfrm>
            <a:off x="2057400" y="1533449"/>
            <a:ext cx="457200" cy="457200"/>
          </a:xfrm>
          <a:prstGeom prst="rect">
            <a:avLst/>
          </a:prstGeom>
        </p:spPr>
      </p:pic>
      <p:sp>
        <p:nvSpPr>
          <p:cNvPr id="7" name="Text 4"/>
          <p:cNvSpPr txBox="1"/>
          <p:nvPr/>
        </p:nvSpPr>
        <p:spPr>
          <a:xfrm>
            <a:off x="1963217" y="2057400"/>
            <a:ext cx="7909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NVIDIA</a:t>
            </a:r>
            <a:endParaRPr lang="en-US" sz="1500" dirty="0"/>
          </a:p>
        </p:txBody>
      </p:sp>
      <p:sp>
        <p:nvSpPr>
          <p:cNvPr id="8" name="Text 5"/>
          <p:cNvSpPr txBox="1"/>
          <p:nvPr/>
        </p:nvSpPr>
        <p:spPr>
          <a:xfrm>
            <a:off x="1619402" y="2333549"/>
            <a:ext cx="14337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公式技術ドキュメント</a:t>
            </a:r>
            <a:endParaRPr lang="en-US" sz="1000" dirty="0"/>
          </a:p>
        </p:txBody>
      </p:sp>
      <p:pic>
        <p:nvPicPr>
          <p:cNvPr id="9" name="Image 1" descr="preencoded.png">    </p:cNvPr>
          <p:cNvPicPr>
            <a:picLocks noChangeAspect="1"/>
          </p:cNvPicPr>
          <p:nvPr/>
        </p:nvPicPr>
        <p:blipFill>
          <a:blip r:embed="rId2"/>
          <a:srcRect l="-44" r="-44" t="0" b="0"/>
          <a:stretch/>
        </p:blipFill>
        <p:spPr>
          <a:xfrm>
            <a:off x="2029054" y="2714854"/>
            <a:ext cx="514807" cy="457200"/>
          </a:xfrm>
          <a:prstGeom prst="rect">
            <a:avLst/>
          </a:prstGeom>
        </p:spPr>
      </p:pic>
      <p:sp>
        <p:nvSpPr>
          <p:cNvPr id="10" name="Text 6"/>
          <p:cNvSpPr txBox="1"/>
          <p:nvPr/>
        </p:nvSpPr>
        <p:spPr>
          <a:xfrm>
            <a:off x="1863547" y="3238805"/>
            <a:ext cx="991210"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CUTLASS</a:t>
            </a:r>
            <a:endParaRPr lang="en-US" sz="1500" dirty="0"/>
          </a:p>
        </p:txBody>
      </p:sp>
      <p:sp>
        <p:nvSpPr>
          <p:cNvPr id="11" name="Text 7"/>
          <p:cNvSpPr txBox="1"/>
          <p:nvPr/>
        </p:nvSpPr>
        <p:spPr>
          <a:xfrm>
            <a:off x="1425550" y="3514954"/>
            <a:ext cx="18242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CUDA Templates ライブラリ</a:t>
            </a:r>
            <a:endParaRPr lang="en-US" sz="1000" dirty="0"/>
          </a:p>
        </p:txBody>
      </p:sp>
      <p:pic>
        <p:nvPicPr>
          <p:cNvPr id="12" name="Image 2" descr="preencoded.png">    </p:cNvPr>
          <p:cNvPicPr>
            <a:picLocks noChangeAspect="1"/>
          </p:cNvPicPr>
          <p:nvPr/>
        </p:nvPicPr>
        <p:blipFill>
          <a:blip r:embed="rId3"/>
          <a:srcRect l="0" r="0" t="0" b="0"/>
          <a:stretch/>
        </p:blipFill>
        <p:spPr>
          <a:xfrm>
            <a:off x="2057400" y="3895344"/>
            <a:ext cx="457200" cy="457200"/>
          </a:xfrm>
          <a:prstGeom prst="rect">
            <a:avLst/>
          </a:prstGeom>
        </p:spPr>
      </p:pic>
      <p:sp>
        <p:nvSpPr>
          <p:cNvPr id="13" name="Text 8"/>
          <p:cNvSpPr txBox="1"/>
          <p:nvPr/>
        </p:nvSpPr>
        <p:spPr>
          <a:xfrm>
            <a:off x="1361542" y="4419295"/>
            <a:ext cx="2000707"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Transformer Engine</a:t>
            </a:r>
            <a:endParaRPr lang="en-US" sz="1500" dirty="0"/>
          </a:p>
        </p:txBody>
      </p:sp>
      <p:sp>
        <p:nvSpPr>
          <p:cNvPr id="14" name="Text 9"/>
          <p:cNvSpPr txBox="1"/>
          <p:nvPr/>
        </p:nvSpPr>
        <p:spPr>
          <a:xfrm>
            <a:off x="1479499" y="4695444"/>
            <a:ext cx="171998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 最適化ライブラリ</a:t>
            </a:r>
            <a:endParaRPr lang="en-US" sz="1000" dirty="0"/>
          </a:p>
        </p:txBody>
      </p:sp>
      <p:pic>
        <p:nvPicPr>
          <p:cNvPr id="15" name="Image 3" descr="preencoded.png">    </p:cNvPr>
          <p:cNvPicPr>
            <a:picLocks noChangeAspect="1"/>
          </p:cNvPicPr>
          <p:nvPr/>
        </p:nvPicPr>
        <p:blipFill>
          <a:blip r:embed="rId4"/>
          <a:srcRect l="0" r="0" t="0" b="0"/>
          <a:stretch/>
        </p:blipFill>
        <p:spPr>
          <a:xfrm>
            <a:off x="2057400" y="5076749"/>
            <a:ext cx="457200" cy="457200"/>
          </a:xfrm>
          <a:prstGeom prst="rect">
            <a:avLst/>
          </a:prstGeom>
        </p:spPr>
      </p:pic>
      <p:sp>
        <p:nvSpPr>
          <p:cNvPr id="16" name="Text 10"/>
          <p:cNvSpPr txBox="1"/>
          <p:nvPr/>
        </p:nvSpPr>
        <p:spPr>
          <a:xfrm>
            <a:off x="1793138" y="5600700"/>
            <a:ext cx="11338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BEVFusion</a:t>
            </a:r>
            <a:endParaRPr lang="en-US" sz="1500" dirty="0"/>
          </a:p>
        </p:txBody>
      </p:sp>
      <p:sp>
        <p:nvSpPr>
          <p:cNvPr id="17" name="Text 11"/>
          <p:cNvSpPr txBox="1"/>
          <p:nvPr/>
        </p:nvSpPr>
        <p:spPr>
          <a:xfrm>
            <a:off x="1220724" y="5876849"/>
            <a:ext cx="22338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マルチセンサー融合フレームワーク</a:t>
            </a:r>
            <a:endParaRPr lang="en-US" sz="1000" dirty="0"/>
          </a:p>
        </p:txBody>
      </p:sp>
      <p:sp>
        <p:nvSpPr>
          <p:cNvPr id="18" name="Text 12"/>
          <p:cNvSpPr txBox="1"/>
          <p:nvPr/>
        </p:nvSpPr>
        <p:spPr>
          <a:xfrm>
            <a:off x="4572000" y="1304849"/>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公式資料・文献リスト</a:t>
            </a:r>
            <a:endParaRPr lang="en-US" sz="1300" dirty="0"/>
          </a:p>
        </p:txBody>
      </p:sp>
      <p:pic>
        <p:nvPicPr>
          <p:cNvPr id="19" name="Image 4" descr="preencoded.png">    </p:cNvPr>
          <p:cNvPicPr>
            <a:picLocks noChangeAspect="1"/>
          </p:cNvPicPr>
          <p:nvPr/>
        </p:nvPicPr>
        <p:blipFill>
          <a:blip r:embed="rId5"/>
          <a:srcRect l="0" r="0" t="0" b="0"/>
          <a:stretch/>
        </p:blipFill>
        <p:spPr>
          <a:xfrm>
            <a:off x="4572000" y="1843430"/>
            <a:ext cx="142646" cy="190195"/>
          </a:xfrm>
          <a:prstGeom prst="rect">
            <a:avLst/>
          </a:prstGeom>
        </p:spPr>
      </p:pic>
      <p:sp>
        <p:nvSpPr>
          <p:cNvPr id="20" name="Text 13"/>
          <p:cNvSpPr txBox="1"/>
          <p:nvPr/>
        </p:nvSpPr>
        <p:spPr>
          <a:xfrm>
            <a:off x="4867351" y="1800454"/>
            <a:ext cx="45107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Jetson AGX Orin Technical Brief (TB_10749-001_v1.2)</a:t>
            </a:r>
            <a:endParaRPr lang="en-US" sz="1300" dirty="0"/>
          </a:p>
        </p:txBody>
      </p:sp>
      <p:sp>
        <p:nvSpPr>
          <p:cNvPr id="21" name="Text 14"/>
          <p:cNvSpPr txBox="1"/>
          <p:nvPr/>
        </p:nvSpPr>
        <p:spPr>
          <a:xfrm>
            <a:off x="4867351" y="2076602"/>
            <a:ext cx="62106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Orin SoC、Ampere GPU、Arm Cortex-A78AE CPUのアーキテクチャ詳細と実装例</a:t>
            </a:r>
            <a:endParaRPr lang="en-US" sz="1200" dirty="0"/>
          </a:p>
        </p:txBody>
      </p:sp>
      <p:pic>
        <p:nvPicPr>
          <p:cNvPr id="22" name="Image 5" descr="preencoded.png">    </p:cNvPr>
          <p:cNvPicPr>
            <a:picLocks noChangeAspect="1"/>
          </p:cNvPicPr>
          <p:nvPr/>
        </p:nvPicPr>
        <p:blipFill>
          <a:blip r:embed="rId6"/>
          <a:srcRect l="0" r="0" t="0" b="0"/>
          <a:stretch/>
        </p:blipFill>
        <p:spPr>
          <a:xfrm>
            <a:off x="4572000" y="2490826"/>
            <a:ext cx="142646" cy="190195"/>
          </a:xfrm>
          <a:prstGeom prst="rect">
            <a:avLst/>
          </a:prstGeom>
        </p:spPr>
      </p:pic>
      <p:sp>
        <p:nvSpPr>
          <p:cNvPr id="23" name="Text 15"/>
          <p:cNvSpPr txBox="1"/>
          <p:nvPr/>
        </p:nvSpPr>
        <p:spPr>
          <a:xfrm>
            <a:off x="4867351" y="2447849"/>
            <a:ext cx="49487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DRIVE AGX Thor Platform for Developers (Oct 2025)</a:t>
            </a:r>
            <a:endParaRPr lang="en-US" sz="1300" dirty="0"/>
          </a:p>
        </p:txBody>
      </p:sp>
      <p:sp>
        <p:nvSpPr>
          <p:cNvPr id="24" name="Text 16"/>
          <p:cNvSpPr txBox="1"/>
          <p:nvPr/>
        </p:nvSpPr>
        <p:spPr>
          <a:xfrm>
            <a:off x="4867351" y="2723998"/>
            <a:ext cx="6048756"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Thor-X SoC、Blackwell GPU、Neoverse V3AE CPUのアーキテクチャとDevKitスペック</a:t>
            </a:r>
            <a:endParaRPr lang="en-US" sz="1200" dirty="0"/>
          </a:p>
        </p:txBody>
      </p:sp>
      <p:pic>
        <p:nvPicPr>
          <p:cNvPr id="25" name="Image 6" descr="preencoded.png">    </p:cNvPr>
          <p:cNvPicPr>
            <a:picLocks noChangeAspect="1"/>
          </p:cNvPicPr>
          <p:nvPr/>
        </p:nvPicPr>
        <p:blipFill>
          <a:blip r:embed="rId7"/>
          <a:srcRect l="0" r="0" t="0" b="0"/>
          <a:stretch/>
        </p:blipFill>
        <p:spPr>
          <a:xfrm>
            <a:off x="4572000" y="3138221"/>
            <a:ext cx="142646" cy="190195"/>
          </a:xfrm>
          <a:prstGeom prst="rect">
            <a:avLst/>
          </a:prstGeom>
        </p:spPr>
      </p:pic>
      <p:sp>
        <p:nvSpPr>
          <p:cNvPr id="26" name="Text 17"/>
          <p:cNvSpPr txBox="1"/>
          <p:nvPr/>
        </p:nvSpPr>
        <p:spPr>
          <a:xfrm>
            <a:off x="4867351" y="3095244"/>
            <a:ext cx="48819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Ampere/Hopper Architecture In-Depth (Dev Blogs)</a:t>
            </a:r>
            <a:endParaRPr lang="en-US" sz="1300" dirty="0"/>
          </a:p>
        </p:txBody>
      </p:sp>
      <p:sp>
        <p:nvSpPr>
          <p:cNvPr id="27" name="Text 18"/>
          <p:cNvSpPr txBox="1"/>
          <p:nvPr/>
        </p:nvSpPr>
        <p:spPr>
          <a:xfrm>
            <a:off x="4867351" y="3372307"/>
            <a:ext cx="512521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GPU世代進化の詳細解説とTMA/WGMMA/Warp Specializationの技術解説</a:t>
            </a:r>
            <a:endParaRPr lang="en-US" sz="1200" dirty="0"/>
          </a:p>
        </p:txBody>
      </p:sp>
      <p:pic>
        <p:nvPicPr>
          <p:cNvPr id="28" name="Image 7" descr="preencoded.png">    </p:cNvPr>
          <p:cNvPicPr>
            <a:picLocks noChangeAspect="1"/>
          </p:cNvPicPr>
          <p:nvPr/>
        </p:nvPicPr>
        <p:blipFill>
          <a:blip r:embed="rId8"/>
          <a:srcRect l="0" r="0" t="0" b="0"/>
          <a:stretch/>
        </p:blipFill>
        <p:spPr>
          <a:xfrm>
            <a:off x="4572000" y="3786530"/>
            <a:ext cx="142646" cy="190195"/>
          </a:xfrm>
          <a:prstGeom prst="rect">
            <a:avLst/>
          </a:prstGeom>
        </p:spPr>
      </p:pic>
      <p:sp>
        <p:nvSpPr>
          <p:cNvPr id="29" name="Text 19"/>
          <p:cNvSpPr txBox="1"/>
          <p:nvPr/>
        </p:nvSpPr>
        <p:spPr>
          <a:xfrm>
            <a:off x="4867351" y="3743554"/>
            <a:ext cx="49011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RTX Blackwell GPU Architecture Whitepaper (GB202, v1.1)</a:t>
            </a:r>
            <a:endParaRPr lang="en-US" sz="1300" dirty="0"/>
          </a:p>
        </p:txBody>
      </p:sp>
      <p:sp>
        <p:nvSpPr>
          <p:cNvPr id="30" name="Text 20"/>
          <p:cNvSpPr txBox="1"/>
          <p:nvPr/>
        </p:nvSpPr>
        <p:spPr>
          <a:xfrm>
            <a:off x="4867351" y="4019702"/>
            <a:ext cx="516270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第5世代Tensor Core、FP8/FP4サポート、Tensor Memory、UMMAの詳細</a:t>
            </a:r>
            <a:endParaRPr lang="en-US" sz="1200" dirty="0"/>
          </a:p>
        </p:txBody>
      </p:sp>
      <p:pic>
        <p:nvPicPr>
          <p:cNvPr id="31" name="Image 8" descr="preencoded.png">    </p:cNvPr>
          <p:cNvPicPr>
            <a:picLocks noChangeAspect="1"/>
          </p:cNvPicPr>
          <p:nvPr/>
        </p:nvPicPr>
        <p:blipFill>
          <a:blip r:embed="rId9"/>
          <a:srcRect l="0" r="0" t="0" b="0"/>
          <a:stretch/>
        </p:blipFill>
        <p:spPr>
          <a:xfrm>
            <a:off x="4572000" y="4433926"/>
            <a:ext cx="142646" cy="190195"/>
          </a:xfrm>
          <a:prstGeom prst="rect">
            <a:avLst/>
          </a:prstGeom>
        </p:spPr>
      </p:pic>
      <p:sp>
        <p:nvSpPr>
          <p:cNvPr id="32" name="Text 21"/>
          <p:cNvSpPr txBox="1"/>
          <p:nvPr/>
        </p:nvSpPr>
        <p:spPr>
          <a:xfrm>
            <a:off x="4867351" y="4390949"/>
            <a:ext cx="46058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 User Guide（FP8/MXFP8/NVFP4）</a:t>
            </a:r>
            <a:endParaRPr lang="en-US" sz="1300" dirty="0"/>
          </a:p>
        </p:txBody>
      </p:sp>
      <p:sp>
        <p:nvSpPr>
          <p:cNvPr id="33" name="Text 22"/>
          <p:cNvSpPr txBox="1"/>
          <p:nvPr/>
        </p:nvSpPr>
        <p:spPr>
          <a:xfrm>
            <a:off x="4867351" y="4667098"/>
            <a:ext cx="44961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低精度データフォーマットのスケーリング手法とPyTorch実装例</a:t>
            </a:r>
            <a:endParaRPr lang="en-US" sz="1200" dirty="0"/>
          </a:p>
        </p:txBody>
      </p:sp>
      <p:pic>
        <p:nvPicPr>
          <p:cNvPr id="34" name="Image 9" descr="preencoded.png">    </p:cNvPr>
          <p:cNvPicPr>
            <a:picLocks noChangeAspect="1"/>
          </p:cNvPicPr>
          <p:nvPr/>
        </p:nvPicPr>
        <p:blipFill>
          <a:blip r:embed="rId10"/>
          <a:srcRect l="0" r="0" t="0" b="0"/>
          <a:stretch/>
        </p:blipFill>
        <p:spPr>
          <a:xfrm>
            <a:off x="4572000" y="5081321"/>
            <a:ext cx="142646" cy="190195"/>
          </a:xfrm>
          <a:prstGeom prst="rect">
            <a:avLst/>
          </a:prstGeom>
        </p:spPr>
      </p:pic>
      <p:sp>
        <p:nvSpPr>
          <p:cNvPr id="35" name="Text 23"/>
          <p:cNvSpPr txBox="1"/>
          <p:nvPr/>
        </p:nvSpPr>
        <p:spPr>
          <a:xfrm>
            <a:off x="4867351" y="5038344"/>
            <a:ext cx="4625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 ドキュメント（WGMMA/UMMA/TM/Pipeline）</a:t>
            </a:r>
            <a:endParaRPr lang="en-US" sz="1300" dirty="0"/>
          </a:p>
        </p:txBody>
      </p:sp>
      <p:sp>
        <p:nvSpPr>
          <p:cNvPr id="36" name="Text 24"/>
          <p:cNvSpPr txBox="1"/>
          <p:nvPr/>
        </p:nvSpPr>
        <p:spPr>
          <a:xfrm>
            <a:off x="4867351" y="5315407"/>
            <a:ext cx="551566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GPU向け行列乗算最適化テンプレートライブラリとパイプライン実装例</a:t>
            </a:r>
            <a:endParaRPr lang="en-US" sz="1200" dirty="0"/>
          </a:p>
        </p:txBody>
      </p:sp>
      <p:pic>
        <p:nvPicPr>
          <p:cNvPr id="37" name="Image 10" descr="preencoded.png">    </p:cNvPr>
          <p:cNvPicPr>
            <a:picLocks noChangeAspect="1"/>
          </p:cNvPicPr>
          <p:nvPr/>
        </p:nvPicPr>
        <p:blipFill>
          <a:blip r:embed="rId11"/>
          <a:srcRect l="0" r="0" t="0" b="0"/>
          <a:stretch/>
        </p:blipFill>
        <p:spPr>
          <a:xfrm>
            <a:off x="4572000" y="5729630"/>
            <a:ext cx="142646" cy="190195"/>
          </a:xfrm>
          <a:prstGeom prst="rect">
            <a:avLst/>
          </a:prstGeom>
        </p:spPr>
      </p:pic>
      <p:sp>
        <p:nvSpPr>
          <p:cNvPr id="38" name="Text 25"/>
          <p:cNvSpPr txBox="1"/>
          <p:nvPr/>
        </p:nvSpPr>
        <p:spPr>
          <a:xfrm>
            <a:off x="4867351" y="5686654"/>
            <a:ext cx="52157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BEVFusion 論文/リポジトリ（arXiv 2205.13542, MIT-Han-Lab）</a:t>
            </a:r>
            <a:endParaRPr lang="en-US" sz="1300" dirty="0"/>
          </a:p>
        </p:txBody>
      </p:sp>
      <p:sp>
        <p:nvSpPr>
          <p:cNvPr id="39" name="Text 26"/>
          <p:cNvSpPr txBox="1"/>
          <p:nvPr/>
        </p:nvSpPr>
        <p:spPr>
          <a:xfrm>
            <a:off x="4867351" y="5962802"/>
            <a:ext cx="498165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Bird's Eye View統合による多センサー融合と自動運転知覚アルゴリズム</a:t>
            </a:r>
            <a:endParaRPr lang="en-US" sz="1200" dirty="0"/>
          </a:p>
        </p:txBody>
      </p:sp>
      <p:sp>
        <p:nvSpPr>
          <p:cNvPr id="40" name="Shape 27"/>
          <p:cNvSpPr/>
          <p:nvPr/>
        </p:nvSpPr>
        <p:spPr>
          <a:xfrm>
            <a:off x="0" y="6705295"/>
            <a:ext cx="12191695" cy="9144"/>
          </a:xfrm>
          <a:prstGeom prst="rect">
            <a:avLst/>
          </a:prstGeom>
          <a:solidFill>
            <a:srgbClr val="EAEAEA"/>
          </a:solidFill>
          <a:ln/>
        </p:spPr>
      </p:sp>
      <p:sp>
        <p:nvSpPr>
          <p:cNvPr id="41" name="Text 28"/>
          <p:cNvSpPr txBox="1"/>
          <p:nvPr/>
        </p:nvSpPr>
        <p:spPr>
          <a:xfrm>
            <a:off x="571500" y="68104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2" name="Text 29"/>
          <p:cNvSpPr txBox="1"/>
          <p:nvPr/>
        </p:nvSpPr>
        <p:spPr>
          <a:xfrm>
            <a:off x="11472062" y="6810451"/>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20</a:t>
            </a:r>
            <a:endParaRPr lang="en-US" sz="1000" dirty="0"/>
          </a:p>
        </p:txBody>
      </p:sp>
      <p:sp>
        <p:nvSpPr>
          <p:cNvPr id="43" name="Shape 30"/>
          <p:cNvSpPr/>
          <p:nvPr/>
        </p:nvSpPr>
        <p:spPr>
          <a:xfrm>
            <a:off x="10707624" y="6344107"/>
            <a:ext cx="1295705" cy="323698"/>
          </a:xfrm>
          <a:prstGeom prst="roundRect">
            <a:avLst>
              <a:gd name="adj" fmla="val 33234"/>
            </a:avLst>
          </a:prstGeom>
          <a:solidFill>
            <a:srgbClr val="333333"/>
          </a:solidFill>
          <a:ln/>
        </p:spPr>
      </p:sp>
      <p:pic>
        <p:nvPicPr>
          <p:cNvPr id="44"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45" name="Shape 31"/>
          <p:cNvSpPr/>
          <p:nvPr/>
        </p:nvSpPr>
        <p:spPr>
          <a:xfrm>
            <a:off x="10707624" y="6344107"/>
            <a:ext cx="1295705" cy="323698"/>
          </a:xfrm>
          <a:prstGeom prst="roundRect">
            <a:avLst>
              <a:gd name="adj" fmla="val 33234"/>
            </a:avLst>
          </a:prstGeom>
          <a:solidFill>
            <a:srgbClr val="333333"/>
          </a:solidFill>
          <a:ln/>
        </p:spPr>
      </p:sp>
      <p:sp>
        <p:nvSpPr>
          <p:cNvPr id="46" name="Text 3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7" name="Image 12" descr="preencoded.png">    </p:cNvPr>
          <p:cNvPicPr>
            <a:picLocks noChangeAspect="1"/>
          </p:cNvPicPr>
          <p:nvPr/>
        </p:nvPicPr>
        <p:blipFill>
          <a:blip r:embed="rId13"/>
          <a:srcRect l="0" r="0" t="0" b="0"/>
          <a:stretch/>
        </p:blipFill>
        <p:spPr>
          <a:xfrm>
            <a:off x="10821924" y="6439205"/>
            <a:ext cx="133502" cy="133502"/>
          </a:xfrm>
          <a:prstGeom prst="rect">
            <a:avLst/>
          </a:prstGeom>
        </p:spPr>
      </p:pic>
      <p:sp>
        <p:nvSpPr>
          <p:cNvPr id="48" name="Text 3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2025-11-06T00:02:49Z</dcterms:created>
  <dcterms:modified xsi:type="dcterms:W3CDTF">2025-11-06T00:02:49Z</dcterms:modified>
</cp:coreProperties>
</file>